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5FA41-0652-D344-B75E-4156A2E48DA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ABAFF-4D04-2E4A-9B63-11D5ECFEF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9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437D0-974D-4A46-AE16-AE7B99CBF6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1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437D0-974D-4A46-AE16-AE7B99CBF61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20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7243-D0E6-4035-6AE8-1ED3A647B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E9C98-D386-BB5D-E885-E9B986E52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194EC-AD6F-6934-DAF2-BC4A4082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B59AD-D386-88D0-7306-9DA008C4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2B5A8-D1A2-DA45-A225-E72E94C8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3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D8E4-8A41-0267-F9FB-F2EA331F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EB17B-6397-22FF-808F-3330D8DC3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89D06-ECC2-B0E7-6B21-A5F1B338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C9D92-0B82-6CDA-6B3F-0D62911C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2B04C-BD90-E7F0-2870-3F82B47D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7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522C-F54B-48D6-15F3-BC7A113E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8647B-85ED-6ECA-883D-30579E2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A286C-A37A-4EA8-46E4-66BACE67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D1F6-4719-CFC6-0428-92DDE1D0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53B30-BB99-09EF-C86C-D95B9967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6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065C-F650-59EE-6077-E56ECFFB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2CA7-329F-CA5A-E9E3-E9BC88FE9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F2F99-4068-8586-A08F-3BE477E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ABF76-6632-7D25-B101-298B5F21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F4928-CBB6-DAF4-8C55-A7C00A2D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4E409-F318-8E4A-85CC-B596A85A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2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C936-52EC-0453-BD44-8E386ADA8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B4165-A300-C765-E307-43C1F188A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8E6E-DEB6-E24D-D25C-1B6D72986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7EFD7-D5A3-9D4B-B575-3A4769996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81FB0-BF46-4B51-FF4E-6ADCEB1AC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71E96-AC6D-9074-58BC-35707F3F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8F837-4EC5-724D-377C-1ABE393A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9C4E0-45E9-A2DC-4133-C2E29FD8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6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27F5-E17D-6154-D1EF-52D91594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F05C4-EB64-CEF6-CB1B-920D055C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3BB85-ACA0-D5C7-6A72-FF8EA35C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59F4F-C7A6-34DC-176B-E52E6E7A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7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2D441-C298-39B9-712C-462868D6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86374-D354-0E4B-75D1-B1FF92F62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E8B29-0323-CFFB-1BBE-36D6B0DF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1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FD5D-ED9A-0039-FAE0-4CB6AB92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353F8-A3C4-F154-3A76-9A54ACE9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89D4F-C534-8C03-6A77-625F306A8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8CE3F-512F-DEF5-AB80-18116E17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1B241-F378-4FF6-D850-F04C4E460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197C5-86E9-282D-B8B0-177ECE51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0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4B38-0133-F021-9E02-4D94637D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5B6218-9C0F-D292-5783-32213E981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D3061-E1B6-C930-29FB-291F96ADA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23C4E-410A-89B7-3A56-00B842A4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79846-884B-1374-4DC4-AD57358B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035D-E2AE-3967-96F4-D21E83B1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AA8C-9A6A-5B3B-A671-0ECB2668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B9929-065E-A4AC-C810-906E24C7E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E089E-C325-D77B-AD01-EA83D0C9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BB5C-D0A7-9040-8E5E-3827906E4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DBCA-C599-DCE4-EA0E-100D9AA4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5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81ADF-D782-B23C-96DD-081A2503D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07B73-CB0D-6B6A-4618-2F148CFB7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A156-D153-3BF0-5A25-87EF539A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D6890-F5B4-192D-5E75-E72DCA21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C5C4E-5044-72A9-F717-60B21F7C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5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4ED88-34F6-90A2-CF1D-AB45BDE01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73146-A602-A67C-CF25-8253443A0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9A03-8A2F-9316-5E9C-FEA9D0AF8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12EBD-4C8C-A427-49AF-B24984E1F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FB300-F4F9-8D26-38FC-FDB9E320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3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1F0D-FCB6-FEC8-0BD3-112E7424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67" y="344105"/>
            <a:ext cx="10784227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Connecting unbanked &amp; underbanked to stable digital money &amp; global assets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08EB3-6797-4A04-632C-BA438B79C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445" y="1592097"/>
            <a:ext cx="3586414" cy="665762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1800" dirty="0">
                <a:solidFill>
                  <a:srgbClr val="C00000"/>
                </a:solidFill>
              </a:rPr>
              <a:t>X billion (% with ID) = Y</a:t>
            </a:r>
          </a:p>
          <a:p>
            <a:pPr algn="ctr"/>
            <a:r>
              <a:rPr lang="en-US" sz="1400" i="1" dirty="0">
                <a:solidFill>
                  <a:srgbClr val="C00000"/>
                </a:solidFill>
              </a:rPr>
              <a:t>The “underbanked” with verified ID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1734D-E9C0-30E9-ECAA-B001E4FCC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40153" y="1586001"/>
            <a:ext cx="4577486" cy="1768857"/>
          </a:xfrm>
          <a:solidFill>
            <a:schemeClr val="tx1"/>
          </a:solidFill>
          <a:ln w="244475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sz="2000" i="1" dirty="0" err="1">
                <a:solidFill>
                  <a:schemeClr val="bg1"/>
                </a:solidFill>
              </a:rPr>
              <a:t>Tokenised</a:t>
            </a:r>
            <a:r>
              <a:rPr lang="en-US" sz="2000" i="1" dirty="0">
                <a:solidFill>
                  <a:schemeClr val="bg1"/>
                </a:solidFill>
              </a:rPr>
              <a:t> money market fund = repo-native money</a:t>
            </a:r>
          </a:p>
          <a:p>
            <a:r>
              <a:rPr lang="en-US" sz="2000" i="1" dirty="0">
                <a:solidFill>
                  <a:srgbClr val="FF454B"/>
                </a:solidFill>
              </a:rPr>
              <a:t>A yield bearing stablecoin instead of a bank deposit</a:t>
            </a:r>
          </a:p>
          <a:p>
            <a:r>
              <a:rPr lang="en-US" sz="1900" b="0" i="1" dirty="0">
                <a:solidFill>
                  <a:schemeClr val="bg1"/>
                </a:solidFill>
              </a:rPr>
              <a:t>give retail  access to “secured deposits” equivalent to wholesale savings instruments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532E1-5E57-2DE7-CEEC-AA876DDB0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011" y="3752771"/>
            <a:ext cx="4651628" cy="2660924"/>
          </a:xfrm>
          <a:ln w="19050">
            <a:solidFill>
              <a:schemeClr val="bg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C00000"/>
                </a:solidFill>
              </a:rPr>
              <a:t>With RTGS ramps (&amp; legal finality), payments, savings &amp;  investment can all migrate to a </a:t>
            </a:r>
            <a:r>
              <a:rPr lang="en-US" sz="1800" b="1" i="1" dirty="0">
                <a:solidFill>
                  <a:srgbClr val="C00000"/>
                </a:solidFill>
              </a:rPr>
              <a:t>UNIFIED LEDGER </a:t>
            </a:r>
            <a:endParaRPr lang="en-US" sz="600" b="1" dirty="0"/>
          </a:p>
          <a:p>
            <a:pPr marL="0" indent="0">
              <a:buNone/>
            </a:pPr>
            <a:r>
              <a:rPr lang="en-US" sz="1900" b="1" dirty="0"/>
              <a:t>“Savings stablecoins” replace retail bank deposits: </a:t>
            </a:r>
          </a:p>
          <a:p>
            <a:r>
              <a:rPr lang="en-US" sz="1900" b="1" dirty="0">
                <a:solidFill>
                  <a:srgbClr val="C00000"/>
                </a:solidFill>
              </a:rPr>
              <a:t>secured, yield bearing</a:t>
            </a:r>
          </a:p>
          <a:p>
            <a:pPr marL="0" indent="0">
              <a:buNone/>
            </a:pPr>
            <a:r>
              <a:rPr lang="en-US" sz="1900" b="1" dirty="0"/>
              <a:t>Non-yield bearing “payment stablecoin(s)” replace RTGS: </a:t>
            </a:r>
          </a:p>
          <a:p>
            <a:r>
              <a:rPr lang="en-US" sz="1900" b="1" dirty="0">
                <a:solidFill>
                  <a:srgbClr val="C00000"/>
                </a:solidFill>
              </a:rPr>
              <a:t>HQLA1-secured, non-yield bearing</a:t>
            </a:r>
            <a:endParaRPr lang="en-US" sz="600" dirty="0"/>
          </a:p>
          <a:p>
            <a:pPr marL="0" indent="0">
              <a:buNone/>
            </a:pPr>
            <a:r>
              <a:rPr lang="en-US" sz="1800" dirty="0"/>
              <a:t>A better way to “bank”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4A93F-0198-5D03-10B5-DCF00B71F162}"/>
              </a:ext>
            </a:extLst>
          </p:cNvPr>
          <p:cNvSpPr txBox="1"/>
          <p:nvPr/>
        </p:nvSpPr>
        <p:spPr>
          <a:xfrm>
            <a:off x="706189" y="2351044"/>
            <a:ext cx="576188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/>
              <a:t>How can they access stable digital money &amp; </a:t>
            </a:r>
            <a:r>
              <a:rPr lang="en-GB" sz="1600" b="1" dirty="0">
                <a:effectLst/>
                <a:ea typeface="IBM Plex Sans Light" panose="020F0302020204030204" pitchFamily="34" charset="0"/>
                <a:cs typeface="IBM Plex Sans Light" panose="020F0302020204030204" pitchFamily="34" charset="0"/>
              </a:rPr>
              <a:t>participate safely and legally in the US $300 trillion global asset pool?</a:t>
            </a:r>
            <a:r>
              <a:rPr lang="en-AU" sz="1600" b="1" dirty="0">
                <a:effectLst/>
              </a:rPr>
              <a:t> </a:t>
            </a:r>
          </a:p>
          <a:p>
            <a:pPr lvl="1"/>
            <a:r>
              <a:rPr lang="en-AU" sz="1400" i="1" dirty="0">
                <a:solidFill>
                  <a:srgbClr val="C00000"/>
                </a:solidFill>
              </a:rPr>
              <a:t>who are they? where are they? </a:t>
            </a:r>
            <a:r>
              <a:rPr lang="en-AU" sz="1400" b="1" i="1" dirty="0">
                <a:solidFill>
                  <a:srgbClr val="C00000"/>
                </a:solidFill>
              </a:rPr>
              <a:t>That doesn’t matter!</a:t>
            </a:r>
          </a:p>
          <a:p>
            <a:pPr lvl="1"/>
            <a:r>
              <a:rPr lang="en-AU" sz="1400" i="1" dirty="0">
                <a:solidFill>
                  <a:srgbClr val="C00000"/>
                </a:solidFill>
              </a:rPr>
              <a:t>Anyone with suboptimal banking but WITH ID. </a:t>
            </a:r>
          </a:p>
          <a:p>
            <a:pPr marL="0" indent="0">
              <a:buNone/>
            </a:pPr>
            <a:r>
              <a:rPr lang="en-AU" sz="1600" b="1" i="1" dirty="0">
                <a:solidFill>
                  <a:srgbClr val="C00000"/>
                </a:solidFill>
              </a:rPr>
              <a:t>Includes every wealth profile in every country. </a:t>
            </a:r>
            <a:r>
              <a:rPr lang="en-AU" sz="1600" i="1" dirty="0">
                <a:solidFill>
                  <a:srgbClr val="C00000"/>
                </a:solidFill>
              </a:rPr>
              <a:t>Just imagine</a:t>
            </a:r>
          </a:p>
          <a:p>
            <a:pPr marL="0" indent="0">
              <a:buNone/>
            </a:pPr>
            <a:endParaRPr lang="en-AU" sz="1400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800" b="1" dirty="0"/>
              <a:t>“BANKLESS” RETAIL PAYMENTS &amp; SAVINGS </a:t>
            </a:r>
          </a:p>
          <a:p>
            <a:pPr marL="0" indent="0">
              <a:buNone/>
            </a:pPr>
            <a:r>
              <a:rPr lang="en-US" sz="1700" i="1" dirty="0"/>
              <a:t>Do you need a bank? </a:t>
            </a:r>
          </a:p>
          <a:p>
            <a:pPr marL="0" indent="0">
              <a:buNone/>
            </a:pPr>
            <a:r>
              <a:rPr lang="en-US" sz="1700" dirty="0"/>
              <a:t>What if you could just use the internet for payments and savings? (And investment?)</a:t>
            </a:r>
          </a:p>
          <a:p>
            <a:pPr marL="0" indent="0">
              <a:buNone/>
            </a:pPr>
            <a:endParaRPr lang="en-US" sz="1300" i="1" dirty="0">
              <a:solidFill>
                <a:srgbClr val="C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 err="1">
                <a:solidFill>
                  <a:srgbClr val="C00000"/>
                </a:solidFill>
              </a:rPr>
              <a:t>Isnt</a:t>
            </a:r>
            <a:r>
              <a:rPr lang="en-US" sz="1300" i="1" dirty="0">
                <a:solidFill>
                  <a:srgbClr val="C00000"/>
                </a:solidFill>
              </a:rPr>
              <a:t> that just like PayPal? </a:t>
            </a:r>
            <a:r>
              <a:rPr lang="en-US" sz="1300" i="1" dirty="0" err="1">
                <a:solidFill>
                  <a:srgbClr val="C00000"/>
                </a:solidFill>
              </a:rPr>
              <a:t>Mpesa</a:t>
            </a:r>
            <a:r>
              <a:rPr lang="en-US" sz="1300" i="1" dirty="0">
                <a:solidFill>
                  <a:srgbClr val="C00000"/>
                </a:solidFill>
              </a:rPr>
              <a:t>, </a:t>
            </a:r>
            <a:r>
              <a:rPr lang="en-US" sz="1300" i="1" dirty="0" err="1">
                <a:solidFill>
                  <a:srgbClr val="C00000"/>
                </a:solidFill>
              </a:rPr>
              <a:t>AliPay</a:t>
            </a:r>
            <a:r>
              <a:rPr lang="en-US" sz="1300" i="1" dirty="0">
                <a:solidFill>
                  <a:srgbClr val="C00000"/>
                </a:solidFill>
              </a:rPr>
              <a:t>, Facebook Libra?…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C00000"/>
                </a:solidFill>
              </a:rPr>
              <a:t> No – they are layers over bank deposits. This is a substitute for bank deposits.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C00000"/>
                </a:solidFill>
              </a:rPr>
              <a:t>A bank deposit is an unsecured liability.</a:t>
            </a:r>
          </a:p>
          <a:p>
            <a:pPr marL="0" indent="0">
              <a:spcBef>
                <a:spcPts val="0"/>
              </a:spcBef>
              <a:buNone/>
            </a:pPr>
            <a:endParaRPr lang="en-US" sz="1300" i="1" dirty="0">
              <a:solidFill>
                <a:srgbClr val="C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i="1" dirty="0"/>
              <a:t>This is a yield-bearing money token maintained on DLT and </a:t>
            </a:r>
            <a:r>
              <a:rPr lang="en-US" sz="1700" b="1" i="1" dirty="0"/>
              <a:t>secured by assets on the same ledger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0640096-6557-1A69-72BC-D61C6DCA5D6C}"/>
              </a:ext>
            </a:extLst>
          </p:cNvPr>
          <p:cNvSpPr txBox="1">
            <a:spLocks/>
          </p:cNvSpPr>
          <p:nvPr/>
        </p:nvSpPr>
        <p:spPr>
          <a:xfrm>
            <a:off x="4651420" y="1577980"/>
            <a:ext cx="1559460" cy="6718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i="1" dirty="0">
                <a:solidFill>
                  <a:srgbClr val="C00000"/>
                </a:solidFill>
              </a:rPr>
              <a:t>Can Redbelly bring ID to people without ID?</a:t>
            </a:r>
          </a:p>
        </p:txBody>
      </p:sp>
    </p:spTree>
    <p:extLst>
      <p:ext uri="{BB962C8B-B14F-4D97-AF65-F5344CB8AC3E}">
        <p14:creationId xmlns:p14="http://schemas.microsoft.com/office/powerpoint/2010/main" val="38904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8F825508-13E5-445B-8373-9F7A7D61C35B}"/>
              </a:ext>
            </a:extLst>
          </p:cNvPr>
          <p:cNvSpPr/>
          <p:nvPr/>
        </p:nvSpPr>
        <p:spPr>
          <a:xfrm>
            <a:off x="6339016" y="492387"/>
            <a:ext cx="5263978" cy="3785811"/>
          </a:xfrm>
          <a:prstGeom prst="rect">
            <a:avLst/>
          </a:prstGeom>
          <a:solidFill>
            <a:schemeClr val="bg1">
              <a:alpha val="0"/>
            </a:schemeClr>
          </a:solidFill>
          <a:ln w="50800">
            <a:solidFill>
              <a:srgbClr val="FF0000">
                <a:alpha val="75129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B1F0D-FCB6-FEC8-0BD3-112E7424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67" y="344105"/>
            <a:ext cx="10784227" cy="843983"/>
          </a:xfrm>
        </p:spPr>
        <p:txBody>
          <a:bodyPr>
            <a:normAutofit/>
          </a:bodyPr>
          <a:lstStyle/>
          <a:p>
            <a:r>
              <a:rPr lang="en-US" sz="3200" b="1" dirty="0"/>
              <a:t>How does it work?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CC204D15-F75D-3C50-7FC1-1F910DAF048B}"/>
              </a:ext>
            </a:extLst>
          </p:cNvPr>
          <p:cNvSpPr/>
          <p:nvPr/>
        </p:nvSpPr>
        <p:spPr>
          <a:xfrm>
            <a:off x="8191776" y="687639"/>
            <a:ext cx="939113" cy="951470"/>
          </a:xfrm>
          <a:prstGeom prst="cube">
            <a:avLst/>
          </a:prstGeom>
          <a:solidFill>
            <a:schemeClr val="tx1">
              <a:alpha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4A050F1-F380-C75E-F437-93B09D585456}"/>
              </a:ext>
            </a:extLst>
          </p:cNvPr>
          <p:cNvSpPr txBox="1">
            <a:spLocks/>
          </p:cNvSpPr>
          <p:nvPr/>
        </p:nvSpPr>
        <p:spPr>
          <a:xfrm>
            <a:off x="8017270" y="1668863"/>
            <a:ext cx="1516517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e.g. BLACKROCK + SECURITIZE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3304871-FDF2-463B-7559-DFFFF443BCDB}"/>
              </a:ext>
            </a:extLst>
          </p:cNvPr>
          <p:cNvSpPr txBox="1">
            <a:spLocks/>
          </p:cNvSpPr>
          <p:nvPr/>
        </p:nvSpPr>
        <p:spPr>
          <a:xfrm>
            <a:off x="5131511" y="239862"/>
            <a:ext cx="2101519" cy="9782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dirty="0"/>
              <a:t>BIG INVESTORS </a:t>
            </a:r>
            <a:r>
              <a:rPr lang="en-US" sz="1600" dirty="0"/>
              <a:t>invest by minting RWAT to whitelisted vault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A5D964-AC68-5814-C5B1-B762F4F4804B}"/>
              </a:ext>
            </a:extLst>
          </p:cNvPr>
          <p:cNvSpPr/>
          <p:nvPr/>
        </p:nvSpPr>
        <p:spPr>
          <a:xfrm>
            <a:off x="9959906" y="385407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EA14A4-E6E8-945A-728A-795224BC8E7C}"/>
              </a:ext>
            </a:extLst>
          </p:cNvPr>
          <p:cNvSpPr/>
          <p:nvPr/>
        </p:nvSpPr>
        <p:spPr>
          <a:xfrm>
            <a:off x="718787" y="2520806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4733A5-CFCF-0DD8-E4E1-0ADAED624434}"/>
              </a:ext>
            </a:extLst>
          </p:cNvPr>
          <p:cNvSpPr/>
          <p:nvPr/>
        </p:nvSpPr>
        <p:spPr>
          <a:xfrm>
            <a:off x="2018697" y="2501847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BCAB80-A3E4-AA3E-3ECD-8C9CFD136E70}"/>
              </a:ext>
            </a:extLst>
          </p:cNvPr>
          <p:cNvSpPr/>
          <p:nvPr/>
        </p:nvSpPr>
        <p:spPr>
          <a:xfrm>
            <a:off x="10386791" y="6954742"/>
            <a:ext cx="1440000" cy="144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7D063A-3E9E-10F4-43AF-34FD9EE76403}"/>
              </a:ext>
            </a:extLst>
          </p:cNvPr>
          <p:cNvSpPr txBox="1">
            <a:spLocks/>
          </p:cNvSpPr>
          <p:nvPr/>
        </p:nvSpPr>
        <p:spPr>
          <a:xfrm>
            <a:off x="1151950" y="5973791"/>
            <a:ext cx="1628320" cy="54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C9566AF-AFB2-8B05-A7E9-14C563A38D18}"/>
              </a:ext>
            </a:extLst>
          </p:cNvPr>
          <p:cNvSpPr txBox="1">
            <a:spLocks/>
          </p:cNvSpPr>
          <p:nvPr/>
        </p:nvSpPr>
        <p:spPr>
          <a:xfrm>
            <a:off x="6011124" y="6513895"/>
            <a:ext cx="2970638" cy="843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Small investors: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EB9755-C9B2-6278-CCA2-30F7DF1003DF}"/>
              </a:ext>
            </a:extLst>
          </p:cNvPr>
          <p:cNvSpPr txBox="1"/>
          <p:nvPr/>
        </p:nvSpPr>
        <p:spPr>
          <a:xfrm>
            <a:off x="7013537" y="838263"/>
            <a:ext cx="407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$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4510F8C-4B4B-865B-B8A3-8DF78796BD05}"/>
              </a:ext>
            </a:extLst>
          </p:cNvPr>
          <p:cNvSpPr txBox="1">
            <a:spLocks/>
          </p:cNvSpPr>
          <p:nvPr/>
        </p:nvSpPr>
        <p:spPr>
          <a:xfrm>
            <a:off x="6947697" y="1372516"/>
            <a:ext cx="613434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C00000"/>
                </a:solidFill>
              </a:rPr>
              <a:t>Fiat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34C0DA6-36E7-FEEB-714E-CA5CE6442C9F}"/>
              </a:ext>
            </a:extLst>
          </p:cNvPr>
          <p:cNvSpPr txBox="1">
            <a:spLocks/>
          </p:cNvSpPr>
          <p:nvPr/>
        </p:nvSpPr>
        <p:spPr>
          <a:xfrm>
            <a:off x="10303161" y="1848867"/>
            <a:ext cx="814664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VAULT</a:t>
            </a:r>
          </a:p>
        </p:txBody>
      </p:sp>
      <p:sp>
        <p:nvSpPr>
          <p:cNvPr id="29" name="Cube 28">
            <a:extLst>
              <a:ext uri="{FF2B5EF4-FFF2-40B4-BE49-F238E27FC236}">
                <a16:creationId xmlns:a16="http://schemas.microsoft.com/office/drawing/2014/main" id="{CAC7D81A-6DDE-C28E-2C2D-28B68049EBC4}"/>
              </a:ext>
            </a:extLst>
          </p:cNvPr>
          <p:cNvSpPr>
            <a:spLocks noChangeAspect="1"/>
          </p:cNvSpPr>
          <p:nvPr/>
        </p:nvSpPr>
        <p:spPr>
          <a:xfrm>
            <a:off x="10261991" y="708661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ADB29ACC-3CE0-D31A-D8C0-717CBB34E5B7}"/>
              </a:ext>
            </a:extLst>
          </p:cNvPr>
          <p:cNvSpPr>
            <a:spLocks noChangeAspect="1"/>
          </p:cNvSpPr>
          <p:nvPr/>
        </p:nvSpPr>
        <p:spPr>
          <a:xfrm>
            <a:off x="10414391" y="861061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B84855A2-DFA2-D5D9-EB25-71127BCBAD12}"/>
              </a:ext>
            </a:extLst>
          </p:cNvPr>
          <p:cNvSpPr>
            <a:spLocks noChangeAspect="1"/>
          </p:cNvSpPr>
          <p:nvPr/>
        </p:nvSpPr>
        <p:spPr>
          <a:xfrm>
            <a:off x="10566791" y="1013461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4C8D9F-8987-CA3D-E327-4B154CB9C03F}"/>
              </a:ext>
            </a:extLst>
          </p:cNvPr>
          <p:cNvCxnSpPr>
            <a:cxnSpLocks/>
          </p:cNvCxnSpPr>
          <p:nvPr/>
        </p:nvCxnSpPr>
        <p:spPr>
          <a:xfrm>
            <a:off x="7554591" y="1348729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7437B2BA-FDED-09D9-2ED4-C2DDAE74385B}"/>
              </a:ext>
            </a:extLst>
          </p:cNvPr>
          <p:cNvSpPr txBox="1">
            <a:spLocks/>
          </p:cNvSpPr>
          <p:nvPr/>
        </p:nvSpPr>
        <p:spPr>
          <a:xfrm>
            <a:off x="6878809" y="2587836"/>
            <a:ext cx="2971083" cy="332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C00000"/>
                </a:solidFill>
              </a:rPr>
              <a:t>Secured yield-bearing share token  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F3634FD0-9E0B-227F-04B2-ECC1EF69E22B}"/>
              </a:ext>
            </a:extLst>
          </p:cNvPr>
          <p:cNvSpPr txBox="1">
            <a:spLocks/>
          </p:cNvSpPr>
          <p:nvPr/>
        </p:nvSpPr>
        <p:spPr>
          <a:xfrm>
            <a:off x="7465493" y="931994"/>
            <a:ext cx="79263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invest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481FC4-CF09-3691-EEB7-8E734845114A}"/>
              </a:ext>
            </a:extLst>
          </p:cNvPr>
          <p:cNvCxnSpPr>
            <a:cxnSpLocks/>
          </p:cNvCxnSpPr>
          <p:nvPr/>
        </p:nvCxnSpPr>
        <p:spPr>
          <a:xfrm>
            <a:off x="9350442" y="1365204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A94F1D40-31FF-563D-EB23-5C665D26FE3B}"/>
              </a:ext>
            </a:extLst>
          </p:cNvPr>
          <p:cNvSpPr txBox="1">
            <a:spLocks/>
          </p:cNvSpPr>
          <p:nvPr/>
        </p:nvSpPr>
        <p:spPr>
          <a:xfrm>
            <a:off x="9272353" y="591004"/>
            <a:ext cx="661300" cy="75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mint</a:t>
            </a:r>
          </a:p>
          <a:p>
            <a:r>
              <a:rPr lang="en-US" sz="1400" i="1" dirty="0">
                <a:solidFill>
                  <a:srgbClr val="0070C0"/>
                </a:solidFill>
              </a:rPr>
              <a:t>e.g. BUIDL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1015CEE-53BE-0864-FCFC-2DFAFD5D91E3}"/>
              </a:ext>
            </a:extLst>
          </p:cNvPr>
          <p:cNvSpPr>
            <a:spLocks noChangeAspect="1"/>
          </p:cNvSpPr>
          <p:nvPr/>
        </p:nvSpPr>
        <p:spPr>
          <a:xfrm>
            <a:off x="6989822" y="1986080"/>
            <a:ext cx="504000" cy="504000"/>
          </a:xfrm>
          <a:prstGeom prst="ellipse">
            <a:avLst/>
          </a:prstGeom>
          <a:solidFill>
            <a:srgbClr val="FF45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2FB5B5C-7DF4-8650-B9A0-39FE977A67A3}"/>
              </a:ext>
            </a:extLst>
          </p:cNvPr>
          <p:cNvSpPr/>
          <p:nvPr/>
        </p:nvSpPr>
        <p:spPr>
          <a:xfrm>
            <a:off x="6507339" y="3178229"/>
            <a:ext cx="1778513" cy="820671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7598002B-2B17-7F81-E2D9-13B776093DBD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72446" y="1843873"/>
            <a:ext cx="2550701" cy="422226"/>
          </a:xfrm>
          <a:prstGeom prst="bentConnector3">
            <a:avLst>
              <a:gd name="adj1" fmla="val 102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3D838016-8151-A6A8-497A-BA32FAA22C75}"/>
              </a:ext>
            </a:extLst>
          </p:cNvPr>
          <p:cNvCxnSpPr>
            <a:cxnSpLocks/>
            <a:stCxn id="40" idx="2"/>
            <a:endCxn id="54" idx="1"/>
          </p:cNvCxnSpPr>
          <p:nvPr/>
        </p:nvCxnSpPr>
        <p:spPr>
          <a:xfrm rot="10800000" flipV="1">
            <a:off x="6767796" y="2238079"/>
            <a:ext cx="222026" cy="1060333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itle 1">
            <a:extLst>
              <a:ext uri="{FF2B5EF4-FFF2-40B4-BE49-F238E27FC236}">
                <a16:creationId xmlns:a16="http://schemas.microsoft.com/office/drawing/2014/main" id="{69F23344-1B24-2776-00FA-946C6F915EE1}"/>
              </a:ext>
            </a:extLst>
          </p:cNvPr>
          <p:cNvSpPr txBox="1">
            <a:spLocks/>
          </p:cNvSpPr>
          <p:nvPr/>
        </p:nvSpPr>
        <p:spPr>
          <a:xfrm>
            <a:off x="10213422" y="2305049"/>
            <a:ext cx="1177137" cy="676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i="1" dirty="0">
                <a:solidFill>
                  <a:srgbClr val="C00000"/>
                </a:solidFill>
              </a:rPr>
              <a:t>ERC4626 / </a:t>
            </a:r>
          </a:p>
          <a:p>
            <a:r>
              <a:rPr lang="en-US" sz="1800" b="1" i="1" dirty="0">
                <a:solidFill>
                  <a:srgbClr val="C00000"/>
                </a:solidFill>
              </a:rPr>
              <a:t>ERC7540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72DAC5DE-D5D8-C940-6199-6B719D29FEBB}"/>
              </a:ext>
            </a:extLst>
          </p:cNvPr>
          <p:cNvSpPr txBox="1">
            <a:spLocks/>
          </p:cNvSpPr>
          <p:nvPr/>
        </p:nvSpPr>
        <p:spPr>
          <a:xfrm>
            <a:off x="7969493" y="3019023"/>
            <a:ext cx="2196036" cy="332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LIQUIDITY POOL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54B264F-039B-4214-213E-9A150EB2135C}"/>
              </a:ext>
            </a:extLst>
          </p:cNvPr>
          <p:cNvSpPr>
            <a:spLocks noChangeAspect="1"/>
          </p:cNvSpPr>
          <p:nvPr/>
        </p:nvSpPr>
        <p:spPr>
          <a:xfrm>
            <a:off x="6805234" y="3336564"/>
            <a:ext cx="504000" cy="504000"/>
          </a:xfrm>
          <a:prstGeom prst="ellipse">
            <a:avLst/>
          </a:prstGeom>
          <a:solidFill>
            <a:srgbClr val="FF45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DBC6C94-24E5-72F4-578B-43106CB9B0FF}"/>
              </a:ext>
            </a:extLst>
          </p:cNvPr>
          <p:cNvSpPr>
            <a:spLocks noChangeAspect="1"/>
          </p:cNvSpPr>
          <p:nvPr/>
        </p:nvSpPr>
        <p:spPr>
          <a:xfrm>
            <a:off x="7465493" y="3341489"/>
            <a:ext cx="504000" cy="504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2B238902-385B-6957-CA72-3847A6770C56}"/>
              </a:ext>
            </a:extLst>
          </p:cNvPr>
          <p:cNvSpPr txBox="1">
            <a:spLocks/>
          </p:cNvSpPr>
          <p:nvPr/>
        </p:nvSpPr>
        <p:spPr>
          <a:xfrm>
            <a:off x="8424512" y="3384702"/>
            <a:ext cx="2956563" cy="676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>
                <a:solidFill>
                  <a:srgbClr val="0070C0"/>
                </a:solidFill>
              </a:rPr>
              <a:t>pair with non-yield bearing “payments stablecoin”</a:t>
            </a:r>
          </a:p>
          <a:p>
            <a:r>
              <a:rPr lang="en-US" sz="1600" b="1" i="1" dirty="0">
                <a:solidFill>
                  <a:srgbClr val="0070C0"/>
                </a:solidFill>
              </a:rPr>
              <a:t>INTERCHANGE ASSET</a:t>
            </a: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90C96339-E925-89FA-8292-A0C4A9C6A72D}"/>
              </a:ext>
            </a:extLst>
          </p:cNvPr>
          <p:cNvSpPr txBox="1">
            <a:spLocks/>
          </p:cNvSpPr>
          <p:nvPr/>
        </p:nvSpPr>
        <p:spPr>
          <a:xfrm>
            <a:off x="886568" y="1049175"/>
            <a:ext cx="4920096" cy="104411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>
                <a:solidFill>
                  <a:srgbClr val="C00000"/>
                </a:solidFill>
              </a:rPr>
              <a:t>Every yield-bearing savings stablecoin represents:</a:t>
            </a:r>
          </a:p>
          <a:p>
            <a:r>
              <a:rPr lang="en-US" sz="1600" i="1" dirty="0">
                <a:solidFill>
                  <a:srgbClr val="C00000"/>
                </a:solidFill>
              </a:rPr>
              <a:t> </a:t>
            </a:r>
            <a:r>
              <a:rPr lang="en-US" sz="1600" b="1" i="1" dirty="0">
                <a:solidFill>
                  <a:srgbClr val="C00000"/>
                </a:solidFill>
              </a:rPr>
              <a:t>a share in a VAULT of (yield-bearing) RWAT</a:t>
            </a:r>
          </a:p>
          <a:p>
            <a:r>
              <a:rPr lang="en-US" sz="1600" b="1" i="1" dirty="0"/>
              <a:t>These can REPLACE bank deposits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2CE1033-F6C1-C07B-24A6-39B239C71BE8}"/>
              </a:ext>
            </a:extLst>
          </p:cNvPr>
          <p:cNvSpPr>
            <a:spLocks noChangeAspect="1"/>
          </p:cNvSpPr>
          <p:nvPr/>
        </p:nvSpPr>
        <p:spPr>
          <a:xfrm>
            <a:off x="820964" y="3892650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B8AF355-8923-BEC1-4FD4-4E2625C059A6}"/>
              </a:ext>
            </a:extLst>
          </p:cNvPr>
          <p:cNvSpPr>
            <a:spLocks noChangeAspect="1"/>
          </p:cNvSpPr>
          <p:nvPr/>
        </p:nvSpPr>
        <p:spPr>
          <a:xfrm rot="19285994">
            <a:off x="1702369" y="4543908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52FA606-C353-FA87-E5D2-831B9CD28B3B}"/>
              </a:ext>
            </a:extLst>
          </p:cNvPr>
          <p:cNvSpPr>
            <a:spLocks noChangeAspect="1"/>
          </p:cNvSpPr>
          <p:nvPr/>
        </p:nvSpPr>
        <p:spPr>
          <a:xfrm>
            <a:off x="3974983" y="3895615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CC75F9B-DD69-8B79-75CB-39C85015279F}"/>
              </a:ext>
            </a:extLst>
          </p:cNvPr>
          <p:cNvSpPr>
            <a:spLocks noChangeAspect="1"/>
          </p:cNvSpPr>
          <p:nvPr/>
        </p:nvSpPr>
        <p:spPr>
          <a:xfrm rot="-19260000">
            <a:off x="3133404" y="4523670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7CFA45C-2603-8039-4DDF-16E5879286C3}"/>
              </a:ext>
            </a:extLst>
          </p:cNvPr>
          <p:cNvSpPr/>
          <p:nvPr/>
        </p:nvSpPr>
        <p:spPr>
          <a:xfrm>
            <a:off x="3313909" y="2510846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75EC31E-FB7E-013A-8040-5EC43066D3FD}"/>
              </a:ext>
            </a:extLst>
          </p:cNvPr>
          <p:cNvSpPr/>
          <p:nvPr/>
        </p:nvSpPr>
        <p:spPr>
          <a:xfrm>
            <a:off x="4609121" y="2524711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84A4D6E-C2CF-84A4-BCF4-FAD3230B7546}"/>
              </a:ext>
            </a:extLst>
          </p:cNvPr>
          <p:cNvCxnSpPr>
            <a:cxnSpLocks/>
          </p:cNvCxnSpPr>
          <p:nvPr/>
        </p:nvCxnSpPr>
        <p:spPr>
          <a:xfrm flipH="1">
            <a:off x="946832" y="2256427"/>
            <a:ext cx="4328157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C1EC2DD-1560-A165-61B6-19A9AA13D3C8}"/>
              </a:ext>
            </a:extLst>
          </p:cNvPr>
          <p:cNvSpPr txBox="1"/>
          <p:nvPr/>
        </p:nvSpPr>
        <p:spPr>
          <a:xfrm>
            <a:off x="95732" y="1958462"/>
            <a:ext cx="103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lower yield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D75071-48AE-1DCC-F5DB-11D26ED0D7F2}"/>
              </a:ext>
            </a:extLst>
          </p:cNvPr>
          <p:cNvSpPr txBox="1"/>
          <p:nvPr/>
        </p:nvSpPr>
        <p:spPr>
          <a:xfrm>
            <a:off x="5113124" y="1884320"/>
            <a:ext cx="103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9C00"/>
                </a:solidFill>
              </a:rPr>
              <a:t>higher yield</a:t>
            </a:r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07D8CE1C-233D-6D32-B38B-20A753253242}"/>
              </a:ext>
            </a:extLst>
          </p:cNvPr>
          <p:cNvSpPr>
            <a:spLocks noChangeAspect="1"/>
          </p:cNvSpPr>
          <p:nvPr/>
        </p:nvSpPr>
        <p:spPr>
          <a:xfrm>
            <a:off x="891345" y="268596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ube 83">
            <a:extLst>
              <a:ext uri="{FF2B5EF4-FFF2-40B4-BE49-F238E27FC236}">
                <a16:creationId xmlns:a16="http://schemas.microsoft.com/office/drawing/2014/main" id="{C079A54D-D7C0-8635-A0B9-E2F3D788959C}"/>
              </a:ext>
            </a:extLst>
          </p:cNvPr>
          <p:cNvSpPr>
            <a:spLocks noChangeAspect="1"/>
          </p:cNvSpPr>
          <p:nvPr/>
        </p:nvSpPr>
        <p:spPr>
          <a:xfrm>
            <a:off x="1043745" y="283836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Cube 84">
            <a:extLst>
              <a:ext uri="{FF2B5EF4-FFF2-40B4-BE49-F238E27FC236}">
                <a16:creationId xmlns:a16="http://schemas.microsoft.com/office/drawing/2014/main" id="{1ABDB793-E532-ADBA-E31A-0718DBA8A56C}"/>
              </a:ext>
            </a:extLst>
          </p:cNvPr>
          <p:cNvSpPr>
            <a:spLocks noChangeAspect="1"/>
          </p:cNvSpPr>
          <p:nvPr/>
        </p:nvSpPr>
        <p:spPr>
          <a:xfrm>
            <a:off x="1196145" y="299076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D8314FB-12A5-1357-91A8-9C4E5518FD90}"/>
              </a:ext>
            </a:extLst>
          </p:cNvPr>
          <p:cNvSpPr>
            <a:spLocks noChangeAspect="1"/>
          </p:cNvSpPr>
          <p:nvPr/>
        </p:nvSpPr>
        <p:spPr>
          <a:xfrm>
            <a:off x="1600787" y="4000650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3B3114E-41DF-681A-47B5-0854ECDC3392}"/>
              </a:ext>
            </a:extLst>
          </p:cNvPr>
          <p:cNvSpPr>
            <a:spLocks noChangeAspect="1"/>
          </p:cNvSpPr>
          <p:nvPr/>
        </p:nvSpPr>
        <p:spPr>
          <a:xfrm>
            <a:off x="2427168" y="4474330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23D999B-7CA6-D31E-2FA5-B3D5D20E2C9C}"/>
              </a:ext>
            </a:extLst>
          </p:cNvPr>
          <p:cNvSpPr>
            <a:spLocks noChangeAspect="1"/>
          </p:cNvSpPr>
          <p:nvPr/>
        </p:nvSpPr>
        <p:spPr>
          <a:xfrm>
            <a:off x="3383567" y="4456696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6295594-878A-AC34-1354-4AF29E386B30}"/>
              </a:ext>
            </a:extLst>
          </p:cNvPr>
          <p:cNvSpPr>
            <a:spLocks noChangeAspect="1"/>
          </p:cNvSpPr>
          <p:nvPr/>
        </p:nvSpPr>
        <p:spPr>
          <a:xfrm>
            <a:off x="4760849" y="4021015"/>
            <a:ext cx="396000" cy="396000"/>
          </a:xfrm>
          <a:prstGeom prst="ellipse">
            <a:avLst/>
          </a:prstGeom>
          <a:solidFill>
            <a:srgbClr val="FF9C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3002140B-5922-B1FE-8863-2BF43C22C9C3}"/>
              </a:ext>
            </a:extLst>
          </p:cNvPr>
          <p:cNvSpPr>
            <a:spLocks noChangeAspect="1"/>
          </p:cNvSpPr>
          <p:nvPr/>
        </p:nvSpPr>
        <p:spPr>
          <a:xfrm>
            <a:off x="1031078" y="4000650"/>
            <a:ext cx="396000" cy="396000"/>
          </a:xfrm>
          <a:prstGeom prst="ellipse">
            <a:avLst/>
          </a:prstGeom>
          <a:solidFill>
            <a:srgbClr val="FF454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92" name="Cube 91">
            <a:extLst>
              <a:ext uri="{FF2B5EF4-FFF2-40B4-BE49-F238E27FC236}">
                <a16:creationId xmlns:a16="http://schemas.microsoft.com/office/drawing/2014/main" id="{A42EBE0F-D831-152E-78A9-25D3E0841344}"/>
              </a:ext>
            </a:extLst>
          </p:cNvPr>
          <p:cNvSpPr>
            <a:spLocks noChangeAspect="1"/>
          </p:cNvSpPr>
          <p:nvPr/>
        </p:nvSpPr>
        <p:spPr>
          <a:xfrm>
            <a:off x="2227555" y="264939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Cube 92">
            <a:extLst>
              <a:ext uri="{FF2B5EF4-FFF2-40B4-BE49-F238E27FC236}">
                <a16:creationId xmlns:a16="http://schemas.microsoft.com/office/drawing/2014/main" id="{65D13465-A40A-9EFB-201D-8BF44EEA79F4}"/>
              </a:ext>
            </a:extLst>
          </p:cNvPr>
          <p:cNvSpPr>
            <a:spLocks noChangeAspect="1"/>
          </p:cNvSpPr>
          <p:nvPr/>
        </p:nvSpPr>
        <p:spPr>
          <a:xfrm>
            <a:off x="2379955" y="280179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ube 93">
            <a:extLst>
              <a:ext uri="{FF2B5EF4-FFF2-40B4-BE49-F238E27FC236}">
                <a16:creationId xmlns:a16="http://schemas.microsoft.com/office/drawing/2014/main" id="{9856DFF1-3CF8-DE6E-75EB-E4E0A03A21A4}"/>
              </a:ext>
            </a:extLst>
          </p:cNvPr>
          <p:cNvSpPr>
            <a:spLocks noChangeAspect="1"/>
          </p:cNvSpPr>
          <p:nvPr/>
        </p:nvSpPr>
        <p:spPr>
          <a:xfrm>
            <a:off x="2532355" y="295419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Cube 94">
            <a:extLst>
              <a:ext uri="{FF2B5EF4-FFF2-40B4-BE49-F238E27FC236}">
                <a16:creationId xmlns:a16="http://schemas.microsoft.com/office/drawing/2014/main" id="{EC041B17-E963-E43A-CB25-B3CD0D11526D}"/>
              </a:ext>
            </a:extLst>
          </p:cNvPr>
          <p:cNvSpPr>
            <a:spLocks noChangeAspect="1"/>
          </p:cNvSpPr>
          <p:nvPr/>
        </p:nvSpPr>
        <p:spPr>
          <a:xfrm>
            <a:off x="3527935" y="264939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Cube 95">
            <a:extLst>
              <a:ext uri="{FF2B5EF4-FFF2-40B4-BE49-F238E27FC236}">
                <a16:creationId xmlns:a16="http://schemas.microsoft.com/office/drawing/2014/main" id="{B86B1449-DDFE-A701-FBB5-E92DF8284EE1}"/>
              </a:ext>
            </a:extLst>
          </p:cNvPr>
          <p:cNvSpPr>
            <a:spLocks noChangeAspect="1"/>
          </p:cNvSpPr>
          <p:nvPr/>
        </p:nvSpPr>
        <p:spPr>
          <a:xfrm>
            <a:off x="3680335" y="280179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Cube 96">
            <a:extLst>
              <a:ext uri="{FF2B5EF4-FFF2-40B4-BE49-F238E27FC236}">
                <a16:creationId xmlns:a16="http://schemas.microsoft.com/office/drawing/2014/main" id="{3B4DF355-3294-9130-1C56-87C072382F9A}"/>
              </a:ext>
            </a:extLst>
          </p:cNvPr>
          <p:cNvSpPr>
            <a:spLocks noChangeAspect="1"/>
          </p:cNvSpPr>
          <p:nvPr/>
        </p:nvSpPr>
        <p:spPr>
          <a:xfrm>
            <a:off x="3832735" y="295419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Cube 97">
            <a:extLst>
              <a:ext uri="{FF2B5EF4-FFF2-40B4-BE49-F238E27FC236}">
                <a16:creationId xmlns:a16="http://schemas.microsoft.com/office/drawing/2014/main" id="{48421E62-0E92-D3FD-173F-4C1AB0D7133E}"/>
              </a:ext>
            </a:extLst>
          </p:cNvPr>
          <p:cNvSpPr>
            <a:spLocks noChangeAspect="1"/>
          </p:cNvSpPr>
          <p:nvPr/>
        </p:nvSpPr>
        <p:spPr>
          <a:xfrm>
            <a:off x="4826711" y="266321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Cube 98">
            <a:extLst>
              <a:ext uri="{FF2B5EF4-FFF2-40B4-BE49-F238E27FC236}">
                <a16:creationId xmlns:a16="http://schemas.microsoft.com/office/drawing/2014/main" id="{1EEED6D5-3676-EF10-7566-62D66D91C4A7}"/>
              </a:ext>
            </a:extLst>
          </p:cNvPr>
          <p:cNvSpPr>
            <a:spLocks noChangeAspect="1"/>
          </p:cNvSpPr>
          <p:nvPr/>
        </p:nvSpPr>
        <p:spPr>
          <a:xfrm>
            <a:off x="4979111" y="281561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Cube 99">
            <a:extLst>
              <a:ext uri="{FF2B5EF4-FFF2-40B4-BE49-F238E27FC236}">
                <a16:creationId xmlns:a16="http://schemas.microsoft.com/office/drawing/2014/main" id="{BFF71207-3E38-A833-04FC-B188789EF17D}"/>
              </a:ext>
            </a:extLst>
          </p:cNvPr>
          <p:cNvSpPr>
            <a:spLocks noChangeAspect="1"/>
          </p:cNvSpPr>
          <p:nvPr/>
        </p:nvSpPr>
        <p:spPr>
          <a:xfrm>
            <a:off x="5131511" y="296801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3B60C87-09B7-472C-FA7D-B9023AC96EE2}"/>
              </a:ext>
            </a:extLst>
          </p:cNvPr>
          <p:cNvSpPr>
            <a:spLocks noChangeAspect="1"/>
          </p:cNvSpPr>
          <p:nvPr/>
        </p:nvSpPr>
        <p:spPr>
          <a:xfrm>
            <a:off x="4197944" y="4028674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CCD244D6-74B2-F172-1D07-5244AFA1111E}"/>
              </a:ext>
            </a:extLst>
          </p:cNvPr>
          <p:cNvSpPr txBox="1">
            <a:spLocks/>
          </p:cNvSpPr>
          <p:nvPr/>
        </p:nvSpPr>
        <p:spPr>
          <a:xfrm>
            <a:off x="2171927" y="3621257"/>
            <a:ext cx="1858808" cy="676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i="1" dirty="0">
                <a:solidFill>
                  <a:srgbClr val="0070C0"/>
                </a:solidFill>
              </a:rPr>
              <a:t>Common zero-yield interchange asset for payments</a:t>
            </a:r>
            <a:endParaRPr lang="en-US" sz="1200" b="1" i="1" dirty="0">
              <a:solidFill>
                <a:srgbClr val="0070C0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75C246E-A5A3-4E52-A8CB-5479447D09C8}"/>
              </a:ext>
            </a:extLst>
          </p:cNvPr>
          <p:cNvSpPr>
            <a:spLocks noChangeAspect="1"/>
          </p:cNvSpPr>
          <p:nvPr/>
        </p:nvSpPr>
        <p:spPr>
          <a:xfrm>
            <a:off x="1973653" y="4847671"/>
            <a:ext cx="396000" cy="396000"/>
          </a:xfrm>
          <a:prstGeom prst="ellipse">
            <a:avLst/>
          </a:prstGeom>
          <a:solidFill>
            <a:srgbClr val="FF4D0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369F927-1F80-DAE9-15A2-A2DFF4E40BBD}"/>
              </a:ext>
            </a:extLst>
          </p:cNvPr>
          <p:cNvSpPr>
            <a:spLocks noChangeAspect="1"/>
          </p:cNvSpPr>
          <p:nvPr/>
        </p:nvSpPr>
        <p:spPr>
          <a:xfrm>
            <a:off x="3878329" y="4850766"/>
            <a:ext cx="396000" cy="396000"/>
          </a:xfrm>
          <a:prstGeom prst="ellipse">
            <a:avLst/>
          </a:prstGeom>
          <a:solidFill>
            <a:srgbClr val="FF7F2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6" name="Title 1">
            <a:extLst>
              <a:ext uri="{FF2B5EF4-FFF2-40B4-BE49-F238E27FC236}">
                <a16:creationId xmlns:a16="http://schemas.microsoft.com/office/drawing/2014/main" id="{2B6DCB37-8DE2-4926-4934-7E46A2B971D2}"/>
              </a:ext>
            </a:extLst>
          </p:cNvPr>
          <p:cNvSpPr txBox="1">
            <a:spLocks/>
          </p:cNvSpPr>
          <p:nvPr/>
        </p:nvSpPr>
        <p:spPr>
          <a:xfrm>
            <a:off x="5903354" y="4415411"/>
            <a:ext cx="5776980" cy="7444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SMALL INVESTORS / SAVERS </a:t>
            </a:r>
          </a:p>
          <a:p>
            <a:r>
              <a:rPr lang="en-US" sz="1600" dirty="0"/>
              <a:t>invest by acquiring interchange asset &amp; choosing Savings Stablecoin 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8B5DC02-FA65-F9CF-72A7-A1E6DDB112CB}"/>
              </a:ext>
            </a:extLst>
          </p:cNvPr>
          <p:cNvSpPr txBox="1"/>
          <p:nvPr/>
        </p:nvSpPr>
        <p:spPr>
          <a:xfrm>
            <a:off x="6145060" y="5005358"/>
            <a:ext cx="407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$</a:t>
            </a:r>
          </a:p>
        </p:txBody>
      </p:sp>
      <p:sp>
        <p:nvSpPr>
          <p:cNvPr id="109" name="Title 1">
            <a:extLst>
              <a:ext uri="{FF2B5EF4-FFF2-40B4-BE49-F238E27FC236}">
                <a16:creationId xmlns:a16="http://schemas.microsoft.com/office/drawing/2014/main" id="{8B774A3F-32E5-55AF-A28A-2410B818E3DA}"/>
              </a:ext>
            </a:extLst>
          </p:cNvPr>
          <p:cNvSpPr txBox="1">
            <a:spLocks/>
          </p:cNvSpPr>
          <p:nvPr/>
        </p:nvSpPr>
        <p:spPr>
          <a:xfrm>
            <a:off x="6079220" y="5539611"/>
            <a:ext cx="613434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C00000"/>
                </a:solidFill>
              </a:rPr>
              <a:t>Fiat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9DB2699-A102-E1DC-FA42-81F65ADB425D}"/>
              </a:ext>
            </a:extLst>
          </p:cNvPr>
          <p:cNvCxnSpPr>
            <a:cxnSpLocks/>
          </p:cNvCxnSpPr>
          <p:nvPr/>
        </p:nvCxnSpPr>
        <p:spPr>
          <a:xfrm>
            <a:off x="6676775" y="5609775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itle 1">
            <a:extLst>
              <a:ext uri="{FF2B5EF4-FFF2-40B4-BE49-F238E27FC236}">
                <a16:creationId xmlns:a16="http://schemas.microsoft.com/office/drawing/2014/main" id="{1D9BB59E-7A11-E5CB-D8A1-25877E180812}"/>
              </a:ext>
            </a:extLst>
          </p:cNvPr>
          <p:cNvSpPr txBox="1">
            <a:spLocks/>
          </p:cNvSpPr>
          <p:nvPr/>
        </p:nvSpPr>
        <p:spPr>
          <a:xfrm>
            <a:off x="6587677" y="5193040"/>
            <a:ext cx="79263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invest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9AF37A1-4B8F-DFA4-B52B-8842D7D3988B}"/>
              </a:ext>
            </a:extLst>
          </p:cNvPr>
          <p:cNvCxnSpPr>
            <a:cxnSpLocks/>
          </p:cNvCxnSpPr>
          <p:nvPr/>
        </p:nvCxnSpPr>
        <p:spPr>
          <a:xfrm>
            <a:off x="7910784" y="5577894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itle 1">
            <a:extLst>
              <a:ext uri="{FF2B5EF4-FFF2-40B4-BE49-F238E27FC236}">
                <a16:creationId xmlns:a16="http://schemas.microsoft.com/office/drawing/2014/main" id="{AAE93A59-7B9D-54A5-AAB9-F4129CDD9156}"/>
              </a:ext>
            </a:extLst>
          </p:cNvPr>
          <p:cNvSpPr txBox="1">
            <a:spLocks/>
          </p:cNvSpPr>
          <p:nvPr/>
        </p:nvSpPr>
        <p:spPr>
          <a:xfrm>
            <a:off x="7817593" y="5170145"/>
            <a:ext cx="79263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1BE183E-6961-E553-4BF7-A60ED47449B1}"/>
              </a:ext>
            </a:extLst>
          </p:cNvPr>
          <p:cNvSpPr>
            <a:spLocks noChangeAspect="1"/>
          </p:cNvSpPr>
          <p:nvPr/>
        </p:nvSpPr>
        <p:spPr>
          <a:xfrm>
            <a:off x="7321493" y="5320296"/>
            <a:ext cx="396000" cy="396000"/>
          </a:xfrm>
          <a:prstGeom prst="ellipse">
            <a:avLst/>
          </a:prstGeom>
          <a:solidFill>
            <a:srgbClr val="FF4D0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0C2B0B4-DE7B-0E63-70F7-255FF2EC626C}"/>
              </a:ext>
            </a:extLst>
          </p:cNvPr>
          <p:cNvSpPr>
            <a:spLocks noChangeAspect="1"/>
          </p:cNvSpPr>
          <p:nvPr/>
        </p:nvSpPr>
        <p:spPr>
          <a:xfrm rot="16200000">
            <a:off x="8269575" y="5342980"/>
            <a:ext cx="936208" cy="432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B540ED1-27E2-BA52-BE17-1CF9B96D35C8}"/>
              </a:ext>
            </a:extLst>
          </p:cNvPr>
          <p:cNvCxnSpPr>
            <a:cxnSpLocks/>
          </p:cNvCxnSpPr>
          <p:nvPr/>
        </p:nvCxnSpPr>
        <p:spPr>
          <a:xfrm>
            <a:off x="9158279" y="5583532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212C0AB8-81FE-1EAE-D16B-0BE22220D22F}"/>
              </a:ext>
            </a:extLst>
          </p:cNvPr>
          <p:cNvSpPr>
            <a:spLocks noChangeAspect="1"/>
          </p:cNvSpPr>
          <p:nvPr/>
        </p:nvSpPr>
        <p:spPr>
          <a:xfrm>
            <a:off x="9735653" y="5336184"/>
            <a:ext cx="396000" cy="396000"/>
          </a:xfrm>
          <a:prstGeom prst="ellipse">
            <a:avLst/>
          </a:prstGeom>
          <a:solidFill>
            <a:srgbClr val="FF4D0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2D4F1CD2-CE59-B463-BDCB-9559C2EE559B}"/>
              </a:ext>
            </a:extLst>
          </p:cNvPr>
          <p:cNvSpPr>
            <a:spLocks noChangeAspect="1"/>
          </p:cNvSpPr>
          <p:nvPr/>
        </p:nvSpPr>
        <p:spPr>
          <a:xfrm>
            <a:off x="8610228" y="5645875"/>
            <a:ext cx="252000" cy="252000"/>
          </a:xfrm>
          <a:prstGeom prst="ellipse">
            <a:avLst/>
          </a:prstGeom>
          <a:solidFill>
            <a:srgbClr val="FF4D0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6FBFD5-A39A-F66C-BA1B-285F769A4301}"/>
              </a:ext>
            </a:extLst>
          </p:cNvPr>
          <p:cNvSpPr txBox="1">
            <a:spLocks/>
          </p:cNvSpPr>
          <p:nvPr/>
        </p:nvSpPr>
        <p:spPr>
          <a:xfrm>
            <a:off x="9063053" y="5195509"/>
            <a:ext cx="665651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3796632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380</Words>
  <Application>Microsoft Macintosh PowerPoint</Application>
  <PresentationFormat>Widescreen</PresentationFormat>
  <Paragraphs>77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IBM Plex Sans Light</vt:lpstr>
      <vt:lpstr>Office Theme</vt:lpstr>
      <vt:lpstr>Connecting unbanked &amp; underbanked to stable digital money &amp; global assets</vt:lpstr>
      <vt:lpstr>How does it work?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 Kelly</dc:creator>
  <cp:lastModifiedBy>Gerard Kelly</cp:lastModifiedBy>
  <cp:revision>1</cp:revision>
  <dcterms:created xsi:type="dcterms:W3CDTF">2025-12-10T23:02:40Z</dcterms:created>
  <dcterms:modified xsi:type="dcterms:W3CDTF">2025-12-10T23:08:07Z</dcterms:modified>
</cp:coreProperties>
</file>