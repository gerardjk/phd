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AF9056-EDBE-294F-B8A3-EB0A4171BFFD}">
          <p14:sldIdLst/>
        </p14:section>
        <p14:section name="Untitled Section" id="{70D4A612-1D60-5B42-9631-7E83D0559A24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8F8"/>
    <a:srgbClr val="DBE5F8"/>
    <a:srgbClr val="FF4290"/>
    <a:srgbClr val="FF2F92"/>
    <a:srgbClr val="D883FF"/>
    <a:srgbClr val="941651"/>
    <a:srgbClr val="0432FF"/>
    <a:srgbClr val="FF9300"/>
    <a:srgbClr val="FFD579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15"/>
    <p:restoredTop sz="96322"/>
  </p:normalViewPr>
  <p:slideViewPr>
    <p:cSldViewPr snapToGrid="0">
      <p:cViewPr>
        <p:scale>
          <a:sx n="96" d="100"/>
          <a:sy n="96" d="100"/>
        </p:scale>
        <p:origin x="384" y="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03B4A-326A-CB42-9C14-FA71A20C93FB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CAAAE-D3C5-3C41-89F9-2C79B4AE4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7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CAAAE-D3C5-3C41-89F9-2C79B4AE42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4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79DE-DBAC-2154-C124-6F1699A9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2AC7A-EA3B-30A7-26EF-A3EC91782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FC374-00E2-6F30-8500-18875E7E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6268-E03A-4EA2-3D11-917F1982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0AE0-18A7-6146-9B8D-2C16C214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9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EF17-4C3C-A67C-A5F4-01CA7E01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822C-C868-B478-1631-B1BDE2E9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F4CF2-625E-15D6-E12B-B8DA7F15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FD5DA-4120-37A6-CEB6-7DB44F3B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FCCA-F71C-4E91-864A-808A80B76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31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3C97-5839-E5F5-892A-E40E33A9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304D0-5F23-933E-C103-B96ED334A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B841-B19E-DFB3-5E1B-410AAFF1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870D-6769-AD1D-3F1F-F64A9306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CC89-DFC8-3C55-068E-0C014AB5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1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E0C8-087B-AC14-6A05-175E3A8E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D51C-A4EA-F16C-A0F3-E3742696E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06314-3C36-D58B-28C5-60495E014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F70A-4848-A307-A80A-5CEC5D55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3999C-701C-EC72-44D1-774C901E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4CA3F-0455-2E37-870F-09865325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5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330F-9565-CA0A-1585-5C0FA422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DC1F-F3E0-9114-2B04-DB298D713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DA8FC-59BA-358C-6FCE-690DC710F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0D486-7332-F9F9-20EA-7C0394154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B71B5-09F6-38A4-8579-81EFF6518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34DBC-8CE6-530E-75B3-33BCBBFF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E7D9B-F8BE-86CB-AD9C-8A8AE0DF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30C70-7BBC-EA46-E999-E6C831E1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B663-AFF8-AC42-0A0E-1B55F5EA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BF1DE-5CDA-D448-D933-588EBE0B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F8406-01D4-F390-275E-9062D829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C6A5F-44E5-3FAF-DE1D-EDD3CB04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7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8CB2A-16A7-9765-6936-44897FC2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B4BBD-4E9A-A425-D212-B237D2C2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E02EC-21F8-133F-79A6-2BEBC5FB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5A12-19A7-DC0F-ED5A-800A69A1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E86A6-308D-4720-855B-7B27AA37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C119A-7BD8-6522-9DB9-A5609FCF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99316-64A4-4622-FFCE-647E9FC3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CA8EA-CC3D-8A18-5251-BB84D421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A47F4-F091-C2FC-0D38-2A59BFF71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7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DCA2-F26B-A8A0-6D73-6276A2DB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25B64-DA2F-899B-DD39-9A26668ED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B223E-1868-878D-7CD2-837C096C6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20670-2EF9-98ED-C811-64560F72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31957-447B-7BB7-896F-C72090B5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8822A-EA7E-34EC-E64D-AE33B0CA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0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194C-6ECA-3A7C-7843-74280975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6A37E-0D1E-FB42-8F71-9C22CB224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7040-A9CB-6EFD-2E5E-406AA588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FB61-AC07-8E75-E1CA-67A06BB0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0798-BD16-F55B-3EE1-0EA70309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BAFE8-8A9A-0708-BE44-1A57EC655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00A6F-4E4F-E728-DD3E-6E844F3B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DCE0-0E25-2983-293B-7D9DC573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4C734-D52D-248A-437A-30D4A71B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67349-58D8-C807-40CE-F5D342F1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C5B8A-2BC9-D745-5EDB-B784E2EEF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F67D-1DD1-FE88-3A58-D7E1DD559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1D30-8C92-84A3-CF8F-9946A79E6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0EDC1-A82C-F144-BE7C-E92AC3C1130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BB63-26AB-5E8E-BA19-407A62FD1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A6BD3-9452-0E96-5B83-2E976B81E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F2E5DD-0837-F243-A6F2-FBEF0C04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8000">
              <a:srgbClr val="0070C0">
                <a:lumMod val="70000"/>
                <a:lumOff val="30000"/>
                <a:alpha val="76939"/>
              </a:srgbClr>
            </a:gs>
            <a:gs pos="0">
              <a:srgbClr val="0070C0">
                <a:lumMod val="46410"/>
                <a:lumOff val="53590"/>
                <a:alpha val="60000"/>
              </a:srgbClr>
            </a:gs>
            <a:gs pos="58000">
              <a:srgbClr val="2786CA">
                <a:lumMod val="28000"/>
                <a:lumOff val="72000"/>
                <a:alpha val="38721"/>
              </a:srgbClr>
            </a:gs>
            <a:gs pos="61000">
              <a:srgbClr val="0070C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val 122">
            <a:extLst>
              <a:ext uri="{FF2B5EF4-FFF2-40B4-BE49-F238E27FC236}">
                <a16:creationId xmlns:a16="http://schemas.microsoft.com/office/drawing/2014/main" id="{8FCAB058-1AF4-E24A-84E2-375870DF8F86}"/>
              </a:ext>
            </a:extLst>
          </p:cNvPr>
          <p:cNvSpPr/>
          <p:nvPr/>
        </p:nvSpPr>
        <p:spPr>
          <a:xfrm rot="16200000" flipH="1">
            <a:off x="4965297" y="-433449"/>
            <a:ext cx="2261405" cy="11601450"/>
          </a:xfrm>
          <a:prstGeom prst="ellipse">
            <a:avLst/>
          </a:prstGeom>
          <a:solidFill>
            <a:schemeClr val="accent5">
              <a:lumMod val="20000"/>
              <a:lumOff val="80000"/>
              <a:alpha val="18431"/>
            </a:schemeClr>
          </a:solidFill>
          <a:ln w="34925">
            <a:solidFill>
              <a:srgbClr val="C00000">
                <a:alpha val="6315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59E16B7-4CF2-AEC2-009D-367778FDA0FC}"/>
              </a:ext>
            </a:extLst>
          </p:cNvPr>
          <p:cNvSpPr/>
          <p:nvPr/>
        </p:nvSpPr>
        <p:spPr>
          <a:xfrm rot="16200000" flipH="1">
            <a:off x="5132756" y="310044"/>
            <a:ext cx="1966073" cy="9790820"/>
          </a:xfrm>
          <a:prstGeom prst="ellipse">
            <a:avLst/>
          </a:prstGeom>
          <a:solidFill>
            <a:srgbClr val="00FEFF">
              <a:alpha val="97647"/>
            </a:srgbClr>
          </a:solidFill>
          <a:ln w="12700">
            <a:solidFill>
              <a:schemeClr val="tx1">
                <a:lumMod val="75000"/>
                <a:lumOff val="25000"/>
                <a:alpha val="6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B918F752-8534-113B-3F24-738EAF182B74}"/>
              </a:ext>
            </a:extLst>
          </p:cNvPr>
          <p:cNvSpPr/>
          <p:nvPr/>
        </p:nvSpPr>
        <p:spPr>
          <a:xfrm rot="16200000" flipH="1">
            <a:off x="5317483" y="839185"/>
            <a:ext cx="1669979" cy="8454540"/>
          </a:xfrm>
          <a:prstGeom prst="ellipse">
            <a:avLst/>
          </a:prstGeom>
          <a:solidFill>
            <a:srgbClr val="FFFD78"/>
          </a:solidFill>
          <a:ln w="12700">
            <a:solidFill>
              <a:schemeClr val="accent2">
                <a:lumMod val="50000"/>
                <a:alpha val="59003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92D73E35-685E-87E6-A440-F3B9D6B5AF9C}"/>
              </a:ext>
            </a:extLst>
          </p:cNvPr>
          <p:cNvSpPr/>
          <p:nvPr/>
        </p:nvSpPr>
        <p:spPr>
          <a:xfrm rot="16200000" flipH="1">
            <a:off x="5424653" y="1392526"/>
            <a:ext cx="1382279" cy="6986856"/>
          </a:xfrm>
          <a:prstGeom prst="ellipse">
            <a:avLst/>
          </a:prstGeom>
          <a:solidFill>
            <a:schemeClr val="accent3">
              <a:lumMod val="60000"/>
              <a:lumOff val="40000"/>
              <a:alpha val="81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DF76AF30-F81A-C373-ADB1-B1D8E26F865F}"/>
              </a:ext>
            </a:extLst>
          </p:cNvPr>
          <p:cNvSpPr/>
          <p:nvPr/>
        </p:nvSpPr>
        <p:spPr>
          <a:xfrm rot="16200000" flipH="1">
            <a:off x="5593205" y="1808492"/>
            <a:ext cx="1091841" cy="5875301"/>
          </a:xfrm>
          <a:prstGeom prst="ellipse">
            <a:avLst/>
          </a:prstGeom>
          <a:solidFill>
            <a:srgbClr val="4FAD31"/>
          </a:solidFill>
          <a:ln w="25400">
            <a:solidFill>
              <a:srgbClr val="FFFF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8ADD27-5B48-618F-2C07-19082E07E99D}"/>
              </a:ext>
            </a:extLst>
          </p:cNvPr>
          <p:cNvSpPr/>
          <p:nvPr/>
        </p:nvSpPr>
        <p:spPr>
          <a:xfrm rot="16200000" flipH="1">
            <a:off x="5735293" y="2240749"/>
            <a:ext cx="736783" cy="4700335"/>
          </a:xfrm>
          <a:prstGeom prst="ellipse">
            <a:avLst/>
          </a:prstGeom>
          <a:solidFill>
            <a:schemeClr val="accent3">
              <a:alpha val="81290"/>
            </a:schemeClr>
          </a:solidFill>
          <a:ln w="25400">
            <a:solidFill>
              <a:srgbClr val="FFC000">
                <a:alpha val="5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DFF314C-86B0-919D-E107-B552D1C7AF94}"/>
              </a:ext>
            </a:extLst>
          </p:cNvPr>
          <p:cNvSpPr/>
          <p:nvPr/>
        </p:nvSpPr>
        <p:spPr>
          <a:xfrm rot="-1440000">
            <a:off x="3626191" y="1110593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42093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94DF265-F21B-231A-480C-D448261C738F}"/>
              </a:ext>
            </a:extLst>
          </p:cNvPr>
          <p:cNvSpPr/>
          <p:nvPr/>
        </p:nvSpPr>
        <p:spPr>
          <a:xfrm rot="1380000">
            <a:off x="2804849" y="1054455"/>
            <a:ext cx="5760000" cy="2000022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4CB466-171F-F448-3035-17995A44BDB4}"/>
              </a:ext>
            </a:extLst>
          </p:cNvPr>
          <p:cNvSpPr txBox="1"/>
          <p:nvPr/>
        </p:nvSpPr>
        <p:spPr>
          <a:xfrm>
            <a:off x="1035234" y="255600"/>
            <a:ext cx="2364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40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secured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7C60A8A-9AE6-7F4E-9FEE-1E04F732EF2E}"/>
              </a:ext>
            </a:extLst>
          </p:cNvPr>
          <p:cNvSpPr txBox="1"/>
          <p:nvPr/>
        </p:nvSpPr>
        <p:spPr>
          <a:xfrm>
            <a:off x="9259626" y="255716"/>
            <a:ext cx="4049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yield</a:t>
            </a:r>
          </a:p>
          <a:p>
            <a:endParaRPr lang="en-US" sz="3600" b="1" dirty="0">
              <a:solidFill>
                <a:schemeClr val="accent5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74ED23-B482-794F-6662-19739F9FF729}"/>
              </a:ext>
            </a:extLst>
          </p:cNvPr>
          <p:cNvSpPr txBox="1"/>
          <p:nvPr/>
        </p:nvSpPr>
        <p:spPr>
          <a:xfrm>
            <a:off x="10538916" y="1759992"/>
            <a:ext cx="1554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437FF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token</a:t>
            </a:r>
          </a:p>
          <a:p>
            <a:endParaRPr lang="en-US" sz="3600" b="1" dirty="0">
              <a:solidFill>
                <a:srgbClr val="9437FF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CA36734-8174-2FC7-32F7-63F02911639D}"/>
              </a:ext>
            </a:extLst>
          </p:cNvPr>
          <p:cNvSpPr/>
          <p:nvPr/>
        </p:nvSpPr>
        <p:spPr>
          <a:xfrm rot="16200000" flipH="1">
            <a:off x="5855300" y="3877488"/>
            <a:ext cx="641842" cy="839872"/>
          </a:xfrm>
          <a:prstGeom prst="ellipse">
            <a:avLst/>
          </a:prstGeom>
          <a:solidFill>
            <a:srgbClr val="941651">
              <a:alpha val="58336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EFD4882-3974-1523-39D6-88C0EB5CC35C}"/>
              </a:ext>
            </a:extLst>
          </p:cNvPr>
          <p:cNvSpPr txBox="1"/>
          <p:nvPr/>
        </p:nvSpPr>
        <p:spPr>
          <a:xfrm>
            <a:off x="691755" y="1699772"/>
            <a:ext cx="986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2F92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par</a:t>
            </a:r>
          </a:p>
          <a:p>
            <a:endParaRPr lang="en-US" sz="2800" b="1" dirty="0">
              <a:solidFill>
                <a:srgbClr val="FF2F92"/>
              </a:solidFill>
              <a:latin typeface="Malayalam MN" pitchFamily="2" charset="0"/>
              <a:ea typeface="ADLaM Display" panose="02010000000000000000" pitchFamily="2" charset="77"/>
              <a:cs typeface="Malayalam MN" pitchFamily="2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F6D288D-B28E-A091-2D5B-6227FDBDE57A}"/>
              </a:ext>
            </a:extLst>
          </p:cNvPr>
          <p:cNvSpPr/>
          <p:nvPr/>
        </p:nvSpPr>
        <p:spPr>
          <a:xfrm rot="-660000">
            <a:off x="4684220" y="1824095"/>
            <a:ext cx="5760000" cy="1998000"/>
          </a:xfrm>
          <a:prstGeom prst="ellipse">
            <a:avLst/>
          </a:prstGeom>
          <a:solidFill>
            <a:srgbClr val="FFFFFF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84E8880-9A28-F0C2-54ED-43A43E1F9FD0}"/>
              </a:ext>
            </a:extLst>
          </p:cNvPr>
          <p:cNvSpPr/>
          <p:nvPr/>
        </p:nvSpPr>
        <p:spPr>
          <a:xfrm rot="660000">
            <a:off x="1714355" y="1811793"/>
            <a:ext cx="5760000" cy="1998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2F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3565A1-4DF5-C890-7532-5DC1F9B1354A}"/>
              </a:ext>
            </a:extLst>
          </p:cNvPr>
          <p:cNvSpPr txBox="1"/>
          <p:nvPr/>
        </p:nvSpPr>
        <p:spPr>
          <a:xfrm>
            <a:off x="5851149" y="2108159"/>
            <a:ext cx="569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accent5">
                    <a:lumMod val="50000"/>
                  </a:schemeClr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?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64AF6621-C7DD-B707-8009-62A5B117B673}"/>
              </a:ext>
            </a:extLst>
          </p:cNvPr>
          <p:cNvSpPr/>
          <p:nvPr/>
        </p:nvSpPr>
        <p:spPr>
          <a:xfrm rot="-1380000">
            <a:off x="3633174" y="1093698"/>
            <a:ext cx="5760000" cy="1998000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2FCC85AB-8EBA-5570-0069-21ED20F5B877}"/>
              </a:ext>
            </a:extLst>
          </p:cNvPr>
          <p:cNvSpPr/>
          <p:nvPr/>
        </p:nvSpPr>
        <p:spPr>
          <a:xfrm rot="1380000">
            <a:off x="2806259" y="1038213"/>
            <a:ext cx="5760000" cy="1999700"/>
          </a:xfrm>
          <a:prstGeom prst="ellipse">
            <a:avLst/>
          </a:prstGeom>
          <a:noFill/>
          <a:ln w="38100">
            <a:solidFill>
              <a:srgbClr val="FF4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8AD8"/>
              </a:solidFill>
            </a:endParaRPr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E7F0BD3E-8094-845D-A435-100EA67733CA}"/>
              </a:ext>
            </a:extLst>
          </p:cNvPr>
          <p:cNvSpPr/>
          <p:nvPr/>
        </p:nvSpPr>
        <p:spPr>
          <a:xfrm rot="-660000">
            <a:off x="4698888" y="1810239"/>
            <a:ext cx="5760000" cy="1998000"/>
          </a:xfrm>
          <a:prstGeom prst="ellipse">
            <a:avLst/>
          </a:prstGeom>
          <a:noFill/>
          <a:ln w="38100">
            <a:solidFill>
              <a:srgbClr val="943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883FF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603ADB6-A619-1A0D-6752-CB2A4CF42FE6}"/>
              </a:ext>
            </a:extLst>
          </p:cNvPr>
          <p:cNvSpPr txBox="1"/>
          <p:nvPr/>
        </p:nvSpPr>
        <p:spPr>
          <a:xfrm>
            <a:off x="2850165" y="2273760"/>
            <a:ext cx="11955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tax credit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6478516-A8E4-3AD4-9B5A-8D8471F787A8}"/>
              </a:ext>
            </a:extLst>
          </p:cNvPr>
          <p:cNvSpPr txBox="1"/>
          <p:nvPr/>
        </p:nvSpPr>
        <p:spPr>
          <a:xfrm>
            <a:off x="8362446" y="2275638"/>
            <a:ext cx="960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Work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31D9D12-36D3-D3C8-DD50-2AE7910990C0}"/>
              </a:ext>
            </a:extLst>
          </p:cNvPr>
          <p:cNvSpPr txBox="1"/>
          <p:nvPr/>
        </p:nvSpPr>
        <p:spPr>
          <a:xfrm>
            <a:off x="7419545" y="1740116"/>
            <a:ext cx="1414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Proof of 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Stake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E0CD713-A2E6-29B8-C90F-A08366834757}"/>
              </a:ext>
            </a:extLst>
          </p:cNvPr>
          <p:cNvSpPr txBox="1"/>
          <p:nvPr/>
        </p:nvSpPr>
        <p:spPr>
          <a:xfrm>
            <a:off x="5849575" y="3403194"/>
            <a:ext cx="572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cash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4D46C6B-9C42-0EE8-09F9-9609BB32E5E5}"/>
              </a:ext>
            </a:extLst>
          </p:cNvPr>
          <p:cNvSpPr txBox="1"/>
          <p:nvPr/>
        </p:nvSpPr>
        <p:spPr>
          <a:xfrm>
            <a:off x="4566821" y="1292400"/>
            <a:ext cx="69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gold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CA207E6-8FFC-9895-B8FC-B748E74C6944}"/>
              </a:ext>
            </a:extLst>
          </p:cNvPr>
          <p:cNvSpPr txBox="1"/>
          <p:nvPr/>
        </p:nvSpPr>
        <p:spPr>
          <a:xfrm>
            <a:off x="3953337" y="2775230"/>
            <a:ext cx="1035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deposit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3E2720B-ECB6-A255-D77A-57D49666B205}"/>
              </a:ext>
            </a:extLst>
          </p:cNvPr>
          <p:cNvSpPr txBox="1"/>
          <p:nvPr/>
        </p:nvSpPr>
        <p:spPr>
          <a:xfrm>
            <a:off x="3685158" y="1786153"/>
            <a:ext cx="2001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e-money         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420E2F9-7716-2268-5692-88D8A91F6527}"/>
              </a:ext>
            </a:extLst>
          </p:cNvPr>
          <p:cNvSpPr txBox="1"/>
          <p:nvPr/>
        </p:nvSpPr>
        <p:spPr>
          <a:xfrm>
            <a:off x="7064419" y="1293658"/>
            <a:ext cx="207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equity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488080E-3BE1-4B3D-323A-262DA0EC8E49}"/>
              </a:ext>
            </a:extLst>
          </p:cNvPr>
          <p:cNvSpPr txBox="1"/>
          <p:nvPr/>
        </p:nvSpPr>
        <p:spPr>
          <a:xfrm>
            <a:off x="7166378" y="2742414"/>
            <a:ext cx="1256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commodity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token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AB8B3CF-F9D0-014A-2794-A989D3E242D3}"/>
              </a:ext>
            </a:extLst>
          </p:cNvPr>
          <p:cNvSpPr txBox="1"/>
          <p:nvPr/>
        </p:nvSpPr>
        <p:spPr>
          <a:xfrm>
            <a:off x="4603657" y="3107067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wCBDC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FD534AC-2212-D61A-4166-ED8EC70A8CA1}"/>
              </a:ext>
            </a:extLst>
          </p:cNvPr>
          <p:cNvSpPr txBox="1"/>
          <p:nvPr/>
        </p:nvSpPr>
        <p:spPr>
          <a:xfrm>
            <a:off x="5859012" y="-47450"/>
            <a:ext cx="636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CDE8F8"/>
                </a:solidFill>
                <a:latin typeface="Malayalam MN" pitchFamily="2" charset="0"/>
                <a:ea typeface="ADLaM Display" panose="02010000000000000000" pitchFamily="2" charset="77"/>
                <a:cs typeface="Malayalam MN" pitchFamily="2" charset="0"/>
              </a:rPr>
              <a:t>$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C63890E-CD3D-87B0-BEA2-12FECB38A28F}"/>
              </a:ext>
            </a:extLst>
          </p:cNvPr>
          <p:cNvSpPr txBox="1"/>
          <p:nvPr/>
        </p:nvSpPr>
        <p:spPr>
          <a:xfrm>
            <a:off x="4478331" y="2140019"/>
            <a:ext cx="20019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reverse repo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40E7A53-96EC-95AA-D935-B9F29A89E8E7}"/>
              </a:ext>
            </a:extLst>
          </p:cNvPr>
          <p:cNvSpPr txBox="1"/>
          <p:nvPr/>
        </p:nvSpPr>
        <p:spPr>
          <a:xfrm>
            <a:off x="6300628" y="3108442"/>
            <a:ext cx="1256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stablecoin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02D6A26-5B1E-72DB-ED91-2B3F169FDADD}"/>
              </a:ext>
            </a:extLst>
          </p:cNvPr>
          <p:cNvSpPr txBox="1"/>
          <p:nvPr/>
        </p:nvSpPr>
        <p:spPr>
          <a:xfrm>
            <a:off x="5400147" y="1438162"/>
            <a:ext cx="1459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asset-backed security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F16AFE1-CF97-DAEA-BDD3-27D8A33B4232}"/>
              </a:ext>
            </a:extLst>
          </p:cNvPr>
          <p:cNvSpPr txBox="1"/>
          <p:nvPr/>
        </p:nvSpPr>
        <p:spPr>
          <a:xfrm>
            <a:off x="5869502" y="4257192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7E79"/>
                </a:solidFill>
                <a:latin typeface="Malayalam MN" pitchFamily="2" charset="0"/>
                <a:cs typeface="Malayalam MN" pitchFamily="2" charset="0"/>
              </a:rPr>
              <a:t>M0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F2CBECD-1CEA-FE3B-E0B2-5EA82EEAC739}"/>
              </a:ext>
            </a:extLst>
          </p:cNvPr>
          <p:cNvSpPr txBox="1"/>
          <p:nvPr/>
        </p:nvSpPr>
        <p:spPr>
          <a:xfrm>
            <a:off x="5883357" y="4612818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C000"/>
                </a:solidFill>
                <a:latin typeface="Malayalam MN" pitchFamily="2" charset="0"/>
                <a:cs typeface="Malayalam MN" pitchFamily="2" charset="0"/>
              </a:rPr>
              <a:t>M1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931F8D1-4C28-9455-4C60-26270DFCB027}"/>
              </a:ext>
            </a:extLst>
          </p:cNvPr>
          <p:cNvSpPr txBox="1"/>
          <p:nvPr/>
        </p:nvSpPr>
        <p:spPr>
          <a:xfrm>
            <a:off x="5873230" y="4956198"/>
            <a:ext cx="586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00"/>
                </a:solidFill>
                <a:latin typeface="Malayalam MN" pitchFamily="2" charset="0"/>
                <a:cs typeface="Malayalam MN" pitchFamily="2" charset="0"/>
              </a:rPr>
              <a:t>M3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0717F84-DEAD-75A1-9C0D-CF140DF16054}"/>
              </a:ext>
            </a:extLst>
          </p:cNvPr>
          <p:cNvSpPr txBox="1"/>
          <p:nvPr/>
        </p:nvSpPr>
        <p:spPr>
          <a:xfrm>
            <a:off x="5531089" y="5290896"/>
            <a:ext cx="1257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alayalam MN" pitchFamily="2" charset="0"/>
                <a:cs typeface="Malayalam MN" pitchFamily="2" charset="0"/>
              </a:rPr>
              <a:t>broad money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AB822BA-EB11-5ADB-DAA9-918B3EA8F5E7}"/>
              </a:ext>
            </a:extLst>
          </p:cNvPr>
          <p:cNvSpPr txBox="1"/>
          <p:nvPr/>
        </p:nvSpPr>
        <p:spPr>
          <a:xfrm>
            <a:off x="6268350" y="1890937"/>
            <a:ext cx="1807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  </a:t>
            </a:r>
          </a:p>
          <a:p>
            <a:pPr algn="ctr"/>
            <a:r>
              <a:rPr lang="en-US" sz="1350" b="1" dirty="0">
                <a:solidFill>
                  <a:schemeClr val="accent3"/>
                </a:solidFill>
                <a:latin typeface="Malayalam MN" pitchFamily="2" charset="0"/>
                <a:cs typeface="Malayalam MN" pitchFamily="2" charset="0"/>
              </a:rPr>
              <a:t>security token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EE2BECF-1650-1B33-44A6-931A8256D1B9}"/>
              </a:ext>
            </a:extLst>
          </p:cNvPr>
          <p:cNvSpPr txBox="1"/>
          <p:nvPr/>
        </p:nvSpPr>
        <p:spPr>
          <a:xfrm>
            <a:off x="5034016" y="5574148"/>
            <a:ext cx="22576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941651"/>
                </a:solidFill>
                <a:latin typeface="Malayalam MN" pitchFamily="2" charset="0"/>
                <a:cs typeface="Malayalam MN" pitchFamily="2" charset="0"/>
              </a:rPr>
              <a:t>repo &amp; money market funds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7C42048-942B-1239-8FCA-5F8527E37D42}"/>
              </a:ext>
            </a:extLst>
          </p:cNvPr>
          <p:cNvSpPr txBox="1"/>
          <p:nvPr/>
        </p:nvSpPr>
        <p:spPr>
          <a:xfrm>
            <a:off x="5000770" y="5898557"/>
            <a:ext cx="2318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alayalam MN" pitchFamily="2" charset="0"/>
                <a:cs typeface="Malayalam MN" pitchFamily="2" charset="0"/>
              </a:rPr>
              <a:t>eligible collateral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9A973DB-576C-8481-4B2D-D4C02B8D0A7D}"/>
              </a:ext>
            </a:extLst>
          </p:cNvPr>
          <p:cNvSpPr txBox="1"/>
          <p:nvPr/>
        </p:nvSpPr>
        <p:spPr>
          <a:xfrm>
            <a:off x="5017206" y="6176208"/>
            <a:ext cx="2318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C00000"/>
                </a:solidFill>
                <a:latin typeface="Malayalam MN" pitchFamily="2" charset="0"/>
                <a:cs typeface="Malayalam MN" pitchFamily="2" charset="0"/>
              </a:rPr>
              <a:t>“REAL WORLD ASSETS”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8F502B6-1085-165E-6659-54A5FA645ED1}"/>
              </a:ext>
            </a:extLst>
          </p:cNvPr>
          <p:cNvSpPr txBox="1"/>
          <p:nvPr/>
        </p:nvSpPr>
        <p:spPr>
          <a:xfrm>
            <a:off x="5628345" y="6505735"/>
            <a:ext cx="1048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Malayalam MN" pitchFamily="2" charset="0"/>
                <a:cs typeface="Malayalam MN" pitchFamily="2" charset="0"/>
              </a:rPr>
              <a:t>derivatives</a:t>
            </a:r>
          </a:p>
        </p:txBody>
      </p:sp>
    </p:spTree>
    <p:extLst>
      <p:ext uri="{BB962C8B-B14F-4D97-AF65-F5344CB8AC3E}">
        <p14:creationId xmlns:p14="http://schemas.microsoft.com/office/powerpoint/2010/main" val="751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1988</TotalTime>
  <Words>50</Words>
  <Application>Microsoft Macintosh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Malayalam MN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 Kelly</dc:creator>
  <cp:lastModifiedBy>Gerard Kelly</cp:lastModifiedBy>
  <cp:revision>23</cp:revision>
  <dcterms:created xsi:type="dcterms:W3CDTF">2025-12-04T12:38:45Z</dcterms:created>
  <dcterms:modified xsi:type="dcterms:W3CDTF">2025-12-06T22:50:11Z</dcterms:modified>
</cp:coreProperties>
</file>