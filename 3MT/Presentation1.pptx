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AF9056-EDBE-294F-B8A3-EB0A4171BFFD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70D4A612-1D60-5B42-9631-7E83D0559A24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FF7E79"/>
    <a:srgbClr val="4FAD31"/>
    <a:srgbClr val="00FEFF"/>
    <a:srgbClr val="73FDD6"/>
    <a:srgbClr val="00FA00"/>
    <a:srgbClr val="FFFD78"/>
    <a:srgbClr val="00FDFF"/>
    <a:srgbClr val="73FB79"/>
    <a:srgbClr val="941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95"/>
    <p:restoredTop sz="96185"/>
  </p:normalViewPr>
  <p:slideViewPr>
    <p:cSldViewPr snapToGrid="0">
      <p:cViewPr>
        <p:scale>
          <a:sx n="92" d="100"/>
          <a:sy n="92" d="100"/>
        </p:scale>
        <p:origin x="240" y="8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03B4A-326A-CB42-9C14-FA71A20C93F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CAAAE-D3C5-3C41-89F9-2C79B4AE4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81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76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4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79DE-DBAC-2154-C124-6F1699A9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2AC7A-EA3B-30A7-26EF-A3EC91782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C374-00E2-6F30-8500-18875E7E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6268-E03A-4EA2-3D11-917F1982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0AE0-18A7-6146-9B8D-2C16C214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9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EF17-4C3C-A67C-A5F4-01CA7E01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822C-C868-B478-1631-B1BDE2E9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F4CF2-625E-15D6-E12B-B8DA7F15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FD5DA-4120-37A6-CEB6-7DB44F3B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FCCA-F71C-4E91-864A-808A80B7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3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3C97-5839-E5F5-892A-E40E33A9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304D0-5F23-933E-C103-B96ED334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B841-B19E-DFB3-5E1B-410AAFF1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870D-6769-AD1D-3F1F-F64A9306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CC89-DFC8-3C55-068E-0C014AB5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1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E0C8-087B-AC14-6A05-175E3A8E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D51C-A4EA-F16C-A0F3-E3742696E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06314-3C36-D58B-28C5-60495E014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F70A-4848-A307-A80A-5CEC5D55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3999C-701C-EC72-44D1-774C901E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4CA3F-0455-2E37-870F-09865325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5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330F-9565-CA0A-1585-5C0FA422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DC1F-F3E0-9114-2B04-DB298D713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DA8FC-59BA-358C-6FCE-690DC710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0D486-7332-F9F9-20EA-7C0394154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B71B5-09F6-38A4-8579-81EFF6518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34DBC-8CE6-530E-75B3-33BCBBFF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E7D9B-F8BE-86CB-AD9C-8A8AE0DF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30C70-7BBC-EA46-E999-E6C831E1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B663-AFF8-AC42-0A0E-1B55F5EA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BF1DE-5CDA-D448-D933-588EBE0B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F8406-01D4-F390-275E-9062D829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C6A5F-44E5-3FAF-DE1D-EDD3CB04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7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8CB2A-16A7-9765-6936-44897FC2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B4BBD-4E9A-A425-D212-B237D2C2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E02EC-21F8-133F-79A6-2BEBC5FB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5A12-19A7-DC0F-ED5A-800A69A1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86A6-308D-4720-855B-7B27AA37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C119A-7BD8-6522-9DB9-A5609FCF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99316-64A4-4622-FFCE-647E9FC3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CA8EA-CC3D-8A18-5251-BB84D421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47F4-F091-C2FC-0D38-2A59BFF7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DCA2-F26B-A8A0-6D73-6276A2DB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25B64-DA2F-899B-DD39-9A26668ED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B223E-1868-878D-7CD2-837C096C6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20670-2EF9-98ED-C811-64560F7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31957-447B-7BB7-896F-C72090B5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8822A-EA7E-34EC-E64D-AE33B0CA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0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194C-6ECA-3A7C-7843-74280975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6A37E-0D1E-FB42-8F71-9C22CB224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7040-A9CB-6EFD-2E5E-406AA588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FB61-AC07-8E75-E1CA-67A06BB0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0798-BD16-F55B-3EE1-0EA70309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BAFE8-8A9A-0708-BE44-1A57EC655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00A6F-4E4F-E728-DD3E-6E844F3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DCE0-0E25-2983-293B-7D9DC573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4C734-D52D-248A-437A-30D4A71B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7349-58D8-C807-40CE-F5D342F1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C5B8A-2BC9-D745-5EDB-B784E2EE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F67D-1DD1-FE88-3A58-D7E1DD55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1D30-8C92-84A3-CF8F-9946A79E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BB63-26AB-5E8E-BA19-407A62FD1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A6BD3-9452-0E96-5B83-2E976B81E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C936ED-AFF0-7314-02AC-EE5EC0800C03}"/>
              </a:ext>
            </a:extLst>
          </p:cNvPr>
          <p:cNvSpPr/>
          <p:nvPr/>
        </p:nvSpPr>
        <p:spPr>
          <a:xfrm rot="2791228">
            <a:off x="9687156" y="4570422"/>
            <a:ext cx="2292423" cy="1037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B26EA7-F74C-8B1E-F983-52C6D84FDA33}"/>
              </a:ext>
            </a:extLst>
          </p:cNvPr>
          <p:cNvSpPr/>
          <p:nvPr/>
        </p:nvSpPr>
        <p:spPr>
          <a:xfrm rot="18978761">
            <a:off x="8187296" y="2585889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1D2DCF-1829-37AF-10DD-ABF779429FD9}"/>
              </a:ext>
            </a:extLst>
          </p:cNvPr>
          <p:cNvSpPr/>
          <p:nvPr/>
        </p:nvSpPr>
        <p:spPr>
          <a:xfrm>
            <a:off x="8289173" y="4819250"/>
            <a:ext cx="2276759" cy="10295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34FA60-EC97-B882-2C6C-9AFCF6930863}"/>
              </a:ext>
            </a:extLst>
          </p:cNvPr>
          <p:cNvSpPr/>
          <p:nvPr/>
        </p:nvSpPr>
        <p:spPr>
          <a:xfrm rot="5400000">
            <a:off x="8248757" y="4865293"/>
            <a:ext cx="2272100" cy="1037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E033BB-F433-FACA-A9B3-FB2CDC5C20B7}"/>
              </a:ext>
            </a:extLst>
          </p:cNvPr>
          <p:cNvSpPr/>
          <p:nvPr/>
        </p:nvSpPr>
        <p:spPr>
          <a:xfrm rot="16200000">
            <a:off x="9691522" y="10226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DA2D8D-9E38-3F73-C9A4-5B187EA1F07C}"/>
              </a:ext>
            </a:extLst>
          </p:cNvPr>
          <p:cNvSpPr/>
          <p:nvPr/>
        </p:nvSpPr>
        <p:spPr>
          <a:xfrm rot="13575291">
            <a:off x="8211735" y="2585888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256FFD-5BE7-AEB0-C504-0C76D88EFA59}"/>
              </a:ext>
            </a:extLst>
          </p:cNvPr>
          <p:cNvSpPr/>
          <p:nvPr/>
        </p:nvSpPr>
        <p:spPr>
          <a:xfrm>
            <a:off x="8250807" y="2650292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70518CD-DD7D-08E6-8D55-0214A1E7C237}"/>
              </a:ext>
            </a:extLst>
          </p:cNvPr>
          <p:cNvSpPr/>
          <p:nvPr/>
        </p:nvSpPr>
        <p:spPr>
          <a:xfrm rot="16196530">
            <a:off x="8275246" y="2650291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CB6BB7-DA14-6F59-0138-BFE17820BFFB}"/>
              </a:ext>
            </a:extLst>
          </p:cNvPr>
          <p:cNvSpPr/>
          <p:nvPr/>
        </p:nvSpPr>
        <p:spPr>
          <a:xfrm rot="16200000">
            <a:off x="9691522" y="465808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492A7CB-7386-F46E-D83A-850E5D2E8883}"/>
              </a:ext>
            </a:extLst>
          </p:cNvPr>
          <p:cNvSpPr/>
          <p:nvPr/>
        </p:nvSpPr>
        <p:spPr>
          <a:xfrm>
            <a:off x="9532481" y="39967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B4C0E1-BFE4-3462-53ED-420862671937}"/>
              </a:ext>
            </a:extLst>
          </p:cNvPr>
          <p:cNvSpPr/>
          <p:nvPr/>
        </p:nvSpPr>
        <p:spPr>
          <a:xfrm>
            <a:off x="9898135" y="39967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CDF5B7-18CB-568D-0D3B-056F269D75A6}"/>
              </a:ext>
            </a:extLst>
          </p:cNvPr>
          <p:cNvSpPr/>
          <p:nvPr/>
        </p:nvSpPr>
        <p:spPr>
          <a:xfrm rot="18037583">
            <a:off x="9276086" y="1295291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368DEF-2CAF-2415-D8B9-DDBE008A5A2A}"/>
              </a:ext>
            </a:extLst>
          </p:cNvPr>
          <p:cNvSpPr/>
          <p:nvPr/>
        </p:nvSpPr>
        <p:spPr>
          <a:xfrm rot="13968713">
            <a:off x="9276087" y="410089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581E0CA-2891-5B42-E0E9-468E310C8978}"/>
              </a:ext>
            </a:extLst>
          </p:cNvPr>
          <p:cNvSpPr/>
          <p:nvPr/>
        </p:nvSpPr>
        <p:spPr>
          <a:xfrm>
            <a:off x="7070003" y="1412818"/>
            <a:ext cx="1311253" cy="21837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41890C-5AAF-5402-AAEA-D77C155D83B5}"/>
              </a:ext>
            </a:extLst>
          </p:cNvPr>
          <p:cNvSpPr/>
          <p:nvPr/>
        </p:nvSpPr>
        <p:spPr>
          <a:xfrm rot="3605433">
            <a:off x="4673483" y="1860494"/>
            <a:ext cx="1156036" cy="214318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5BCB47-7A9A-C476-A90E-0C3CB94E0A10}"/>
              </a:ext>
            </a:extLst>
          </p:cNvPr>
          <p:cNvSpPr/>
          <p:nvPr/>
        </p:nvSpPr>
        <p:spPr>
          <a:xfrm rot="1039651">
            <a:off x="1342970" y="1410699"/>
            <a:ext cx="1156036" cy="22211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7F8FBE-38AE-6BFC-7B8C-3D546D9DC158}"/>
              </a:ext>
            </a:extLst>
          </p:cNvPr>
          <p:cNvSpPr/>
          <p:nvPr/>
        </p:nvSpPr>
        <p:spPr>
          <a:xfrm>
            <a:off x="7062204" y="523908"/>
            <a:ext cx="1311253" cy="21837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5A7E8D-95FB-05E9-B356-1E14A18283EE}"/>
              </a:ext>
            </a:extLst>
          </p:cNvPr>
          <p:cNvSpPr/>
          <p:nvPr/>
        </p:nvSpPr>
        <p:spPr>
          <a:xfrm rot="5400000">
            <a:off x="4158173" y="2008578"/>
            <a:ext cx="1156036" cy="2143186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EB6C20-D94A-28A4-4198-29FF78450ADD}"/>
              </a:ext>
            </a:extLst>
          </p:cNvPr>
          <p:cNvSpPr/>
          <p:nvPr/>
        </p:nvSpPr>
        <p:spPr>
          <a:xfrm rot="16200000">
            <a:off x="8543193" y="3374929"/>
            <a:ext cx="1156036" cy="2221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B4F50D-D5D7-C039-4239-A1A2B0B84A9F}"/>
              </a:ext>
            </a:extLst>
          </p:cNvPr>
          <p:cNvSpPr/>
          <p:nvPr/>
        </p:nvSpPr>
        <p:spPr>
          <a:xfrm rot="17917353">
            <a:off x="3735776" y="1860495"/>
            <a:ext cx="1156036" cy="214318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4044F1-074B-18FE-B5A8-87A55E2D6805}"/>
              </a:ext>
            </a:extLst>
          </p:cNvPr>
          <p:cNvSpPr/>
          <p:nvPr/>
        </p:nvSpPr>
        <p:spPr>
          <a:xfrm rot="10800000">
            <a:off x="7633296" y="611934"/>
            <a:ext cx="1156036" cy="2221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5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F10230D-2330-0335-49E8-078B6804EE16}"/>
              </a:ext>
            </a:extLst>
          </p:cNvPr>
          <p:cNvSpPr/>
          <p:nvPr/>
        </p:nvSpPr>
        <p:spPr>
          <a:xfrm rot="1523501">
            <a:off x="506449" y="2587964"/>
            <a:ext cx="2514133" cy="1450933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3F958C-2F5C-906F-5F3E-BFBA102E63C9}"/>
              </a:ext>
            </a:extLst>
          </p:cNvPr>
          <p:cNvSpPr/>
          <p:nvPr/>
        </p:nvSpPr>
        <p:spPr>
          <a:xfrm rot="8327992">
            <a:off x="1097515" y="1999711"/>
            <a:ext cx="1159091" cy="2017868"/>
          </a:xfrm>
          <a:prstGeom prst="ellips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1503D4-27EE-046E-FA5F-C942B60784E0}"/>
              </a:ext>
            </a:extLst>
          </p:cNvPr>
          <p:cNvSpPr/>
          <p:nvPr/>
        </p:nvSpPr>
        <p:spPr>
          <a:xfrm rot="19084968">
            <a:off x="1827715" y="2471998"/>
            <a:ext cx="1967514" cy="1188928"/>
          </a:xfrm>
          <a:prstGeom prst="ellipse">
            <a:avLst/>
          </a:prstGeom>
          <a:solidFill>
            <a:srgbClr val="00B05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8B2218-7E4B-41B6-CC85-191B9D6EA719}"/>
              </a:ext>
            </a:extLst>
          </p:cNvPr>
          <p:cNvSpPr/>
          <p:nvPr/>
        </p:nvSpPr>
        <p:spPr>
          <a:xfrm rot="20226049">
            <a:off x="1464881" y="2752841"/>
            <a:ext cx="2469083" cy="1267274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7DCD26-801B-B863-FE42-A399685BFF9C}"/>
              </a:ext>
            </a:extLst>
          </p:cNvPr>
          <p:cNvSpPr/>
          <p:nvPr/>
        </p:nvSpPr>
        <p:spPr>
          <a:xfrm rot="10800000">
            <a:off x="10471442" y="315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7B4CC-3DBE-527A-1DF4-B379956E433E}"/>
              </a:ext>
            </a:extLst>
          </p:cNvPr>
          <p:cNvSpPr/>
          <p:nvPr/>
        </p:nvSpPr>
        <p:spPr>
          <a:xfrm>
            <a:off x="10471442" y="261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8A4F2-0C80-A6AC-2EA8-80D3DABC7804}"/>
              </a:ext>
            </a:extLst>
          </p:cNvPr>
          <p:cNvSpPr/>
          <p:nvPr/>
        </p:nvSpPr>
        <p:spPr>
          <a:xfrm rot="5400000">
            <a:off x="10471442" y="261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B19E25-8C21-0E5E-D790-FFE41961287E}"/>
              </a:ext>
            </a:extLst>
          </p:cNvPr>
          <p:cNvSpPr>
            <a:spLocks/>
          </p:cNvSpPr>
          <p:nvPr/>
        </p:nvSpPr>
        <p:spPr>
          <a:xfrm rot="10800000">
            <a:off x="10456105" y="2085841"/>
            <a:ext cx="846386" cy="2159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C4398A-2186-D1E3-8B76-A8A46EEFA909}"/>
              </a:ext>
            </a:extLst>
          </p:cNvPr>
          <p:cNvSpPr/>
          <p:nvPr/>
        </p:nvSpPr>
        <p:spPr>
          <a:xfrm>
            <a:off x="10471442" y="3423221"/>
            <a:ext cx="2160000" cy="810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CCE836-0B41-BD56-49EA-3195D9F70779}"/>
              </a:ext>
            </a:extLst>
          </p:cNvPr>
          <p:cNvSpPr/>
          <p:nvPr/>
        </p:nvSpPr>
        <p:spPr>
          <a:xfrm>
            <a:off x="6565726" y="5058462"/>
            <a:ext cx="1222440" cy="713015"/>
          </a:xfrm>
          <a:prstGeom prst="rect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97CA45-FB57-9382-DFEC-9A121C85C6EE}"/>
              </a:ext>
            </a:extLst>
          </p:cNvPr>
          <p:cNvSpPr/>
          <p:nvPr/>
        </p:nvSpPr>
        <p:spPr>
          <a:xfrm rot="5400000">
            <a:off x="3223174" y="5238000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2DF9E8-44FB-E2B7-E51D-E45B44C199D8}"/>
              </a:ext>
            </a:extLst>
          </p:cNvPr>
          <p:cNvSpPr/>
          <p:nvPr/>
        </p:nvSpPr>
        <p:spPr>
          <a:xfrm rot="10800000">
            <a:off x="4164202" y="3307782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EFDB76-84A4-B0C2-45A6-AA141024F650}"/>
              </a:ext>
            </a:extLst>
          </p:cNvPr>
          <p:cNvSpPr/>
          <p:nvPr/>
        </p:nvSpPr>
        <p:spPr>
          <a:xfrm rot="10800000">
            <a:off x="9097646" y="4233650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5EE6D7-8C5D-CF9D-7129-8CC55F2A105A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>
            <a:off x="5244202" y="4387782"/>
            <a:ext cx="3853444" cy="385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2B3D0F-E8AD-40A3-E719-2310FE05C66A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5244202" y="3876480"/>
            <a:ext cx="520484" cy="51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 descr="A blue line on a black background&#10;&#10;Description automatically generated">
            <a:extLst>
              <a:ext uri="{FF2B5EF4-FFF2-40B4-BE49-F238E27FC236}">
                <a16:creationId xmlns:a16="http://schemas.microsoft.com/office/drawing/2014/main" id="{1D7E4F54-E399-6EE9-1FD6-4AB3BDB4F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06292">
            <a:off x="6781580" y="3678661"/>
            <a:ext cx="2540954" cy="2526266"/>
          </a:xfrm>
          <a:prstGeom prst="rect">
            <a:avLst/>
          </a:prstGeom>
        </p:spPr>
      </p:pic>
      <p:pic>
        <p:nvPicPr>
          <p:cNvPr id="96" name="Picture 95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01EB7BD2-3A82-DA57-47A5-F6D1D392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73686">
            <a:off x="5818630" y="729362"/>
            <a:ext cx="2456028" cy="2456028"/>
          </a:xfrm>
          <a:prstGeom prst="rect">
            <a:avLst/>
          </a:prstGeom>
        </p:spPr>
      </p:pic>
      <p:sp>
        <p:nvSpPr>
          <p:cNvPr id="101" name="Oval 100">
            <a:extLst>
              <a:ext uri="{FF2B5EF4-FFF2-40B4-BE49-F238E27FC236}">
                <a16:creationId xmlns:a16="http://schemas.microsoft.com/office/drawing/2014/main" id="{2930D422-7A50-B9F3-BA85-3FD382C04307}"/>
              </a:ext>
            </a:extLst>
          </p:cNvPr>
          <p:cNvSpPr/>
          <p:nvPr/>
        </p:nvSpPr>
        <p:spPr>
          <a:xfrm rot="17948943">
            <a:off x="2292930" y="443704"/>
            <a:ext cx="1470097" cy="15966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2BA781F-7133-E82C-419D-487907E91007}"/>
              </a:ext>
            </a:extLst>
          </p:cNvPr>
          <p:cNvSpPr/>
          <p:nvPr/>
        </p:nvSpPr>
        <p:spPr>
          <a:xfrm rot="10800000" flipV="1">
            <a:off x="1905120" y="3876480"/>
            <a:ext cx="330080" cy="263791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A4DAA6E-34D1-4D5C-300A-61461A15E6B5}"/>
              </a:ext>
            </a:extLst>
          </p:cNvPr>
          <p:cNvSpPr/>
          <p:nvPr/>
        </p:nvSpPr>
        <p:spPr>
          <a:xfrm rot="14968034" flipV="1">
            <a:off x="1687380" y="639997"/>
            <a:ext cx="1407176" cy="143064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9017FE4-D8E6-BC6B-74B3-D3E96075D949}"/>
              </a:ext>
            </a:extLst>
          </p:cNvPr>
          <p:cNvSpPr/>
          <p:nvPr/>
        </p:nvSpPr>
        <p:spPr>
          <a:xfrm rot="10800000" flipV="1">
            <a:off x="2138294" y="5771477"/>
            <a:ext cx="791030" cy="919825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9033C14-C275-18A2-0A04-26E4C067F38D}"/>
              </a:ext>
            </a:extLst>
          </p:cNvPr>
          <p:cNvSpPr/>
          <p:nvPr/>
        </p:nvSpPr>
        <p:spPr>
          <a:xfrm rot="10800000">
            <a:off x="1575040" y="5059713"/>
            <a:ext cx="330080" cy="553993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9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C8ADBA6-0CEF-1E41-E7BD-14185B257E59}"/>
              </a:ext>
            </a:extLst>
          </p:cNvPr>
          <p:cNvSpPr/>
          <p:nvPr/>
        </p:nvSpPr>
        <p:spPr>
          <a:xfrm rot="1200000">
            <a:off x="1771276" y="3993466"/>
            <a:ext cx="2880000" cy="186286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1931EC-21B7-5129-D41D-99DA75A11591}"/>
              </a:ext>
            </a:extLst>
          </p:cNvPr>
          <p:cNvSpPr/>
          <p:nvPr/>
        </p:nvSpPr>
        <p:spPr>
          <a:xfrm rot="-1200000">
            <a:off x="2577113" y="4019031"/>
            <a:ext cx="3036170" cy="1900708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B94FA-6CA5-0EDD-95A4-CB3D34D1483A}"/>
              </a:ext>
            </a:extLst>
          </p:cNvPr>
          <p:cNvSpPr/>
          <p:nvPr/>
        </p:nvSpPr>
        <p:spPr>
          <a:xfrm rot="600000">
            <a:off x="7127776" y="469997"/>
            <a:ext cx="2880000" cy="1800000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F969FC-0661-961E-4001-EFAB720D8487}"/>
              </a:ext>
            </a:extLst>
          </p:cNvPr>
          <p:cNvSpPr/>
          <p:nvPr/>
        </p:nvSpPr>
        <p:spPr>
          <a:xfrm rot="-600000">
            <a:off x="8114908" y="492353"/>
            <a:ext cx="2880000" cy="1800000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983B34-BDF9-C83E-F112-2BCB74265C3F}"/>
              </a:ext>
            </a:extLst>
          </p:cNvPr>
          <p:cNvSpPr/>
          <p:nvPr/>
        </p:nvSpPr>
        <p:spPr>
          <a:xfrm rot="-1200000">
            <a:off x="1880972" y="3032217"/>
            <a:ext cx="2660610" cy="218152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9A09E1-5FE5-819F-503B-1BA4E7D78FC7}"/>
              </a:ext>
            </a:extLst>
          </p:cNvPr>
          <p:cNvSpPr/>
          <p:nvPr/>
        </p:nvSpPr>
        <p:spPr>
          <a:xfrm rot="1200000">
            <a:off x="2632012" y="3060185"/>
            <a:ext cx="3009836" cy="2109631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E6E9559-2BEF-031F-95F9-FF2B18F0D984}"/>
              </a:ext>
            </a:extLst>
          </p:cNvPr>
          <p:cNvSpPr/>
          <p:nvPr/>
        </p:nvSpPr>
        <p:spPr>
          <a:xfrm rot="5224360">
            <a:off x="2884233" y="3619596"/>
            <a:ext cx="1543147" cy="1903249"/>
          </a:xfrm>
          <a:prstGeom prst="ellipse">
            <a:avLst/>
          </a:prstGeom>
          <a:solidFill>
            <a:schemeClr val="bg1">
              <a:lumMod val="75000"/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8B381-F685-8209-8EA5-8C42385B2FD2}"/>
              </a:ext>
            </a:extLst>
          </p:cNvPr>
          <p:cNvSpPr txBox="1"/>
          <p:nvPr/>
        </p:nvSpPr>
        <p:spPr>
          <a:xfrm>
            <a:off x="2272902" y="3359215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B8A29-0262-B730-9440-7E326DB44746}"/>
              </a:ext>
            </a:extLst>
          </p:cNvPr>
          <p:cNvSpPr txBox="1"/>
          <p:nvPr/>
        </p:nvSpPr>
        <p:spPr>
          <a:xfrm>
            <a:off x="2385041" y="5131613"/>
            <a:ext cx="461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8C5BF-570E-2393-8D22-E3835936862E}"/>
              </a:ext>
            </a:extLst>
          </p:cNvPr>
          <p:cNvSpPr txBox="1"/>
          <p:nvPr/>
        </p:nvSpPr>
        <p:spPr>
          <a:xfrm>
            <a:off x="4694178" y="3336902"/>
            <a:ext cx="46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DA478A-A7CF-C31C-F7D3-76800844A42F}"/>
              </a:ext>
            </a:extLst>
          </p:cNvPr>
          <p:cNvSpPr txBox="1"/>
          <p:nvPr/>
        </p:nvSpPr>
        <p:spPr>
          <a:xfrm>
            <a:off x="4695024" y="5190030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A0087E-9B25-63A4-F24B-6C1C7CBBC987}"/>
              </a:ext>
            </a:extLst>
          </p:cNvPr>
          <p:cNvSpPr txBox="1"/>
          <p:nvPr/>
        </p:nvSpPr>
        <p:spPr>
          <a:xfrm>
            <a:off x="3385330" y="3268809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9E9CA8-C5F4-AEAC-FFC4-31B50AD973DE}"/>
              </a:ext>
            </a:extLst>
          </p:cNvPr>
          <p:cNvSpPr txBox="1"/>
          <p:nvPr/>
        </p:nvSpPr>
        <p:spPr>
          <a:xfrm>
            <a:off x="2266592" y="427205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9FA328-B209-A89E-4472-320ED5D981F7}"/>
              </a:ext>
            </a:extLst>
          </p:cNvPr>
          <p:cNvSpPr txBox="1"/>
          <p:nvPr/>
        </p:nvSpPr>
        <p:spPr>
          <a:xfrm>
            <a:off x="3634022" y="5451223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2E2C08-42F8-CF42-806D-B149BD6AC255}"/>
              </a:ext>
            </a:extLst>
          </p:cNvPr>
          <p:cNvSpPr txBox="1"/>
          <p:nvPr/>
        </p:nvSpPr>
        <p:spPr>
          <a:xfrm>
            <a:off x="4839339" y="4363637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1129D1-ED7F-09C7-A2DF-E2C6A4AB0208}"/>
              </a:ext>
            </a:extLst>
          </p:cNvPr>
          <p:cNvSpPr txBox="1"/>
          <p:nvPr/>
        </p:nvSpPr>
        <p:spPr>
          <a:xfrm>
            <a:off x="2616356" y="378906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4EDF44-A553-2847-F467-B12CD2BC71F8}"/>
              </a:ext>
            </a:extLst>
          </p:cNvPr>
          <p:cNvSpPr txBox="1"/>
          <p:nvPr/>
        </p:nvSpPr>
        <p:spPr>
          <a:xfrm>
            <a:off x="3007412" y="4034255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197AE6-5896-B3F0-61BE-2777F015E154}"/>
              </a:ext>
            </a:extLst>
          </p:cNvPr>
          <p:cNvSpPr txBox="1"/>
          <p:nvPr/>
        </p:nvSpPr>
        <p:spPr>
          <a:xfrm>
            <a:off x="2643566" y="4379112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15572A-CC3D-2C06-59FF-6844243E58CC}"/>
              </a:ext>
            </a:extLst>
          </p:cNvPr>
          <p:cNvSpPr txBox="1"/>
          <p:nvPr/>
        </p:nvSpPr>
        <p:spPr>
          <a:xfrm>
            <a:off x="2848184" y="470825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3164D6-DD98-3DF9-40A4-FC3032000F74}"/>
              </a:ext>
            </a:extLst>
          </p:cNvPr>
          <p:cNvSpPr txBox="1"/>
          <p:nvPr/>
        </p:nvSpPr>
        <p:spPr>
          <a:xfrm>
            <a:off x="2541924" y="4923857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62727D-86EF-1694-C133-878B51AD865B}"/>
              </a:ext>
            </a:extLst>
          </p:cNvPr>
          <p:cNvSpPr txBox="1"/>
          <p:nvPr/>
        </p:nvSpPr>
        <p:spPr>
          <a:xfrm>
            <a:off x="3358260" y="5119370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6660EE-3F11-0F98-0DD5-86340F169C77}"/>
              </a:ext>
            </a:extLst>
          </p:cNvPr>
          <p:cNvSpPr txBox="1"/>
          <p:nvPr/>
        </p:nvSpPr>
        <p:spPr>
          <a:xfrm>
            <a:off x="3351162" y="3725314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F4DA8B-B1B6-8EF6-D5D9-5FA455F2601B}"/>
              </a:ext>
            </a:extLst>
          </p:cNvPr>
          <p:cNvSpPr txBox="1"/>
          <p:nvPr/>
        </p:nvSpPr>
        <p:spPr>
          <a:xfrm>
            <a:off x="4012019" y="3973734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47CF73-C764-84B3-48A5-ECB0C4D682B6}"/>
              </a:ext>
            </a:extLst>
          </p:cNvPr>
          <p:cNvSpPr txBox="1"/>
          <p:nvPr/>
        </p:nvSpPr>
        <p:spPr>
          <a:xfrm>
            <a:off x="4346109" y="4318591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2D8D88-E711-E85C-EE94-E5D6FB3F4732}"/>
              </a:ext>
            </a:extLst>
          </p:cNvPr>
          <p:cNvSpPr txBox="1"/>
          <p:nvPr/>
        </p:nvSpPr>
        <p:spPr>
          <a:xfrm>
            <a:off x="4014380" y="4721839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965499-7876-23E6-C941-DD73BB84B927}"/>
              </a:ext>
            </a:extLst>
          </p:cNvPr>
          <p:cNvSpPr txBox="1"/>
          <p:nvPr/>
        </p:nvSpPr>
        <p:spPr>
          <a:xfrm>
            <a:off x="4166780" y="4874239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A4D15F-653E-525B-F2FA-229E35A9D8E2}"/>
              </a:ext>
            </a:extLst>
          </p:cNvPr>
          <p:cNvSpPr txBox="1"/>
          <p:nvPr/>
        </p:nvSpPr>
        <p:spPr>
          <a:xfrm>
            <a:off x="4229748" y="379483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229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4CC175D4-7F68-9804-CC46-1D17DD81441C}"/>
              </a:ext>
            </a:extLst>
          </p:cNvPr>
          <p:cNvSpPr/>
          <p:nvPr/>
        </p:nvSpPr>
        <p:spPr>
          <a:xfrm rot="3780000">
            <a:off x="6789406" y="2013969"/>
            <a:ext cx="2190112" cy="1538233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E23F62-CACF-5B8B-8B07-975CD554E5A6}"/>
              </a:ext>
            </a:extLst>
          </p:cNvPr>
          <p:cNvSpPr/>
          <p:nvPr/>
        </p:nvSpPr>
        <p:spPr>
          <a:xfrm rot="-3780000">
            <a:off x="7350296" y="2058112"/>
            <a:ext cx="2129482" cy="1536406"/>
          </a:xfrm>
          <a:prstGeom prst="ellipse">
            <a:avLst/>
          </a:prstGeom>
          <a:solidFill>
            <a:schemeClr val="accent3"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F84189-377D-2BA6-323C-6A908B98B01D}"/>
              </a:ext>
            </a:extLst>
          </p:cNvPr>
          <p:cNvSpPr/>
          <p:nvPr/>
        </p:nvSpPr>
        <p:spPr>
          <a:xfrm rot="1800000">
            <a:off x="6550710" y="2404159"/>
            <a:ext cx="2457289" cy="177267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EF7652-9C2B-84CF-D2C3-F16BD41590D5}"/>
              </a:ext>
            </a:extLst>
          </p:cNvPr>
          <p:cNvSpPr/>
          <p:nvPr/>
        </p:nvSpPr>
        <p:spPr>
          <a:xfrm rot="-1860000">
            <a:off x="7308036" y="2446438"/>
            <a:ext cx="2421358" cy="1724683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01D02E-C96C-C560-39B0-0DD2D7D260F6}"/>
              </a:ext>
            </a:extLst>
          </p:cNvPr>
          <p:cNvSpPr/>
          <p:nvPr/>
        </p:nvSpPr>
        <p:spPr>
          <a:xfrm>
            <a:off x="7589520" y="2153920"/>
            <a:ext cx="1158240" cy="1969844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99C014E-2423-CF0F-4A07-D114E55B1C3B}"/>
              </a:ext>
            </a:extLst>
          </p:cNvPr>
          <p:cNvSpPr/>
          <p:nvPr/>
        </p:nvSpPr>
        <p:spPr>
          <a:xfrm flipH="1">
            <a:off x="10211481" y="187503"/>
            <a:ext cx="1558456" cy="1651236"/>
          </a:xfrm>
          <a:prstGeom prst="ellipse">
            <a:avLst/>
          </a:prstGeom>
          <a:solidFill>
            <a:schemeClr val="accent3"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CF2B59-57E8-009D-39C6-DAE26EB635DB}"/>
              </a:ext>
            </a:extLst>
          </p:cNvPr>
          <p:cNvSpPr/>
          <p:nvPr/>
        </p:nvSpPr>
        <p:spPr>
          <a:xfrm rot="5400000">
            <a:off x="7468535" y="25511"/>
            <a:ext cx="938254" cy="887235"/>
          </a:xfrm>
          <a:prstGeom prst="ellipse">
            <a:avLst/>
          </a:prstGeom>
          <a:solidFill>
            <a:schemeClr val="accent3">
              <a:alpha val="20323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AF64DD-2A25-E241-7FC6-22B045C9493C}"/>
              </a:ext>
            </a:extLst>
          </p:cNvPr>
          <p:cNvSpPr/>
          <p:nvPr/>
        </p:nvSpPr>
        <p:spPr>
          <a:xfrm>
            <a:off x="6972710" y="4949417"/>
            <a:ext cx="1470991" cy="1515020"/>
          </a:xfrm>
          <a:prstGeom prst="ellipse">
            <a:avLst/>
          </a:prstGeom>
          <a:solidFill>
            <a:schemeClr val="bg1">
              <a:lumMod val="50000"/>
              <a:alpha val="20323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9B3A12-5BFE-0E9A-5EBF-5DE17ECB821A}"/>
              </a:ext>
            </a:extLst>
          </p:cNvPr>
          <p:cNvSpPr/>
          <p:nvPr/>
        </p:nvSpPr>
        <p:spPr>
          <a:xfrm>
            <a:off x="7307351" y="2489201"/>
            <a:ext cx="1759544" cy="1310640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1FF873-B929-1788-AD08-1AAC69161673}"/>
              </a:ext>
            </a:extLst>
          </p:cNvPr>
          <p:cNvSpPr txBox="1"/>
          <p:nvPr/>
        </p:nvSpPr>
        <p:spPr>
          <a:xfrm>
            <a:off x="4668665" y="829559"/>
            <a:ext cx="5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6144495-7858-0EE3-89EF-846D92597B09}"/>
              </a:ext>
            </a:extLst>
          </p:cNvPr>
          <p:cNvSpPr/>
          <p:nvPr/>
        </p:nvSpPr>
        <p:spPr>
          <a:xfrm rot="3780000">
            <a:off x="2572405" y="3328685"/>
            <a:ext cx="2153225" cy="1844904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CAB96B4-5E05-A5DD-4DC6-572D25E99571}"/>
              </a:ext>
            </a:extLst>
          </p:cNvPr>
          <p:cNvSpPr/>
          <p:nvPr/>
        </p:nvSpPr>
        <p:spPr>
          <a:xfrm rot="-3780000">
            <a:off x="3591473" y="3298874"/>
            <a:ext cx="2129482" cy="1797308"/>
          </a:xfrm>
          <a:prstGeom prst="ellipse">
            <a:avLst/>
          </a:prstGeom>
          <a:solidFill>
            <a:schemeClr val="accent3"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0BB47B-E71C-E941-9367-FBACD00C9659}"/>
              </a:ext>
            </a:extLst>
          </p:cNvPr>
          <p:cNvSpPr/>
          <p:nvPr/>
        </p:nvSpPr>
        <p:spPr>
          <a:xfrm rot="1800000">
            <a:off x="1080311" y="4093995"/>
            <a:ext cx="2457289" cy="177267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1DC26EA-3E74-7664-FA7A-EC43A04B0D9C}"/>
              </a:ext>
            </a:extLst>
          </p:cNvPr>
          <p:cNvSpPr/>
          <p:nvPr/>
        </p:nvSpPr>
        <p:spPr>
          <a:xfrm rot="-1860000">
            <a:off x="3520817" y="4089396"/>
            <a:ext cx="2421358" cy="1724683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714EE00-9000-72EB-F65F-6DB1A54039D6}"/>
              </a:ext>
            </a:extLst>
          </p:cNvPr>
          <p:cNvSpPr/>
          <p:nvPr/>
        </p:nvSpPr>
        <p:spPr>
          <a:xfrm>
            <a:off x="422063" y="-366925"/>
            <a:ext cx="1206947" cy="2085815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3721D9-0EE3-EDEE-DFC2-C1F9C8122461}"/>
              </a:ext>
            </a:extLst>
          </p:cNvPr>
          <p:cNvSpPr/>
          <p:nvPr/>
        </p:nvSpPr>
        <p:spPr>
          <a:xfrm>
            <a:off x="-873182" y="-1018198"/>
            <a:ext cx="1746363" cy="2974652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51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8A9A6F3-7CFB-0382-48ED-F7A401415C0D}"/>
              </a:ext>
            </a:extLst>
          </p:cNvPr>
          <p:cNvSpPr/>
          <p:nvPr/>
        </p:nvSpPr>
        <p:spPr>
          <a:xfrm rot="1560000">
            <a:off x="2652524" y="4379867"/>
            <a:ext cx="3600000" cy="1440000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16B6E-AF20-8F5B-40D1-0BF94490B9C7}"/>
              </a:ext>
            </a:extLst>
          </p:cNvPr>
          <p:cNvSpPr txBox="1"/>
          <p:nvPr/>
        </p:nvSpPr>
        <p:spPr>
          <a:xfrm>
            <a:off x="3269781" y="2562308"/>
            <a:ext cx="138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TOKEN</a:t>
            </a:r>
          </a:p>
          <a:p>
            <a:endParaRPr lang="en-US" sz="2400" dirty="0">
              <a:solidFill>
                <a:srgbClr val="FF93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601D9-8532-7D07-39EA-570A3B9BAB32}"/>
              </a:ext>
            </a:extLst>
          </p:cNvPr>
          <p:cNvSpPr txBox="1"/>
          <p:nvPr/>
        </p:nvSpPr>
        <p:spPr>
          <a:xfrm>
            <a:off x="2185692" y="3643752"/>
            <a:ext cx="814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PAR</a:t>
            </a:r>
          </a:p>
          <a:p>
            <a:endParaRPr lang="en-US" dirty="0">
              <a:solidFill>
                <a:srgbClr val="0070C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15C991-7B50-0110-79B6-168AA8E036D7}"/>
              </a:ext>
            </a:extLst>
          </p:cNvPr>
          <p:cNvSpPr/>
          <p:nvPr/>
        </p:nvSpPr>
        <p:spPr>
          <a:xfrm rot="2400000">
            <a:off x="3364902" y="3909436"/>
            <a:ext cx="3600000" cy="1440000"/>
          </a:xfrm>
          <a:prstGeom prst="ellipse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8641EF-644F-4981-4FF9-2DBD6B0BB420}"/>
              </a:ext>
            </a:extLst>
          </p:cNvPr>
          <p:cNvSpPr/>
          <p:nvPr/>
        </p:nvSpPr>
        <p:spPr>
          <a:xfrm rot="-1560000">
            <a:off x="4787679" y="4390028"/>
            <a:ext cx="3600000" cy="1440000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C8676-9B49-4D66-ACCF-5D5AC4A84057}"/>
              </a:ext>
            </a:extLst>
          </p:cNvPr>
          <p:cNvSpPr txBox="1"/>
          <p:nvPr/>
        </p:nvSpPr>
        <p:spPr>
          <a:xfrm>
            <a:off x="6833061" y="2604548"/>
            <a:ext cx="1130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E8F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YIELD</a:t>
            </a:r>
          </a:p>
          <a:p>
            <a:endParaRPr lang="en-US" sz="2400" dirty="0">
              <a:solidFill>
                <a:srgbClr val="4E8F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B86299-37C5-84CC-905A-73A2041B43F0}"/>
              </a:ext>
            </a:extLst>
          </p:cNvPr>
          <p:cNvSpPr/>
          <p:nvPr/>
        </p:nvSpPr>
        <p:spPr>
          <a:xfrm rot="-2400000">
            <a:off x="4093009" y="3909436"/>
            <a:ext cx="3600000" cy="1440000"/>
          </a:xfrm>
          <a:prstGeom prst="ellipse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8A522-CA1D-3D42-4D08-348A011D41BF}"/>
              </a:ext>
            </a:extLst>
          </p:cNvPr>
          <p:cNvSpPr txBox="1"/>
          <p:nvPr/>
        </p:nvSpPr>
        <p:spPr>
          <a:xfrm>
            <a:off x="8094202" y="3643752"/>
            <a:ext cx="1564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SECURED</a:t>
            </a:r>
          </a:p>
          <a:p>
            <a:endParaRPr lang="en-US" sz="2400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A70E5-DAE1-D9FD-1073-643DF74D7763}"/>
              </a:ext>
            </a:extLst>
          </p:cNvPr>
          <p:cNvSpPr txBox="1"/>
          <p:nvPr/>
        </p:nvSpPr>
        <p:spPr>
          <a:xfrm>
            <a:off x="3191984" y="4382416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A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0078D5-9F82-1A7C-6E56-70BBB9C52C64}"/>
              </a:ext>
            </a:extLst>
          </p:cNvPr>
          <p:cNvSpPr txBox="1"/>
          <p:nvPr/>
        </p:nvSpPr>
        <p:spPr>
          <a:xfrm>
            <a:off x="4041270" y="3598690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B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CA58F-FEF8-F5C2-5DA3-D96AC475FB78}"/>
              </a:ext>
            </a:extLst>
          </p:cNvPr>
          <p:cNvSpPr txBox="1"/>
          <p:nvPr/>
        </p:nvSpPr>
        <p:spPr>
          <a:xfrm>
            <a:off x="4242965" y="4424300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E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97A770-EF4A-60B3-174C-647A83027149}"/>
              </a:ext>
            </a:extLst>
          </p:cNvPr>
          <p:cNvSpPr txBox="1"/>
          <p:nvPr/>
        </p:nvSpPr>
        <p:spPr>
          <a:xfrm>
            <a:off x="-176568" y="0"/>
            <a:ext cx="2108912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A: payment balance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B: UTXO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C: security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D: commodity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E: cash /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rCBDC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F: deposit / ESA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G: secured loan H: tokenized security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I: tokenized commodity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H: tokenized cashflow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J: repo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K: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wCBDC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L: unregulated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stablecoin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M: regulated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stablecoin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N: money market fund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O: tokenized money market fund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46DD4B-AB81-8B0A-833A-2D0F6DD7B967}"/>
              </a:ext>
            </a:extLst>
          </p:cNvPr>
          <p:cNvSpPr txBox="1"/>
          <p:nvPr/>
        </p:nvSpPr>
        <p:spPr>
          <a:xfrm>
            <a:off x="5365358" y="5766196"/>
            <a:ext cx="392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G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58EAD-31F0-17A8-40B8-E75133907078}"/>
              </a:ext>
            </a:extLst>
          </p:cNvPr>
          <p:cNvSpPr txBox="1"/>
          <p:nvPr/>
        </p:nvSpPr>
        <p:spPr>
          <a:xfrm>
            <a:off x="6547249" y="3542176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C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2C097-B6F2-E96F-530D-A0CCF7818598}"/>
              </a:ext>
            </a:extLst>
          </p:cNvPr>
          <p:cNvSpPr txBox="1"/>
          <p:nvPr/>
        </p:nvSpPr>
        <p:spPr>
          <a:xfrm>
            <a:off x="7570122" y="4316852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D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DA99F6-D309-DD2C-A3DD-3DF482D66FF0}"/>
              </a:ext>
            </a:extLst>
          </p:cNvPr>
          <p:cNvSpPr txBox="1"/>
          <p:nvPr/>
        </p:nvSpPr>
        <p:spPr>
          <a:xfrm>
            <a:off x="4618564" y="5349161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F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DEC38F-854B-AAE8-932F-2E2562BE2F7F}"/>
              </a:ext>
            </a:extLst>
          </p:cNvPr>
          <p:cNvSpPr txBox="1"/>
          <p:nvPr/>
        </p:nvSpPr>
        <p:spPr>
          <a:xfrm>
            <a:off x="5795884" y="4828913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H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CC8B1-FB34-77CA-D39E-12352AD33B5F}"/>
              </a:ext>
            </a:extLst>
          </p:cNvPr>
          <p:cNvSpPr txBox="1"/>
          <p:nvPr/>
        </p:nvSpPr>
        <p:spPr>
          <a:xfrm>
            <a:off x="6152946" y="5349161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I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D2E1EB-6771-13BF-0936-B6F31C2BF2DA}"/>
              </a:ext>
            </a:extLst>
          </p:cNvPr>
          <p:cNvSpPr txBox="1"/>
          <p:nvPr/>
        </p:nvSpPr>
        <p:spPr>
          <a:xfrm>
            <a:off x="6367567" y="4424071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J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3B10DE-2289-E6CF-D290-2200A36DC2F1}"/>
              </a:ext>
            </a:extLst>
          </p:cNvPr>
          <p:cNvSpPr txBox="1"/>
          <p:nvPr/>
        </p:nvSpPr>
        <p:spPr>
          <a:xfrm>
            <a:off x="4873815" y="4827501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L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B6804C-3790-285D-4591-08E285A87F80}"/>
              </a:ext>
            </a:extLst>
          </p:cNvPr>
          <p:cNvSpPr txBox="1"/>
          <p:nvPr/>
        </p:nvSpPr>
        <p:spPr>
          <a:xfrm>
            <a:off x="5715318" y="5505320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M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4A2280-1B53-75AD-D99E-C8E357B62FE6}"/>
              </a:ext>
            </a:extLst>
          </p:cNvPr>
          <p:cNvSpPr txBox="1"/>
          <p:nvPr/>
        </p:nvSpPr>
        <p:spPr>
          <a:xfrm>
            <a:off x="5393211" y="4294394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K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30EE41-BA81-CC1A-93E9-B780B3693C0D}"/>
              </a:ext>
            </a:extLst>
          </p:cNvPr>
          <p:cNvSpPr txBox="1"/>
          <p:nvPr/>
        </p:nvSpPr>
        <p:spPr>
          <a:xfrm>
            <a:off x="4935271" y="5514692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N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CD31D-1EFF-7A22-E18C-AEB8DC601B8C}"/>
              </a:ext>
            </a:extLst>
          </p:cNvPr>
          <p:cNvSpPr txBox="1"/>
          <p:nvPr/>
        </p:nvSpPr>
        <p:spPr>
          <a:xfrm>
            <a:off x="5353420" y="5157159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O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5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9000">
              <a:srgbClr val="0070C0">
                <a:lumMod val="77246"/>
                <a:lumOff val="22754"/>
                <a:alpha val="49288"/>
              </a:srgbClr>
            </a:gs>
            <a:gs pos="0">
              <a:srgbClr val="0070C0">
                <a:lumMod val="45471"/>
                <a:lumOff val="54529"/>
                <a:alpha val="60864"/>
              </a:srgbClr>
            </a:gs>
            <a:gs pos="62000">
              <a:srgbClr val="2786CA">
                <a:lumMod val="17812"/>
                <a:lumOff val="82188"/>
                <a:alpha val="29754"/>
              </a:srgbClr>
            </a:gs>
            <a:gs pos="67000">
              <a:srgbClr val="0070C0">
                <a:lumMod val="92253"/>
                <a:alpha val="84978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val 122">
            <a:extLst>
              <a:ext uri="{FF2B5EF4-FFF2-40B4-BE49-F238E27FC236}">
                <a16:creationId xmlns:a16="http://schemas.microsoft.com/office/drawing/2014/main" id="{8FCAB058-1AF4-E24A-84E2-375870DF8F86}"/>
              </a:ext>
            </a:extLst>
          </p:cNvPr>
          <p:cNvSpPr/>
          <p:nvPr/>
        </p:nvSpPr>
        <p:spPr>
          <a:xfrm rot="16200000" flipH="1">
            <a:off x="4953230" y="-140021"/>
            <a:ext cx="2285540" cy="11601450"/>
          </a:xfrm>
          <a:prstGeom prst="ellipse">
            <a:avLst/>
          </a:prstGeom>
          <a:solidFill>
            <a:srgbClr val="7030A0">
              <a:alpha val="31058"/>
            </a:srgbClr>
          </a:solidFill>
          <a:ln w="34925">
            <a:solidFill>
              <a:srgbClr val="C00000">
                <a:alpha val="5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59E16B7-4CF2-AEC2-009D-367778FDA0FC}"/>
              </a:ext>
            </a:extLst>
          </p:cNvPr>
          <p:cNvSpPr/>
          <p:nvPr/>
        </p:nvSpPr>
        <p:spPr>
          <a:xfrm rot="16200000" flipH="1">
            <a:off x="5117718" y="564408"/>
            <a:ext cx="1966073" cy="9790820"/>
          </a:xfrm>
          <a:prstGeom prst="ellipse">
            <a:avLst/>
          </a:prstGeom>
          <a:solidFill>
            <a:srgbClr val="00FEFF">
              <a:alpha val="97647"/>
            </a:srgbClr>
          </a:solidFill>
          <a:ln w="12700">
            <a:solidFill>
              <a:schemeClr val="accent1">
                <a:lumMod val="50000"/>
                <a:alpha val="6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B918F752-8534-113B-3F24-738EAF182B74}"/>
              </a:ext>
            </a:extLst>
          </p:cNvPr>
          <p:cNvSpPr/>
          <p:nvPr/>
        </p:nvSpPr>
        <p:spPr>
          <a:xfrm rot="16200000" flipH="1">
            <a:off x="5280804" y="1083894"/>
            <a:ext cx="1669979" cy="8454540"/>
          </a:xfrm>
          <a:prstGeom prst="ellipse">
            <a:avLst/>
          </a:prstGeom>
          <a:solidFill>
            <a:srgbClr val="FFFD78"/>
          </a:solidFill>
          <a:ln w="12700">
            <a:solidFill>
              <a:schemeClr val="accent2">
                <a:lumMod val="50000"/>
                <a:alpha val="6625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2D73E35-685E-87E6-A440-F3B9D6B5AF9C}"/>
              </a:ext>
            </a:extLst>
          </p:cNvPr>
          <p:cNvSpPr/>
          <p:nvPr/>
        </p:nvSpPr>
        <p:spPr>
          <a:xfrm rot="16200000" flipH="1">
            <a:off x="5424653" y="1673886"/>
            <a:ext cx="1382279" cy="6986856"/>
          </a:xfrm>
          <a:prstGeom prst="ellipse">
            <a:avLst/>
          </a:prstGeom>
          <a:solidFill>
            <a:schemeClr val="accent3">
              <a:lumMod val="60000"/>
              <a:lumOff val="40000"/>
              <a:alpha val="81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F76AF30-F81A-C373-ADB1-B1D8E26F865F}"/>
              </a:ext>
            </a:extLst>
          </p:cNvPr>
          <p:cNvSpPr/>
          <p:nvPr/>
        </p:nvSpPr>
        <p:spPr>
          <a:xfrm rot="16200000" flipH="1">
            <a:off x="5593205" y="2089852"/>
            <a:ext cx="1091841" cy="5875301"/>
          </a:xfrm>
          <a:prstGeom prst="ellipse">
            <a:avLst/>
          </a:prstGeom>
          <a:solidFill>
            <a:srgbClr val="4FAD31"/>
          </a:solidFill>
          <a:ln w="25400">
            <a:solidFill>
              <a:srgbClr val="FFFF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8ADD27-5B48-618F-2C07-19082E07E99D}"/>
              </a:ext>
            </a:extLst>
          </p:cNvPr>
          <p:cNvSpPr/>
          <p:nvPr/>
        </p:nvSpPr>
        <p:spPr>
          <a:xfrm rot="16200000" flipH="1">
            <a:off x="5735293" y="2522109"/>
            <a:ext cx="736783" cy="4700335"/>
          </a:xfrm>
          <a:prstGeom prst="ellipse">
            <a:avLst/>
          </a:prstGeom>
          <a:solidFill>
            <a:schemeClr val="accent3">
              <a:alpha val="81290"/>
            </a:schemeClr>
          </a:solidFill>
          <a:ln w="25400">
            <a:solidFill>
              <a:srgbClr val="FFC0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DFF314C-86B0-919D-E107-B552D1C7AF94}"/>
              </a:ext>
            </a:extLst>
          </p:cNvPr>
          <p:cNvSpPr/>
          <p:nvPr/>
        </p:nvSpPr>
        <p:spPr>
          <a:xfrm rot="-1440000">
            <a:off x="3641938" y="1396576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42093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94DF265-F21B-231A-480C-D448261C738F}"/>
              </a:ext>
            </a:extLst>
          </p:cNvPr>
          <p:cNvSpPr/>
          <p:nvPr/>
        </p:nvSpPr>
        <p:spPr>
          <a:xfrm rot="1380000">
            <a:off x="2840511" y="1368423"/>
            <a:ext cx="5760000" cy="2000022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4CB466-171F-F448-3035-17995A44BDB4}"/>
              </a:ext>
            </a:extLst>
          </p:cNvPr>
          <p:cNvSpPr txBox="1"/>
          <p:nvPr/>
        </p:nvSpPr>
        <p:spPr>
          <a:xfrm>
            <a:off x="1341475" y="446002"/>
            <a:ext cx="2364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40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secured</a:t>
            </a:r>
          </a:p>
          <a:p>
            <a:endParaRPr lang="en-US" sz="3600" b="1" dirty="0">
              <a:solidFill>
                <a:srgbClr val="FF40FF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C60A8A-9AE6-7F4E-9FEE-1E04F732EF2E}"/>
              </a:ext>
            </a:extLst>
          </p:cNvPr>
          <p:cNvSpPr txBox="1"/>
          <p:nvPr/>
        </p:nvSpPr>
        <p:spPr>
          <a:xfrm>
            <a:off x="9076776" y="397374"/>
            <a:ext cx="4049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yield</a:t>
            </a:r>
          </a:p>
          <a:p>
            <a:endParaRPr lang="en-US" sz="3600" b="1" dirty="0">
              <a:solidFill>
                <a:schemeClr val="accent5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74ED23-B482-794F-6662-19739F9FF729}"/>
              </a:ext>
            </a:extLst>
          </p:cNvPr>
          <p:cNvSpPr txBox="1"/>
          <p:nvPr/>
        </p:nvSpPr>
        <p:spPr>
          <a:xfrm>
            <a:off x="10423228" y="1799795"/>
            <a:ext cx="1851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437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token</a:t>
            </a:r>
          </a:p>
          <a:p>
            <a:endParaRPr lang="en-US" sz="3600" b="1" dirty="0">
              <a:solidFill>
                <a:srgbClr val="9437FF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15DE416-CFD5-2D59-A75B-D4890D5E1E90}"/>
              </a:ext>
            </a:extLst>
          </p:cNvPr>
          <p:cNvSpPr txBox="1"/>
          <p:nvPr/>
        </p:nvSpPr>
        <p:spPr>
          <a:xfrm>
            <a:off x="15828266" y="4180344"/>
            <a:ext cx="1306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?</a:t>
            </a:r>
          </a:p>
          <a:p>
            <a:endParaRPr lang="en-US" sz="2000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CA36734-8174-2FC7-32F7-63F02911639D}"/>
              </a:ext>
            </a:extLst>
          </p:cNvPr>
          <p:cNvSpPr/>
          <p:nvPr/>
        </p:nvSpPr>
        <p:spPr>
          <a:xfrm rot="16200000" flipH="1">
            <a:off x="5799299" y="4145471"/>
            <a:ext cx="641842" cy="839872"/>
          </a:xfrm>
          <a:prstGeom prst="ellipse">
            <a:avLst/>
          </a:prstGeom>
          <a:solidFill>
            <a:srgbClr val="941651">
              <a:alpha val="58336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FD4882-3974-1523-39D6-88C0EB5CC35C}"/>
              </a:ext>
            </a:extLst>
          </p:cNvPr>
          <p:cNvSpPr txBox="1"/>
          <p:nvPr/>
        </p:nvSpPr>
        <p:spPr>
          <a:xfrm>
            <a:off x="911882" y="1740960"/>
            <a:ext cx="1927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2F92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par</a:t>
            </a:r>
          </a:p>
          <a:p>
            <a:endParaRPr lang="en-US" sz="2800" b="1" dirty="0">
              <a:solidFill>
                <a:srgbClr val="FF2F92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F6D288D-B28E-A091-2D5B-6227FDBDE57A}"/>
              </a:ext>
            </a:extLst>
          </p:cNvPr>
          <p:cNvSpPr/>
          <p:nvPr/>
        </p:nvSpPr>
        <p:spPr>
          <a:xfrm rot="-660000">
            <a:off x="4721836" y="2105455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84E8880-9A28-F0C2-54ED-43A43E1F9FD0}"/>
              </a:ext>
            </a:extLst>
          </p:cNvPr>
          <p:cNvSpPr/>
          <p:nvPr/>
        </p:nvSpPr>
        <p:spPr>
          <a:xfrm rot="660000">
            <a:off x="1712367" y="2093153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FF2F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3565A1-4DF5-C890-7532-5DC1F9B1354A}"/>
              </a:ext>
            </a:extLst>
          </p:cNvPr>
          <p:cNvSpPr txBox="1"/>
          <p:nvPr/>
        </p:nvSpPr>
        <p:spPr>
          <a:xfrm>
            <a:off x="5823457" y="2407399"/>
            <a:ext cx="1359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accent5">
                    <a:lumMod val="50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?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64AF6621-C7DD-B707-8009-62A5B117B673}"/>
              </a:ext>
            </a:extLst>
          </p:cNvPr>
          <p:cNvSpPr/>
          <p:nvPr/>
        </p:nvSpPr>
        <p:spPr>
          <a:xfrm rot="-1380000">
            <a:off x="3625917" y="1368000"/>
            <a:ext cx="5760000" cy="1998000"/>
          </a:xfrm>
          <a:prstGeom prst="ellipse">
            <a:avLst/>
          </a:prstGeom>
          <a:noFill/>
          <a:ln w="349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FCC85AB-8EBA-5570-0069-21ED20F5B877}"/>
              </a:ext>
            </a:extLst>
          </p:cNvPr>
          <p:cNvSpPr/>
          <p:nvPr/>
        </p:nvSpPr>
        <p:spPr>
          <a:xfrm rot="1380000">
            <a:off x="2840448" y="1336496"/>
            <a:ext cx="5760000" cy="1999700"/>
          </a:xfrm>
          <a:prstGeom prst="ellipse">
            <a:avLst/>
          </a:prstGeom>
          <a:noFill/>
          <a:ln w="34925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7F0BD3E-8094-845D-A435-100EA67733CA}"/>
              </a:ext>
            </a:extLst>
          </p:cNvPr>
          <p:cNvSpPr/>
          <p:nvPr/>
        </p:nvSpPr>
        <p:spPr>
          <a:xfrm rot="-660000">
            <a:off x="4747014" y="2091599"/>
            <a:ext cx="5760000" cy="1998000"/>
          </a:xfrm>
          <a:prstGeom prst="ellipse">
            <a:avLst/>
          </a:prstGeom>
          <a:noFill/>
          <a:ln w="34925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883FF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603ADB6-A619-1A0D-6752-CB2A4CF42FE6}"/>
              </a:ext>
            </a:extLst>
          </p:cNvPr>
          <p:cNvSpPr txBox="1"/>
          <p:nvPr/>
        </p:nvSpPr>
        <p:spPr>
          <a:xfrm>
            <a:off x="3044222" y="2617188"/>
            <a:ext cx="20711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e-money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6478516-A8E4-3AD4-9B5A-8D8471F787A8}"/>
              </a:ext>
            </a:extLst>
          </p:cNvPr>
          <p:cNvSpPr txBox="1"/>
          <p:nvPr/>
        </p:nvSpPr>
        <p:spPr>
          <a:xfrm>
            <a:off x="8145315" y="2503993"/>
            <a:ext cx="116321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Proof of Work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31D9D12-36D3-D3C8-DD50-2AE7910990C0}"/>
              </a:ext>
            </a:extLst>
          </p:cNvPr>
          <p:cNvSpPr txBox="1"/>
          <p:nvPr/>
        </p:nvSpPr>
        <p:spPr>
          <a:xfrm>
            <a:off x="7392500" y="2009119"/>
            <a:ext cx="14145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Proof of </a:t>
            </a:r>
          </a:p>
          <a:p>
            <a:pPr algn="ctr"/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Stake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0CD713-A2E6-29B8-C90F-A08366834757}"/>
              </a:ext>
            </a:extLst>
          </p:cNvPr>
          <p:cNvSpPr txBox="1"/>
          <p:nvPr/>
        </p:nvSpPr>
        <p:spPr>
          <a:xfrm>
            <a:off x="5809103" y="3748566"/>
            <a:ext cx="8398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cash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D46C6B-9C42-0EE8-09F9-9609BB32E5E5}"/>
              </a:ext>
            </a:extLst>
          </p:cNvPr>
          <p:cNvSpPr txBox="1"/>
          <p:nvPr/>
        </p:nvSpPr>
        <p:spPr>
          <a:xfrm>
            <a:off x="4576847" y="1579316"/>
            <a:ext cx="6994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gold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CA207E6-8FFC-9895-B8FC-B748E74C6944}"/>
              </a:ext>
            </a:extLst>
          </p:cNvPr>
          <p:cNvSpPr txBox="1"/>
          <p:nvPr/>
        </p:nvSpPr>
        <p:spPr>
          <a:xfrm>
            <a:off x="3893023" y="3003835"/>
            <a:ext cx="103557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deposit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E2720B-ECB6-A255-D77A-57D49666B205}"/>
              </a:ext>
            </a:extLst>
          </p:cNvPr>
          <p:cNvSpPr txBox="1"/>
          <p:nvPr/>
        </p:nvSpPr>
        <p:spPr>
          <a:xfrm>
            <a:off x="3538333" y="1997458"/>
            <a:ext cx="20019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secured</a:t>
            </a:r>
          </a:p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            loan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420E2F9-7716-2268-5692-88D8A91F6527}"/>
              </a:ext>
            </a:extLst>
          </p:cNvPr>
          <p:cNvSpPr txBox="1"/>
          <p:nvPr/>
        </p:nvSpPr>
        <p:spPr>
          <a:xfrm>
            <a:off x="7074445" y="1575018"/>
            <a:ext cx="20711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equity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488080E-3BE1-4B3D-323A-262DA0EC8E49}"/>
              </a:ext>
            </a:extLst>
          </p:cNvPr>
          <p:cNvSpPr txBox="1"/>
          <p:nvPr/>
        </p:nvSpPr>
        <p:spPr>
          <a:xfrm>
            <a:off x="7266795" y="2981734"/>
            <a:ext cx="12560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 err="1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tokenised</a:t>
            </a:r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 commodity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AB8B3CF-F9D0-014A-2794-A989D3E242D3}"/>
              </a:ext>
            </a:extLst>
          </p:cNvPr>
          <p:cNvSpPr txBox="1"/>
          <p:nvPr/>
        </p:nvSpPr>
        <p:spPr>
          <a:xfrm>
            <a:off x="4561133" y="3372385"/>
            <a:ext cx="12560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 err="1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wCBDC</a:t>
            </a:r>
            <a:endParaRPr lang="en-US" sz="1300" dirty="0">
              <a:solidFill>
                <a:schemeClr val="accent2"/>
              </a:solidFill>
              <a:latin typeface="Malayalam MN" pitchFamily="2" charset="0"/>
              <a:cs typeface="Malayalam MN" pitchFamily="2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FD534AC-2212-D61A-4166-ED8EC70A8CA1}"/>
              </a:ext>
            </a:extLst>
          </p:cNvPr>
          <p:cNvSpPr txBox="1"/>
          <p:nvPr/>
        </p:nvSpPr>
        <p:spPr>
          <a:xfrm>
            <a:off x="5853714" y="152439"/>
            <a:ext cx="13598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1">
                    <a:lumMod val="40000"/>
                    <a:lumOff val="60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$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63890E-CD3D-87B0-BEA2-12FECB38A28F}"/>
              </a:ext>
            </a:extLst>
          </p:cNvPr>
          <p:cNvSpPr txBox="1"/>
          <p:nvPr/>
        </p:nvSpPr>
        <p:spPr>
          <a:xfrm>
            <a:off x="4488357" y="2421379"/>
            <a:ext cx="20019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reverse repo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40E7A53-96EC-95AA-D935-B9F29A89E8E7}"/>
              </a:ext>
            </a:extLst>
          </p:cNvPr>
          <p:cNvSpPr txBox="1"/>
          <p:nvPr/>
        </p:nvSpPr>
        <p:spPr>
          <a:xfrm>
            <a:off x="6310655" y="3380318"/>
            <a:ext cx="12560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 err="1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stablecoin</a:t>
            </a:r>
            <a:endParaRPr lang="en-US" sz="1300" dirty="0">
              <a:solidFill>
                <a:schemeClr val="accent2"/>
              </a:solidFill>
              <a:latin typeface="Malayalam MN" pitchFamily="2" charset="0"/>
              <a:cs typeface="Malayalam MN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02D6A26-5B1E-72DB-ED91-2B3F169FDADD}"/>
              </a:ext>
            </a:extLst>
          </p:cNvPr>
          <p:cNvSpPr txBox="1"/>
          <p:nvPr/>
        </p:nvSpPr>
        <p:spPr>
          <a:xfrm>
            <a:off x="5339852" y="1730386"/>
            <a:ext cx="14590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asset-backed security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F16AFE1-CF97-DAEA-BDD3-27D8A33B4232}"/>
              </a:ext>
            </a:extLst>
          </p:cNvPr>
          <p:cNvSpPr txBox="1"/>
          <p:nvPr/>
        </p:nvSpPr>
        <p:spPr>
          <a:xfrm>
            <a:off x="5882290" y="4536573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7E79"/>
                </a:solidFill>
                <a:latin typeface="Malayalam MN" pitchFamily="2" charset="0"/>
                <a:cs typeface="Malayalam MN" pitchFamily="2" charset="0"/>
              </a:rPr>
              <a:t>M0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F2CBECD-1CEA-FE3B-E0B2-5EA82EEAC739}"/>
              </a:ext>
            </a:extLst>
          </p:cNvPr>
          <p:cNvSpPr txBox="1"/>
          <p:nvPr/>
        </p:nvSpPr>
        <p:spPr>
          <a:xfrm>
            <a:off x="5896145" y="489275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Malayalam MN" pitchFamily="2" charset="0"/>
                <a:cs typeface="Malayalam MN" pitchFamily="2" charset="0"/>
              </a:rPr>
              <a:t>M1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931F8D1-4C28-9455-4C60-26270DFCB027}"/>
              </a:ext>
            </a:extLst>
          </p:cNvPr>
          <p:cNvSpPr txBox="1"/>
          <p:nvPr/>
        </p:nvSpPr>
        <p:spPr>
          <a:xfrm>
            <a:off x="5886018" y="5259881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M3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0717F84-DEAD-75A1-9C0D-CF140DF16054}"/>
              </a:ext>
            </a:extLst>
          </p:cNvPr>
          <p:cNvSpPr txBox="1"/>
          <p:nvPr/>
        </p:nvSpPr>
        <p:spPr>
          <a:xfrm>
            <a:off x="5506246" y="5567599"/>
            <a:ext cx="1808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broad</a:t>
            </a:r>
            <a:r>
              <a:rPr lang="en-US" sz="1200" b="1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money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AB822BA-EB11-5ADB-DAA9-918B3EA8F5E7}"/>
              </a:ext>
            </a:extLst>
          </p:cNvPr>
          <p:cNvSpPr txBox="1"/>
          <p:nvPr/>
        </p:nvSpPr>
        <p:spPr>
          <a:xfrm>
            <a:off x="6320675" y="2242637"/>
            <a:ext cx="180712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 err="1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tokenised</a:t>
            </a:r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 </a:t>
            </a:r>
          </a:p>
          <a:p>
            <a:pPr algn="ctr"/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private  </a:t>
            </a:r>
          </a:p>
          <a:p>
            <a:pPr algn="ctr"/>
            <a:r>
              <a:rPr lang="en-US" sz="1300" dirty="0">
                <a:solidFill>
                  <a:schemeClr val="accent2"/>
                </a:solidFill>
                <a:latin typeface="Malayalam MN" pitchFamily="2" charset="0"/>
                <a:cs typeface="Malayalam MN" pitchFamily="2" charset="0"/>
              </a:rPr>
              <a:t>security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EE2BECF-1650-1B33-44A6-931A8256D1B9}"/>
              </a:ext>
            </a:extLst>
          </p:cNvPr>
          <p:cNvSpPr txBox="1"/>
          <p:nvPr/>
        </p:nvSpPr>
        <p:spPr>
          <a:xfrm>
            <a:off x="4647890" y="5850181"/>
            <a:ext cx="3837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Malayalam MN" pitchFamily="2" charset="0"/>
                <a:cs typeface="Malayalam MN" pitchFamily="2" charset="0"/>
              </a:rPr>
              <a:t>repo &amp; Money Market Fund balances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C42048-942B-1239-8FCA-5F8527E37D42}"/>
              </a:ext>
            </a:extLst>
          </p:cNvPr>
          <p:cNvSpPr txBox="1"/>
          <p:nvPr/>
        </p:nvSpPr>
        <p:spPr>
          <a:xfrm>
            <a:off x="4927673" y="6155491"/>
            <a:ext cx="2472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Malayalam MN" pitchFamily="2" charset="0"/>
                <a:cs typeface="Malayalam MN" pitchFamily="2" charset="0"/>
              </a:rPr>
              <a:t>collateral-eligible securities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9A973DB-576C-8481-4B2D-D4C02B8D0A7D}"/>
              </a:ext>
            </a:extLst>
          </p:cNvPr>
          <p:cNvSpPr txBox="1"/>
          <p:nvPr/>
        </p:nvSpPr>
        <p:spPr>
          <a:xfrm>
            <a:off x="5083992" y="6470562"/>
            <a:ext cx="2135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Malayalam MN" pitchFamily="2" charset="0"/>
                <a:cs typeface="Malayalam MN" pitchFamily="2" charset="0"/>
              </a:rPr>
              <a:t>“REAL WORLD ASSETS”</a:t>
            </a:r>
          </a:p>
        </p:txBody>
      </p:sp>
    </p:spTree>
    <p:extLst>
      <p:ext uri="{BB962C8B-B14F-4D97-AF65-F5344CB8AC3E}">
        <p14:creationId xmlns:p14="http://schemas.microsoft.com/office/powerpoint/2010/main" val="751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157</Words>
  <Application>Microsoft Macintosh PowerPoint</Application>
  <PresentationFormat>Widescreen</PresentationFormat>
  <Paragraphs>91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Malayalam MN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 Kelly</dc:creator>
  <cp:lastModifiedBy>Gerard Kelly</cp:lastModifiedBy>
  <cp:revision>14</cp:revision>
  <dcterms:created xsi:type="dcterms:W3CDTF">2025-12-04T12:38:45Z</dcterms:created>
  <dcterms:modified xsi:type="dcterms:W3CDTF">2025-12-05T07:24:26Z</dcterms:modified>
</cp:coreProperties>
</file>