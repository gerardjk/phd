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F8D7"/>
    <a:srgbClr val="C9EEFD"/>
    <a:srgbClr val="F2DFF7"/>
    <a:srgbClr val="F3F2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76"/>
    <p:restoredTop sz="94354"/>
  </p:normalViewPr>
  <p:slideViewPr>
    <p:cSldViewPr snapToGrid="0">
      <p:cViewPr varScale="1">
        <p:scale>
          <a:sx n="120" d="100"/>
          <a:sy n="120" d="100"/>
        </p:scale>
        <p:origin x="8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F9E997-6325-7840-8FDB-F08FC4C075D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66B80-6D5E-7E4F-AA92-F21D66789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8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766B80-6D5E-7E4F-AA92-F21D667890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3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3038-CB74-5D47-AFFA-D400A32D140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9DA23-08B9-3A42-A680-469D39101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32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3038-CB74-5D47-AFFA-D400A32D140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9DA23-08B9-3A42-A680-469D39101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367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3038-CB74-5D47-AFFA-D400A32D140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9DA23-08B9-3A42-A680-469D39101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82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3038-CB74-5D47-AFFA-D400A32D140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9DA23-08B9-3A42-A680-469D39101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01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3038-CB74-5D47-AFFA-D400A32D140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9DA23-08B9-3A42-A680-469D39101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541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3038-CB74-5D47-AFFA-D400A32D140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9DA23-08B9-3A42-A680-469D39101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77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3038-CB74-5D47-AFFA-D400A32D140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9DA23-08B9-3A42-A680-469D39101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373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3038-CB74-5D47-AFFA-D400A32D140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9DA23-08B9-3A42-A680-469D39101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787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3038-CB74-5D47-AFFA-D400A32D140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9DA23-08B9-3A42-A680-469D39101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897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3038-CB74-5D47-AFFA-D400A32D140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9DA23-08B9-3A42-A680-469D39101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0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3038-CB74-5D47-AFFA-D400A32D140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9DA23-08B9-3A42-A680-469D39101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386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FEF3038-CB74-5D47-AFFA-D400A32D140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169DA23-08B9-3A42-A680-469D39101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0749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00F031-2359-83E2-9488-565395048B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958" y="182211"/>
            <a:ext cx="8981881" cy="6739584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1200" dirty="0">
                <a:latin typeface="Dubai" panose="020B0503030403030204" pitchFamily="34" charset="-78"/>
                <a:cs typeface="Dubai" panose="020B0503030403030204" pitchFamily="34" charset="-78"/>
              </a:rPr>
              <a:t>AUSTRALIA PAYMENTS PLUS DFCRC INDUSTRY PROJECT</a:t>
            </a:r>
          </a:p>
          <a:p>
            <a:pPr algn="l"/>
            <a:r>
              <a:rPr lang="en-US" sz="1400" b="1" dirty="0">
                <a:latin typeface="Dubai" panose="020B0503030403030204" pitchFamily="34" charset="-78"/>
                <a:cs typeface="Dubai" panose="020B0503030403030204" pitchFamily="34" charset="-78"/>
              </a:rPr>
              <a:t>LIQUIDITY ISSUES FOR TOKEN INTERCHANGE   </a:t>
            </a:r>
            <a:endParaRPr lang="en-US" sz="100" dirty="0">
              <a:solidFill>
                <a:schemeClr val="accent6">
                  <a:lumMod val="20000"/>
                  <a:lumOff val="8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algn="l"/>
            <a:r>
              <a:rPr lang="en-US" sz="11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Part 00. </a:t>
            </a:r>
            <a:r>
              <a:rPr lang="en-US" sz="1100" b="1" i="1" dirty="0">
                <a:solidFill>
                  <a:schemeClr val="accent6">
                    <a:lumMod val="20000"/>
                    <a:lumOff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Project Acacia Submission to the Reserve Bank of Australia (2025):</a:t>
            </a:r>
            <a:r>
              <a:rPr lang="en-US" sz="11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1100" b="1" i="1" dirty="0">
                <a:solidFill>
                  <a:schemeClr val="accent6">
                    <a:lumMod val="20000"/>
                    <a:lumOff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ELEMENTS OF A FUTURE PAYMENTS SCHEME</a:t>
            </a:r>
          </a:p>
          <a:p>
            <a:pPr algn="l"/>
            <a:r>
              <a:rPr lang="en-US" sz="11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Part 0.    Literature Review: Liquidity &amp; Token Interchange</a:t>
            </a:r>
          </a:p>
          <a:p>
            <a:pPr algn="l"/>
            <a:endParaRPr lang="en-US" sz="100" dirty="0">
              <a:solidFill>
                <a:schemeClr val="accent2">
                  <a:lumMod val="20000"/>
                  <a:lumOff val="80000"/>
                </a:schemeClr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algn="l"/>
            <a:r>
              <a:rPr lang="en-US" sz="1100" b="1" dirty="0">
                <a:solidFill>
                  <a:srgbClr val="F2DFF7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Part 1. </a:t>
            </a:r>
            <a:r>
              <a:rPr lang="en-US" sz="1100" b="1" dirty="0" err="1">
                <a:solidFill>
                  <a:srgbClr val="F2DFF7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Systematisation</a:t>
            </a:r>
            <a:r>
              <a:rPr lang="en-US" sz="1100" b="1" dirty="0">
                <a:solidFill>
                  <a:srgbClr val="F2DFF7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of Knowledge: Liquidity Instruments and Infrastructures → </a:t>
            </a:r>
            <a:r>
              <a:rPr lang="en-US" sz="1100" i="1" dirty="0">
                <a:solidFill>
                  <a:srgbClr val="F2DFF7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Journal of Systems Research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2DFF7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Define a multidimensional systems design space for digital liquidity instrument–infrastructure pairs and their interlinkages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2DFF7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Classify a cross‑sector, cross-jurisdictional corpus of pairs and links, identifying systemic patterns &amp; failure modes</a:t>
            </a:r>
          </a:p>
          <a:p>
            <a:pPr algn="l"/>
            <a:endParaRPr lang="en-US" sz="100" b="1" dirty="0">
              <a:solidFill>
                <a:srgbClr val="F2DFF7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algn="l"/>
            <a:r>
              <a:rPr lang="en-US" sz="1100" b="1" dirty="0">
                <a:solidFill>
                  <a:srgbClr val="C9EEFD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Part 2. </a:t>
            </a:r>
            <a:r>
              <a:rPr lang="en-US" sz="1100" b="1" dirty="0" err="1">
                <a:solidFill>
                  <a:srgbClr val="C9EEFD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Stylised</a:t>
            </a:r>
            <a:r>
              <a:rPr lang="en-US" sz="1100" b="1" dirty="0">
                <a:solidFill>
                  <a:srgbClr val="C9EEFD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Facts of </a:t>
            </a:r>
            <a:r>
              <a:rPr lang="en-US" sz="1100" b="1" dirty="0" err="1">
                <a:solidFill>
                  <a:srgbClr val="C9EEFD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Tokenised</a:t>
            </a:r>
            <a:r>
              <a:rPr lang="en-US" sz="1100" b="1" dirty="0">
                <a:solidFill>
                  <a:srgbClr val="C9EEFD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Money &amp; Asset Markets → </a:t>
            </a:r>
            <a:r>
              <a:rPr lang="en-US" sz="1100" i="1" dirty="0">
                <a:solidFill>
                  <a:srgbClr val="C9EEFD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Advances in Financial Technology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C9EEFD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Define best-practice big-data analytical methods for public ledgers, smart contracts, and </a:t>
            </a:r>
            <a:r>
              <a:rPr lang="en-US" sz="1100" dirty="0" err="1">
                <a:solidFill>
                  <a:srgbClr val="C9EEFD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decentralised</a:t>
            </a:r>
            <a:r>
              <a:rPr lang="en-US" sz="1100" dirty="0">
                <a:solidFill>
                  <a:srgbClr val="C9EEFD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financial markets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C9EEFD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Systematic </a:t>
            </a:r>
            <a:r>
              <a:rPr lang="en-US" sz="1100" dirty="0" err="1">
                <a:solidFill>
                  <a:srgbClr val="C9EEFD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stylised</a:t>
            </a:r>
            <a:r>
              <a:rPr lang="en-US" sz="1100" dirty="0">
                <a:solidFill>
                  <a:srgbClr val="C9EEFD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facts analysis including settlement latency distributions, liquidity fragmentation, and </a:t>
            </a:r>
            <a:r>
              <a:rPr lang="en-US" sz="1100" dirty="0" err="1">
                <a:solidFill>
                  <a:srgbClr val="C9EEFD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collateralisation</a:t>
            </a:r>
            <a:r>
              <a:rPr lang="en-US" sz="1100" dirty="0">
                <a:solidFill>
                  <a:srgbClr val="C9EEFD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patterns across platforms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C9EEFD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Collection of empirical inputs for predictive analytics &amp; token liquidity forecasting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00" dirty="0">
              <a:solidFill>
                <a:srgbClr val="DEF8D7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algn="l"/>
            <a:r>
              <a:rPr lang="en-US" sz="1100" b="1" dirty="0">
                <a:solidFill>
                  <a:schemeClr val="tx2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Part 3. A Liquidity Calculus for </a:t>
            </a:r>
            <a:r>
              <a:rPr lang="en-US" sz="1100" b="1" dirty="0" err="1">
                <a:solidFill>
                  <a:schemeClr val="tx2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Synchronised</a:t>
            </a:r>
            <a:r>
              <a:rPr lang="en-US" sz="1100" b="1" dirty="0">
                <a:solidFill>
                  <a:schemeClr val="tx2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Ledgers → </a:t>
            </a:r>
            <a:r>
              <a:rPr lang="en-US" sz="1100" i="1" dirty="0">
                <a:solidFill>
                  <a:schemeClr val="tx2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Proceedings of the ACM on Measurement &amp; Analysis of Computing Systems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2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Define a graph-theoretic model for liquidity networks over heterogenous settlement systems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2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Develop a resource-scheduling framework for worst-case composable liquidity and oracle-token inventory </a:t>
            </a:r>
            <a:r>
              <a:rPr lang="en-US" sz="1100" dirty="0" err="1">
                <a:solidFill>
                  <a:schemeClr val="tx2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optimisation</a:t>
            </a:r>
            <a:r>
              <a:rPr lang="en-US" sz="1100" dirty="0">
                <a:solidFill>
                  <a:schemeClr val="tx2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endParaRPr lang="en-US" sz="100" dirty="0">
              <a:solidFill>
                <a:schemeClr val="tx2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00" dirty="0">
              <a:solidFill>
                <a:srgbClr val="C9EEFD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algn="l"/>
            <a:r>
              <a:rPr lang="en-US" sz="1100" b="1" dirty="0">
                <a:solidFill>
                  <a:srgbClr val="DEF8D7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Part 4. Collateral Instruments as Settlement Assets → </a:t>
            </a:r>
            <a:r>
              <a:rPr lang="en-US" sz="1100" i="1" dirty="0">
                <a:solidFill>
                  <a:srgbClr val="DEF8D7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Review of Financial Studies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DEF8D7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Repo-native money: smart contract designs for yield-bearing collateral tokens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DEF8D7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Stability &amp; efficiency analysis for </a:t>
            </a:r>
            <a:r>
              <a:rPr lang="en-US" sz="1100" dirty="0" err="1">
                <a:solidFill>
                  <a:srgbClr val="DEF8D7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tokenised</a:t>
            </a:r>
            <a:r>
              <a:rPr lang="en-US" sz="1100" dirty="0">
                <a:solidFill>
                  <a:srgbClr val="DEF8D7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en-US" sz="1100" dirty="0" err="1">
                <a:solidFill>
                  <a:srgbClr val="DEF8D7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colletaral</a:t>
            </a:r>
            <a:r>
              <a:rPr lang="en-US" sz="1100" dirty="0">
                <a:solidFill>
                  <a:srgbClr val="DEF8D7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 rehypothecation 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DEF8D7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Analysis of regulatory arbitrage and recommendations for markets, infrastructures &amp; policymakers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00" dirty="0">
              <a:solidFill>
                <a:srgbClr val="F2DFF7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algn="l"/>
            <a:r>
              <a:rPr lang="en-US" sz="1100" b="1" dirty="0">
                <a:solidFill>
                  <a:srgbClr val="F3F2CF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Part 5. Multi-Agent Systems </a:t>
            </a:r>
            <a:r>
              <a:rPr lang="en-US" sz="1100" b="1">
                <a:solidFill>
                  <a:srgbClr val="F3F2CF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for Intelligent </a:t>
            </a:r>
            <a:r>
              <a:rPr lang="en-US" sz="1100" b="1" dirty="0">
                <a:solidFill>
                  <a:srgbClr val="F3F2CF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Liquidity </a:t>
            </a:r>
            <a:r>
              <a:rPr lang="en-US" sz="1100" b="1" dirty="0" err="1">
                <a:solidFill>
                  <a:srgbClr val="F3F2CF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Optimisation</a:t>
            </a:r>
            <a:r>
              <a:rPr lang="en-US" sz="1100" b="1" dirty="0">
                <a:solidFill>
                  <a:srgbClr val="F3F2CF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→ </a:t>
            </a:r>
            <a:r>
              <a:rPr lang="en-US" sz="1100" i="1" dirty="0">
                <a:solidFill>
                  <a:srgbClr val="F3F2CF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Computational Economics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3F2CF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Build an multi-agent digital liquidity graph model for banks, funds, dealers, platforms, and users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3F2CF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Simulation and scenario analysis for evaluating multi-platform multi-asset liquidity architectures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3F2CF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Schemes as Code: smart contracts and oracles for automated scheme operation</a:t>
            </a:r>
          </a:p>
        </p:txBody>
      </p:sp>
    </p:spTree>
    <p:extLst>
      <p:ext uri="{BB962C8B-B14F-4D97-AF65-F5344CB8AC3E}">
        <p14:creationId xmlns:p14="http://schemas.microsoft.com/office/powerpoint/2010/main" val="3347084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2691</TotalTime>
  <Words>293</Words>
  <Application>Microsoft Macintosh PowerPoint</Application>
  <PresentationFormat>On-screen Show (4:3)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Dubai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Gerard Kelly</dc:creator>
  <cp:lastModifiedBy>Gerard Kelly</cp:lastModifiedBy>
  <cp:revision>5</cp:revision>
  <dcterms:created xsi:type="dcterms:W3CDTF">2025-11-14T03:16:41Z</dcterms:created>
  <dcterms:modified xsi:type="dcterms:W3CDTF">2025-11-18T04:53:04Z</dcterms:modified>
</cp:coreProperties>
</file>