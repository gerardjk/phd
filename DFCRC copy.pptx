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71" r:id="rId2"/>
    <p:sldId id="300" r:id="rId3"/>
    <p:sldId id="296" r:id="rId4"/>
    <p:sldId id="275" r:id="rId5"/>
    <p:sldId id="278" r:id="rId6"/>
    <p:sldId id="295" r:id="rId7"/>
    <p:sldId id="276" r:id="rId8"/>
    <p:sldId id="301" r:id="rId9"/>
    <p:sldId id="30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5115F"/>
    <a:srgbClr val="800000"/>
    <a:srgbClr val="592880"/>
    <a:srgbClr val="0432FF"/>
    <a:srgbClr val="EB0029"/>
    <a:srgbClr val="FF0000"/>
    <a:srgbClr val="FF2600"/>
    <a:srgbClr val="E0EFFF"/>
    <a:srgbClr val="8EFA00"/>
    <a:srgbClr val="FF7E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885"/>
    <p:restoredTop sz="95602"/>
  </p:normalViewPr>
  <p:slideViewPr>
    <p:cSldViewPr snapToGrid="0">
      <p:cViewPr varScale="1">
        <p:scale>
          <a:sx n="134" d="100"/>
          <a:sy n="134" d="100"/>
        </p:scale>
        <p:origin x="216" y="424"/>
      </p:cViewPr>
      <p:guideLst/>
    </p:cSldViewPr>
  </p:slideViewPr>
  <p:notesTextViewPr>
    <p:cViewPr>
      <p:scale>
        <a:sx n="50" d="100"/>
        <a:sy n="50" d="100"/>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2E0D2A"/>
              </a:solidFill>
              <a:ln w="19050">
                <a:solidFill>
                  <a:schemeClr val="lt1"/>
                </a:solidFill>
              </a:ln>
              <a:effectLst/>
            </c:spPr>
            <c:extLst>
              <c:ext xmlns:c16="http://schemas.microsoft.com/office/drawing/2014/chart" uri="{C3380CC4-5D6E-409C-BE32-E72D297353CC}">
                <c16:uniqueId val="{00000004-AE45-3F46-8FAA-E15D6A978EBA}"/>
              </c:ext>
            </c:extLst>
          </c:dPt>
          <c:dPt>
            <c:idx val="1"/>
            <c:bubble3D val="0"/>
            <c:spPr>
              <a:solidFill>
                <a:schemeClr val="accent5"/>
              </a:solidFill>
              <a:ln w="19050">
                <a:solidFill>
                  <a:schemeClr val="lt1"/>
                </a:solidFill>
              </a:ln>
              <a:effectLst/>
            </c:spPr>
            <c:extLst>
              <c:ext xmlns:c16="http://schemas.microsoft.com/office/drawing/2014/chart" uri="{C3380CC4-5D6E-409C-BE32-E72D297353CC}">
                <c16:uniqueId val="{00000005-AE45-3F46-8FAA-E15D6A978EBA}"/>
              </c:ext>
            </c:extLst>
          </c:dPt>
          <c:dPt>
            <c:idx val="2"/>
            <c:bubble3D val="0"/>
            <c:spPr>
              <a:solidFill>
                <a:srgbClr val="7030A0"/>
              </a:solidFill>
              <a:ln w="19050">
                <a:solidFill>
                  <a:schemeClr val="lt1"/>
                </a:solidFill>
              </a:ln>
              <a:effectLst/>
            </c:spPr>
            <c:extLst>
              <c:ext xmlns:c16="http://schemas.microsoft.com/office/drawing/2014/chart" uri="{C3380CC4-5D6E-409C-BE32-E72D297353CC}">
                <c16:uniqueId val="{00000003-AE45-3F46-8FAA-E15D6A978EBA}"/>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3410-A645-89C2-58B5A6ACD66C}"/>
              </c:ext>
            </c:extLst>
          </c:dPt>
          <c:cat>
            <c:strRef>
              <c:f>Sheet1!$A$2:$A$5</c:f>
              <c:strCache>
                <c:ptCount val="3"/>
                <c:pt idx="0">
                  <c:v>physical currency</c:v>
                </c:pt>
                <c:pt idx="1">
                  <c:v>Other</c:v>
                </c:pt>
                <c:pt idx="2">
                  <c:v>ES balances</c:v>
                </c:pt>
              </c:strCache>
            </c:strRef>
          </c:cat>
          <c:val>
            <c:numRef>
              <c:f>Sheet1!$B$2:$B$5</c:f>
              <c:numCache>
                <c:formatCode>0.00000000</c:formatCode>
                <c:ptCount val="4"/>
                <c:pt idx="0" formatCode="General">
                  <c:v>0.31567600862334466</c:v>
                </c:pt>
                <c:pt idx="1">
                  <c:v>7.0526639975361793E-2</c:v>
                </c:pt>
                <c:pt idx="2" formatCode="General">
                  <c:v>0.61379735140129354</c:v>
                </c:pt>
              </c:numCache>
            </c:numRef>
          </c:val>
          <c:extLst>
            <c:ext xmlns:c16="http://schemas.microsoft.com/office/drawing/2014/chart" uri="{C3380CC4-5D6E-409C-BE32-E72D297353CC}">
              <c16:uniqueId val="{00000000-AE45-3F46-8FAA-E15D6A978EBA}"/>
            </c:ext>
          </c:extLst>
        </c:ser>
        <c:dLbls>
          <c:showLegendKey val="0"/>
          <c:showVal val="0"/>
          <c:showCatName val="0"/>
          <c:showSerName val="0"/>
          <c:showPercent val="0"/>
          <c:showBubbleSize val="0"/>
          <c:showLeaderLines val="1"/>
        </c:dLbls>
        <c:firstSliceAng val="0"/>
        <c:holeSize val="63"/>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212E02-912E-AC4F-9716-4835BF787B0B}" type="datetimeFigureOut">
              <a:rPr lang="en-US" smtClean="0"/>
              <a:t>10/22/25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8CE805-276E-A841-B4D0-50CB6EE20A38}" type="slidenum">
              <a:rPr lang="en-US" smtClean="0"/>
              <a:t>‹#›</a:t>
            </a:fld>
            <a:endParaRPr lang="en-US"/>
          </a:p>
        </p:txBody>
      </p:sp>
    </p:spTree>
    <p:extLst>
      <p:ext uri="{BB962C8B-B14F-4D97-AF65-F5344CB8AC3E}">
        <p14:creationId xmlns:p14="http://schemas.microsoft.com/office/powerpoint/2010/main" val="1731939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8CE805-276E-A841-B4D0-50CB6EE20A38}" type="slidenum">
              <a:rPr lang="en-US" smtClean="0"/>
              <a:t>1</a:t>
            </a:fld>
            <a:endParaRPr lang="en-US"/>
          </a:p>
        </p:txBody>
      </p:sp>
    </p:spTree>
    <p:extLst>
      <p:ext uri="{BB962C8B-B14F-4D97-AF65-F5344CB8AC3E}">
        <p14:creationId xmlns:p14="http://schemas.microsoft.com/office/powerpoint/2010/main" val="14942249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F41C8-B6A6-3BB0-9E31-AD02A343BE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43A677-10E7-6AAB-89AE-6374140B44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BE369A-88A9-E24D-E281-E8D554A19B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ECDF54-8132-CADC-79C0-5821168E11EF}"/>
              </a:ext>
            </a:extLst>
          </p:cNvPr>
          <p:cNvSpPr>
            <a:spLocks noGrp="1"/>
          </p:cNvSpPr>
          <p:nvPr>
            <p:ph type="sldNum" sz="quarter" idx="5"/>
          </p:nvPr>
        </p:nvSpPr>
        <p:spPr/>
        <p:txBody>
          <a:bodyPr/>
          <a:lstStyle/>
          <a:p>
            <a:fld id="{C38CE805-276E-A841-B4D0-50CB6EE20A38}" type="slidenum">
              <a:rPr lang="en-US" smtClean="0"/>
              <a:t>3</a:t>
            </a:fld>
            <a:endParaRPr lang="en-US"/>
          </a:p>
        </p:txBody>
      </p:sp>
    </p:spTree>
    <p:extLst>
      <p:ext uri="{BB962C8B-B14F-4D97-AF65-F5344CB8AC3E}">
        <p14:creationId xmlns:p14="http://schemas.microsoft.com/office/powerpoint/2010/main" val="33544624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6FE7C-01B1-A110-9A59-060C767DA1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2BA7F0-010F-6373-D60F-CB2DDB4867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A85455-7B87-D6A5-0CAB-B6C8060C2E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E8FDB5-5A7C-5AC1-6C11-9EAABFA799C6}"/>
              </a:ext>
            </a:extLst>
          </p:cNvPr>
          <p:cNvSpPr>
            <a:spLocks noGrp="1"/>
          </p:cNvSpPr>
          <p:nvPr>
            <p:ph type="sldNum" sz="quarter" idx="5"/>
          </p:nvPr>
        </p:nvSpPr>
        <p:spPr/>
        <p:txBody>
          <a:bodyPr/>
          <a:lstStyle/>
          <a:p>
            <a:fld id="{C38CE805-276E-A841-B4D0-50CB6EE20A38}" type="slidenum">
              <a:rPr lang="en-US" smtClean="0"/>
              <a:t>4</a:t>
            </a:fld>
            <a:endParaRPr lang="en-US"/>
          </a:p>
        </p:txBody>
      </p:sp>
    </p:spTree>
    <p:extLst>
      <p:ext uri="{BB962C8B-B14F-4D97-AF65-F5344CB8AC3E}">
        <p14:creationId xmlns:p14="http://schemas.microsoft.com/office/powerpoint/2010/main" val="28776717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E53FF-0E8A-1814-1883-783533B081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B6B9EA-9157-07A9-FC88-190206C2ED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4B48F-C925-07E4-B005-723FC2CB1F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4D9B29-9306-430C-B338-1201BCA23F8E}"/>
              </a:ext>
            </a:extLst>
          </p:cNvPr>
          <p:cNvSpPr>
            <a:spLocks noGrp="1"/>
          </p:cNvSpPr>
          <p:nvPr>
            <p:ph type="sldNum" sz="quarter" idx="5"/>
          </p:nvPr>
        </p:nvSpPr>
        <p:spPr/>
        <p:txBody>
          <a:bodyPr/>
          <a:lstStyle/>
          <a:p>
            <a:fld id="{C38CE805-276E-A841-B4D0-50CB6EE20A38}" type="slidenum">
              <a:rPr lang="en-US" smtClean="0"/>
              <a:t>5</a:t>
            </a:fld>
            <a:endParaRPr lang="en-US"/>
          </a:p>
        </p:txBody>
      </p:sp>
    </p:spTree>
    <p:extLst>
      <p:ext uri="{BB962C8B-B14F-4D97-AF65-F5344CB8AC3E}">
        <p14:creationId xmlns:p14="http://schemas.microsoft.com/office/powerpoint/2010/main" val="23288071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6BDA7-3EFB-F15A-7581-23B774E8DD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6BCCF7-BE9F-D3B3-51EC-F9E511A350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850534-912F-5801-A301-168AD9F401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FF2065-5B46-4760-87D8-568FC2420D62}"/>
              </a:ext>
            </a:extLst>
          </p:cNvPr>
          <p:cNvSpPr>
            <a:spLocks noGrp="1"/>
          </p:cNvSpPr>
          <p:nvPr>
            <p:ph type="sldNum" sz="quarter" idx="5"/>
          </p:nvPr>
        </p:nvSpPr>
        <p:spPr/>
        <p:txBody>
          <a:bodyPr/>
          <a:lstStyle/>
          <a:p>
            <a:fld id="{C38CE805-276E-A841-B4D0-50CB6EE20A38}" type="slidenum">
              <a:rPr lang="en-US" smtClean="0"/>
              <a:t>6</a:t>
            </a:fld>
            <a:endParaRPr lang="en-US"/>
          </a:p>
        </p:txBody>
      </p:sp>
    </p:spTree>
    <p:extLst>
      <p:ext uri="{BB962C8B-B14F-4D97-AF65-F5344CB8AC3E}">
        <p14:creationId xmlns:p14="http://schemas.microsoft.com/office/powerpoint/2010/main" val="27526180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02345-ABB7-0DF5-EFC3-B204D7F502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3CEC07-22E0-B096-4B2F-F0A9BA9AF8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8557C8-BE62-BB78-F328-1F85EE127C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9D51BB-41CF-2ED5-45A7-9D3C7B62A02F}"/>
              </a:ext>
            </a:extLst>
          </p:cNvPr>
          <p:cNvSpPr>
            <a:spLocks noGrp="1"/>
          </p:cNvSpPr>
          <p:nvPr>
            <p:ph type="sldNum" sz="quarter" idx="5"/>
          </p:nvPr>
        </p:nvSpPr>
        <p:spPr/>
        <p:txBody>
          <a:bodyPr/>
          <a:lstStyle/>
          <a:p>
            <a:fld id="{C38CE805-276E-A841-B4D0-50CB6EE20A38}" type="slidenum">
              <a:rPr lang="en-US" smtClean="0"/>
              <a:t>7</a:t>
            </a:fld>
            <a:endParaRPr lang="en-US"/>
          </a:p>
        </p:txBody>
      </p:sp>
    </p:spTree>
    <p:extLst>
      <p:ext uri="{BB962C8B-B14F-4D97-AF65-F5344CB8AC3E}">
        <p14:creationId xmlns:p14="http://schemas.microsoft.com/office/powerpoint/2010/main" val="4570799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877A6-456F-6A72-1879-2B4C93EDB0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E92D2B-84A7-6974-7409-4A7E4A881D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C1C695-6A17-3832-1565-BD5113CE60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026D0B-2D70-4E06-9BC0-5BB308C29160}"/>
              </a:ext>
            </a:extLst>
          </p:cNvPr>
          <p:cNvSpPr>
            <a:spLocks noGrp="1"/>
          </p:cNvSpPr>
          <p:nvPr>
            <p:ph type="sldNum" sz="quarter" idx="5"/>
          </p:nvPr>
        </p:nvSpPr>
        <p:spPr/>
        <p:txBody>
          <a:bodyPr/>
          <a:lstStyle/>
          <a:p>
            <a:fld id="{C38CE805-276E-A841-B4D0-50CB6EE20A38}" type="slidenum">
              <a:rPr lang="en-US" smtClean="0"/>
              <a:t>8</a:t>
            </a:fld>
            <a:endParaRPr lang="en-US"/>
          </a:p>
        </p:txBody>
      </p:sp>
    </p:spTree>
    <p:extLst>
      <p:ext uri="{BB962C8B-B14F-4D97-AF65-F5344CB8AC3E}">
        <p14:creationId xmlns:p14="http://schemas.microsoft.com/office/powerpoint/2010/main" val="35288587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877A6-456F-6A72-1879-2B4C93EDB0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E92D2B-84A7-6974-7409-4A7E4A881D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C1C695-6A17-3832-1565-BD5113CE60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026D0B-2D70-4E06-9BC0-5BB308C29160}"/>
              </a:ext>
            </a:extLst>
          </p:cNvPr>
          <p:cNvSpPr>
            <a:spLocks noGrp="1"/>
          </p:cNvSpPr>
          <p:nvPr>
            <p:ph type="sldNum" sz="quarter" idx="5"/>
          </p:nvPr>
        </p:nvSpPr>
        <p:spPr/>
        <p:txBody>
          <a:bodyPr/>
          <a:lstStyle/>
          <a:p>
            <a:fld id="{C38CE805-276E-A841-B4D0-50CB6EE20A38}" type="slidenum">
              <a:rPr lang="en-US" smtClean="0"/>
              <a:t>9</a:t>
            </a:fld>
            <a:endParaRPr lang="en-US"/>
          </a:p>
        </p:txBody>
      </p:sp>
    </p:spTree>
    <p:extLst>
      <p:ext uri="{BB962C8B-B14F-4D97-AF65-F5344CB8AC3E}">
        <p14:creationId xmlns:p14="http://schemas.microsoft.com/office/powerpoint/2010/main" val="34962378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BDD79-476B-2F08-845F-90834EC421F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33A32919-D537-E5B9-F372-3B1EDCFD1E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3DD689ED-5A6A-8097-22C6-8D999F696534}"/>
              </a:ext>
            </a:extLst>
          </p:cNvPr>
          <p:cNvSpPr>
            <a:spLocks noGrp="1"/>
          </p:cNvSpPr>
          <p:nvPr>
            <p:ph type="dt" sz="half" idx="10"/>
          </p:nvPr>
        </p:nvSpPr>
        <p:spPr/>
        <p:txBody>
          <a:bodyPr/>
          <a:lstStyle/>
          <a:p>
            <a:fld id="{031E8282-EAC7-3C47-967D-D807466BAEA2}" type="datetimeFigureOut">
              <a:rPr lang="en-US" smtClean="0"/>
              <a:t>10/22/25</a:t>
            </a:fld>
            <a:endParaRPr lang="en-US"/>
          </a:p>
        </p:txBody>
      </p:sp>
      <p:sp>
        <p:nvSpPr>
          <p:cNvPr id="5" name="Footer Placeholder 4">
            <a:extLst>
              <a:ext uri="{FF2B5EF4-FFF2-40B4-BE49-F238E27FC236}">
                <a16:creationId xmlns:a16="http://schemas.microsoft.com/office/drawing/2014/main" id="{4C1FE0D7-B673-B282-DD2D-3DA263B708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EF68B7-0F2B-215F-ECF1-9180E956D5F0}"/>
              </a:ext>
            </a:extLst>
          </p:cNvPr>
          <p:cNvSpPr>
            <a:spLocks noGrp="1"/>
          </p:cNvSpPr>
          <p:nvPr>
            <p:ph type="sldNum" sz="quarter" idx="12"/>
          </p:nvPr>
        </p:nvSpPr>
        <p:spPr/>
        <p:txBody>
          <a:bodyPr/>
          <a:lstStyle/>
          <a:p>
            <a:fld id="{30A8824A-C058-484A-ACAB-F867FCB7BB59}" type="slidenum">
              <a:rPr lang="en-US" smtClean="0"/>
              <a:t>‹#›</a:t>
            </a:fld>
            <a:endParaRPr lang="en-US"/>
          </a:p>
        </p:txBody>
      </p:sp>
    </p:spTree>
    <p:extLst>
      <p:ext uri="{BB962C8B-B14F-4D97-AF65-F5344CB8AC3E}">
        <p14:creationId xmlns:p14="http://schemas.microsoft.com/office/powerpoint/2010/main" val="23417159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C5E38-C690-EFC2-8225-C73D2D5D699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7A74C87-E1D8-9B8A-FDFB-69B4AD49ED9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8247A34-3453-8B59-8A50-C7D86FCAEBD2}"/>
              </a:ext>
            </a:extLst>
          </p:cNvPr>
          <p:cNvSpPr>
            <a:spLocks noGrp="1"/>
          </p:cNvSpPr>
          <p:nvPr>
            <p:ph type="dt" sz="half" idx="10"/>
          </p:nvPr>
        </p:nvSpPr>
        <p:spPr/>
        <p:txBody>
          <a:bodyPr/>
          <a:lstStyle/>
          <a:p>
            <a:fld id="{031E8282-EAC7-3C47-967D-D807466BAEA2}" type="datetimeFigureOut">
              <a:rPr lang="en-US" smtClean="0"/>
              <a:t>10/22/25</a:t>
            </a:fld>
            <a:endParaRPr lang="en-US"/>
          </a:p>
        </p:txBody>
      </p:sp>
      <p:sp>
        <p:nvSpPr>
          <p:cNvPr id="5" name="Footer Placeholder 4">
            <a:extLst>
              <a:ext uri="{FF2B5EF4-FFF2-40B4-BE49-F238E27FC236}">
                <a16:creationId xmlns:a16="http://schemas.microsoft.com/office/drawing/2014/main" id="{5B5D47AF-8750-B5B8-F782-2E5461CC52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DA328C-190B-C674-0F77-25467B49A6B5}"/>
              </a:ext>
            </a:extLst>
          </p:cNvPr>
          <p:cNvSpPr>
            <a:spLocks noGrp="1"/>
          </p:cNvSpPr>
          <p:nvPr>
            <p:ph type="sldNum" sz="quarter" idx="12"/>
          </p:nvPr>
        </p:nvSpPr>
        <p:spPr/>
        <p:txBody>
          <a:bodyPr/>
          <a:lstStyle/>
          <a:p>
            <a:fld id="{30A8824A-C058-484A-ACAB-F867FCB7BB59}" type="slidenum">
              <a:rPr lang="en-US" smtClean="0"/>
              <a:t>‹#›</a:t>
            </a:fld>
            <a:endParaRPr lang="en-US"/>
          </a:p>
        </p:txBody>
      </p:sp>
    </p:spTree>
    <p:extLst>
      <p:ext uri="{BB962C8B-B14F-4D97-AF65-F5344CB8AC3E}">
        <p14:creationId xmlns:p14="http://schemas.microsoft.com/office/powerpoint/2010/main" val="2478550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E8A7F-B67D-F0EF-5D34-FCBD11AA326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FEBD007E-A0F1-A24B-E04F-80A4674337E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69BE3EA-368B-3C19-274A-EF5F475EAEF1}"/>
              </a:ext>
            </a:extLst>
          </p:cNvPr>
          <p:cNvSpPr>
            <a:spLocks noGrp="1"/>
          </p:cNvSpPr>
          <p:nvPr>
            <p:ph type="dt" sz="half" idx="10"/>
          </p:nvPr>
        </p:nvSpPr>
        <p:spPr/>
        <p:txBody>
          <a:bodyPr/>
          <a:lstStyle/>
          <a:p>
            <a:fld id="{031E8282-EAC7-3C47-967D-D807466BAEA2}" type="datetimeFigureOut">
              <a:rPr lang="en-US" smtClean="0"/>
              <a:t>10/22/25</a:t>
            </a:fld>
            <a:endParaRPr lang="en-US"/>
          </a:p>
        </p:txBody>
      </p:sp>
      <p:sp>
        <p:nvSpPr>
          <p:cNvPr id="5" name="Footer Placeholder 4">
            <a:extLst>
              <a:ext uri="{FF2B5EF4-FFF2-40B4-BE49-F238E27FC236}">
                <a16:creationId xmlns:a16="http://schemas.microsoft.com/office/drawing/2014/main" id="{8524947A-9DD9-0ED0-571F-84AA781301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556187-8251-1E13-E14C-A405C6030F28}"/>
              </a:ext>
            </a:extLst>
          </p:cNvPr>
          <p:cNvSpPr>
            <a:spLocks noGrp="1"/>
          </p:cNvSpPr>
          <p:nvPr>
            <p:ph type="sldNum" sz="quarter" idx="12"/>
          </p:nvPr>
        </p:nvSpPr>
        <p:spPr/>
        <p:txBody>
          <a:bodyPr/>
          <a:lstStyle/>
          <a:p>
            <a:fld id="{30A8824A-C058-484A-ACAB-F867FCB7BB59}" type="slidenum">
              <a:rPr lang="en-US" smtClean="0"/>
              <a:t>‹#›</a:t>
            </a:fld>
            <a:endParaRPr lang="en-US"/>
          </a:p>
        </p:txBody>
      </p:sp>
    </p:spTree>
    <p:extLst>
      <p:ext uri="{BB962C8B-B14F-4D97-AF65-F5344CB8AC3E}">
        <p14:creationId xmlns:p14="http://schemas.microsoft.com/office/powerpoint/2010/main" val="3060583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02434-41A2-88E4-A6B8-34F79AB89995}"/>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FD3F986-D812-FB70-5727-D8880C168C0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C7237C7-ECE9-2BAF-6766-2D3C8156765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C2392BA-A7BE-0B26-A5BA-BFB29441159A}"/>
              </a:ext>
            </a:extLst>
          </p:cNvPr>
          <p:cNvSpPr>
            <a:spLocks noGrp="1"/>
          </p:cNvSpPr>
          <p:nvPr>
            <p:ph type="dt" sz="half" idx="10"/>
          </p:nvPr>
        </p:nvSpPr>
        <p:spPr/>
        <p:txBody>
          <a:bodyPr/>
          <a:lstStyle/>
          <a:p>
            <a:fld id="{031E8282-EAC7-3C47-967D-D807466BAEA2}" type="datetimeFigureOut">
              <a:rPr lang="en-US" smtClean="0"/>
              <a:t>10/22/25</a:t>
            </a:fld>
            <a:endParaRPr lang="en-US"/>
          </a:p>
        </p:txBody>
      </p:sp>
      <p:sp>
        <p:nvSpPr>
          <p:cNvPr id="6" name="Footer Placeholder 5">
            <a:extLst>
              <a:ext uri="{FF2B5EF4-FFF2-40B4-BE49-F238E27FC236}">
                <a16:creationId xmlns:a16="http://schemas.microsoft.com/office/drawing/2014/main" id="{A47676C9-B328-3801-3305-281C503A5E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CA5F92-720B-4FB8-B0BC-66B27A44F167}"/>
              </a:ext>
            </a:extLst>
          </p:cNvPr>
          <p:cNvSpPr>
            <a:spLocks noGrp="1"/>
          </p:cNvSpPr>
          <p:nvPr>
            <p:ph type="sldNum" sz="quarter" idx="12"/>
          </p:nvPr>
        </p:nvSpPr>
        <p:spPr/>
        <p:txBody>
          <a:bodyPr/>
          <a:lstStyle/>
          <a:p>
            <a:fld id="{30A8824A-C058-484A-ACAB-F867FCB7BB59}" type="slidenum">
              <a:rPr lang="en-US" smtClean="0"/>
              <a:t>‹#›</a:t>
            </a:fld>
            <a:endParaRPr lang="en-US"/>
          </a:p>
        </p:txBody>
      </p:sp>
    </p:spTree>
    <p:extLst>
      <p:ext uri="{BB962C8B-B14F-4D97-AF65-F5344CB8AC3E}">
        <p14:creationId xmlns:p14="http://schemas.microsoft.com/office/powerpoint/2010/main" val="4112403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93DAC-8E95-D499-AC07-66AA0602344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B5CA9BA-678B-B673-3C41-D7AE2F3F9F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DBB100D-596D-A501-9648-B1413826ED6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9B3E6F7-85E4-60E1-8253-E3109E9FAC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59F18AE-E9A9-39EB-3A2A-98DD5DA6EAE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4DCCB20-C621-16F3-1451-9C8136456722}"/>
              </a:ext>
            </a:extLst>
          </p:cNvPr>
          <p:cNvSpPr>
            <a:spLocks noGrp="1"/>
          </p:cNvSpPr>
          <p:nvPr>
            <p:ph type="dt" sz="half" idx="10"/>
          </p:nvPr>
        </p:nvSpPr>
        <p:spPr/>
        <p:txBody>
          <a:bodyPr/>
          <a:lstStyle/>
          <a:p>
            <a:fld id="{031E8282-EAC7-3C47-967D-D807466BAEA2}" type="datetimeFigureOut">
              <a:rPr lang="en-US" smtClean="0"/>
              <a:t>10/22/25</a:t>
            </a:fld>
            <a:endParaRPr lang="en-US"/>
          </a:p>
        </p:txBody>
      </p:sp>
      <p:sp>
        <p:nvSpPr>
          <p:cNvPr id="8" name="Footer Placeholder 7">
            <a:extLst>
              <a:ext uri="{FF2B5EF4-FFF2-40B4-BE49-F238E27FC236}">
                <a16:creationId xmlns:a16="http://schemas.microsoft.com/office/drawing/2014/main" id="{B925BDB2-D54A-98ED-586C-6A9110D547E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8248CCC-4234-89EE-8E14-64CD68042A03}"/>
              </a:ext>
            </a:extLst>
          </p:cNvPr>
          <p:cNvSpPr>
            <a:spLocks noGrp="1"/>
          </p:cNvSpPr>
          <p:nvPr>
            <p:ph type="sldNum" sz="quarter" idx="12"/>
          </p:nvPr>
        </p:nvSpPr>
        <p:spPr/>
        <p:txBody>
          <a:bodyPr/>
          <a:lstStyle/>
          <a:p>
            <a:fld id="{30A8824A-C058-484A-ACAB-F867FCB7BB59}" type="slidenum">
              <a:rPr lang="en-US" smtClean="0"/>
              <a:t>‹#›</a:t>
            </a:fld>
            <a:endParaRPr lang="en-US"/>
          </a:p>
        </p:txBody>
      </p:sp>
    </p:spTree>
    <p:extLst>
      <p:ext uri="{BB962C8B-B14F-4D97-AF65-F5344CB8AC3E}">
        <p14:creationId xmlns:p14="http://schemas.microsoft.com/office/powerpoint/2010/main" val="32073987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990A5-13D8-836A-FABD-3D3E65D8C117}"/>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A6E94FB1-8D2B-0501-A269-61DE5B903A35}"/>
              </a:ext>
            </a:extLst>
          </p:cNvPr>
          <p:cNvSpPr>
            <a:spLocks noGrp="1"/>
          </p:cNvSpPr>
          <p:nvPr>
            <p:ph type="dt" sz="half" idx="10"/>
          </p:nvPr>
        </p:nvSpPr>
        <p:spPr/>
        <p:txBody>
          <a:bodyPr/>
          <a:lstStyle/>
          <a:p>
            <a:fld id="{031E8282-EAC7-3C47-967D-D807466BAEA2}" type="datetimeFigureOut">
              <a:rPr lang="en-US" smtClean="0"/>
              <a:t>10/22/25</a:t>
            </a:fld>
            <a:endParaRPr lang="en-US"/>
          </a:p>
        </p:txBody>
      </p:sp>
      <p:sp>
        <p:nvSpPr>
          <p:cNvPr id="4" name="Footer Placeholder 3">
            <a:extLst>
              <a:ext uri="{FF2B5EF4-FFF2-40B4-BE49-F238E27FC236}">
                <a16:creationId xmlns:a16="http://schemas.microsoft.com/office/drawing/2014/main" id="{C76E6B5E-9DAF-C93B-1A49-390C3A2EF87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469292F-1857-2C74-381E-D0DFDF33A268}"/>
              </a:ext>
            </a:extLst>
          </p:cNvPr>
          <p:cNvSpPr>
            <a:spLocks noGrp="1"/>
          </p:cNvSpPr>
          <p:nvPr>
            <p:ph type="sldNum" sz="quarter" idx="12"/>
          </p:nvPr>
        </p:nvSpPr>
        <p:spPr/>
        <p:txBody>
          <a:bodyPr/>
          <a:lstStyle/>
          <a:p>
            <a:fld id="{30A8824A-C058-484A-ACAB-F867FCB7BB59}" type="slidenum">
              <a:rPr lang="en-US" smtClean="0"/>
              <a:t>‹#›</a:t>
            </a:fld>
            <a:endParaRPr lang="en-US"/>
          </a:p>
        </p:txBody>
      </p:sp>
    </p:spTree>
    <p:extLst>
      <p:ext uri="{BB962C8B-B14F-4D97-AF65-F5344CB8AC3E}">
        <p14:creationId xmlns:p14="http://schemas.microsoft.com/office/powerpoint/2010/main" val="36285156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1A033A-3587-5F13-F565-60DE364AE330}"/>
              </a:ext>
            </a:extLst>
          </p:cNvPr>
          <p:cNvSpPr>
            <a:spLocks noGrp="1"/>
          </p:cNvSpPr>
          <p:nvPr>
            <p:ph type="dt" sz="half" idx="10"/>
          </p:nvPr>
        </p:nvSpPr>
        <p:spPr/>
        <p:txBody>
          <a:bodyPr/>
          <a:lstStyle/>
          <a:p>
            <a:fld id="{031E8282-EAC7-3C47-967D-D807466BAEA2}" type="datetimeFigureOut">
              <a:rPr lang="en-US" smtClean="0"/>
              <a:t>10/22/25</a:t>
            </a:fld>
            <a:endParaRPr lang="en-US"/>
          </a:p>
        </p:txBody>
      </p:sp>
      <p:sp>
        <p:nvSpPr>
          <p:cNvPr id="3" name="Footer Placeholder 2">
            <a:extLst>
              <a:ext uri="{FF2B5EF4-FFF2-40B4-BE49-F238E27FC236}">
                <a16:creationId xmlns:a16="http://schemas.microsoft.com/office/drawing/2014/main" id="{8433AB69-B9A3-9D32-7616-C5A6FC79A8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5116ABE-AED8-7635-B1A5-23A620CBB39E}"/>
              </a:ext>
            </a:extLst>
          </p:cNvPr>
          <p:cNvSpPr>
            <a:spLocks noGrp="1"/>
          </p:cNvSpPr>
          <p:nvPr>
            <p:ph type="sldNum" sz="quarter" idx="12"/>
          </p:nvPr>
        </p:nvSpPr>
        <p:spPr/>
        <p:txBody>
          <a:bodyPr/>
          <a:lstStyle/>
          <a:p>
            <a:fld id="{30A8824A-C058-484A-ACAB-F867FCB7BB59}" type="slidenum">
              <a:rPr lang="en-US" smtClean="0"/>
              <a:t>‹#›</a:t>
            </a:fld>
            <a:endParaRPr lang="en-US"/>
          </a:p>
        </p:txBody>
      </p:sp>
    </p:spTree>
    <p:extLst>
      <p:ext uri="{BB962C8B-B14F-4D97-AF65-F5344CB8AC3E}">
        <p14:creationId xmlns:p14="http://schemas.microsoft.com/office/powerpoint/2010/main" val="1756336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701A1-88F3-585C-C513-B3F7DA85D05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F9B9F677-3FFC-EE3C-BE48-FCA176D66B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CA7172DB-DF60-70D1-3D9D-638C7C59EB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62B9AC4-BA86-6526-D2FD-43D3635163E4}"/>
              </a:ext>
            </a:extLst>
          </p:cNvPr>
          <p:cNvSpPr>
            <a:spLocks noGrp="1"/>
          </p:cNvSpPr>
          <p:nvPr>
            <p:ph type="dt" sz="half" idx="10"/>
          </p:nvPr>
        </p:nvSpPr>
        <p:spPr/>
        <p:txBody>
          <a:bodyPr/>
          <a:lstStyle/>
          <a:p>
            <a:fld id="{031E8282-EAC7-3C47-967D-D807466BAEA2}" type="datetimeFigureOut">
              <a:rPr lang="en-US" smtClean="0"/>
              <a:t>10/22/25</a:t>
            </a:fld>
            <a:endParaRPr lang="en-US"/>
          </a:p>
        </p:txBody>
      </p:sp>
      <p:sp>
        <p:nvSpPr>
          <p:cNvPr id="6" name="Footer Placeholder 5">
            <a:extLst>
              <a:ext uri="{FF2B5EF4-FFF2-40B4-BE49-F238E27FC236}">
                <a16:creationId xmlns:a16="http://schemas.microsoft.com/office/drawing/2014/main" id="{BB23C6B7-EE5E-1EFB-D9B4-E8AC627689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3FE260-5424-98F4-D28E-6A6F3B416FF4}"/>
              </a:ext>
            </a:extLst>
          </p:cNvPr>
          <p:cNvSpPr>
            <a:spLocks noGrp="1"/>
          </p:cNvSpPr>
          <p:nvPr>
            <p:ph type="sldNum" sz="quarter" idx="12"/>
          </p:nvPr>
        </p:nvSpPr>
        <p:spPr/>
        <p:txBody>
          <a:bodyPr/>
          <a:lstStyle/>
          <a:p>
            <a:fld id="{30A8824A-C058-484A-ACAB-F867FCB7BB59}" type="slidenum">
              <a:rPr lang="en-US" smtClean="0"/>
              <a:t>‹#›</a:t>
            </a:fld>
            <a:endParaRPr lang="en-US"/>
          </a:p>
        </p:txBody>
      </p:sp>
    </p:spTree>
    <p:extLst>
      <p:ext uri="{BB962C8B-B14F-4D97-AF65-F5344CB8AC3E}">
        <p14:creationId xmlns:p14="http://schemas.microsoft.com/office/powerpoint/2010/main" val="13634997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E9298-CD25-4F87-E7A5-68F7725A045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965BF89E-F703-A44B-0F54-D74A7DC435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51CBAEB-4263-62BA-7C7A-62E494DDFE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F914E56-D1AD-5AB4-AFDF-6D776C454451}"/>
              </a:ext>
            </a:extLst>
          </p:cNvPr>
          <p:cNvSpPr>
            <a:spLocks noGrp="1"/>
          </p:cNvSpPr>
          <p:nvPr>
            <p:ph type="dt" sz="half" idx="10"/>
          </p:nvPr>
        </p:nvSpPr>
        <p:spPr/>
        <p:txBody>
          <a:bodyPr/>
          <a:lstStyle/>
          <a:p>
            <a:fld id="{031E8282-EAC7-3C47-967D-D807466BAEA2}" type="datetimeFigureOut">
              <a:rPr lang="en-US" smtClean="0"/>
              <a:t>10/22/25</a:t>
            </a:fld>
            <a:endParaRPr lang="en-US"/>
          </a:p>
        </p:txBody>
      </p:sp>
      <p:sp>
        <p:nvSpPr>
          <p:cNvPr id="6" name="Footer Placeholder 5">
            <a:extLst>
              <a:ext uri="{FF2B5EF4-FFF2-40B4-BE49-F238E27FC236}">
                <a16:creationId xmlns:a16="http://schemas.microsoft.com/office/drawing/2014/main" id="{4A65A6F6-661D-6179-683A-19D519DC23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310E65-D7B8-A280-9FD0-BC081504778A}"/>
              </a:ext>
            </a:extLst>
          </p:cNvPr>
          <p:cNvSpPr>
            <a:spLocks noGrp="1"/>
          </p:cNvSpPr>
          <p:nvPr>
            <p:ph type="sldNum" sz="quarter" idx="12"/>
          </p:nvPr>
        </p:nvSpPr>
        <p:spPr/>
        <p:txBody>
          <a:bodyPr/>
          <a:lstStyle/>
          <a:p>
            <a:fld id="{30A8824A-C058-484A-ACAB-F867FCB7BB59}" type="slidenum">
              <a:rPr lang="en-US" smtClean="0"/>
              <a:t>‹#›</a:t>
            </a:fld>
            <a:endParaRPr lang="en-US"/>
          </a:p>
        </p:txBody>
      </p:sp>
    </p:spTree>
    <p:extLst>
      <p:ext uri="{BB962C8B-B14F-4D97-AF65-F5344CB8AC3E}">
        <p14:creationId xmlns:p14="http://schemas.microsoft.com/office/powerpoint/2010/main" val="2870453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C8C3C-7A73-33FB-4DD1-CEDC47810ADD}"/>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2D1E45E-4059-A4F7-1ADE-115464D81DB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E8A71BB-3835-9EE6-DEEB-A43815AEB258}"/>
              </a:ext>
            </a:extLst>
          </p:cNvPr>
          <p:cNvSpPr>
            <a:spLocks noGrp="1"/>
          </p:cNvSpPr>
          <p:nvPr>
            <p:ph type="dt" sz="half" idx="10"/>
          </p:nvPr>
        </p:nvSpPr>
        <p:spPr/>
        <p:txBody>
          <a:bodyPr/>
          <a:lstStyle/>
          <a:p>
            <a:fld id="{031E8282-EAC7-3C47-967D-D807466BAEA2}" type="datetimeFigureOut">
              <a:rPr lang="en-US" smtClean="0"/>
              <a:t>10/22/25</a:t>
            </a:fld>
            <a:endParaRPr lang="en-US"/>
          </a:p>
        </p:txBody>
      </p:sp>
      <p:sp>
        <p:nvSpPr>
          <p:cNvPr id="5" name="Footer Placeholder 4">
            <a:extLst>
              <a:ext uri="{FF2B5EF4-FFF2-40B4-BE49-F238E27FC236}">
                <a16:creationId xmlns:a16="http://schemas.microsoft.com/office/drawing/2014/main" id="{270ECE17-7851-81FE-9936-8741BD1FA5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0455E2-AB1E-9956-EE86-9BAA6B3AFE51}"/>
              </a:ext>
            </a:extLst>
          </p:cNvPr>
          <p:cNvSpPr>
            <a:spLocks noGrp="1"/>
          </p:cNvSpPr>
          <p:nvPr>
            <p:ph type="sldNum" sz="quarter" idx="12"/>
          </p:nvPr>
        </p:nvSpPr>
        <p:spPr/>
        <p:txBody>
          <a:bodyPr/>
          <a:lstStyle/>
          <a:p>
            <a:fld id="{30A8824A-C058-484A-ACAB-F867FCB7BB59}" type="slidenum">
              <a:rPr lang="en-US" smtClean="0"/>
              <a:t>‹#›</a:t>
            </a:fld>
            <a:endParaRPr lang="en-US"/>
          </a:p>
        </p:txBody>
      </p:sp>
    </p:spTree>
    <p:extLst>
      <p:ext uri="{BB962C8B-B14F-4D97-AF65-F5344CB8AC3E}">
        <p14:creationId xmlns:p14="http://schemas.microsoft.com/office/powerpoint/2010/main" val="2467940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A64670-E198-4218-2D8B-7A564A08AEF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0D4142F-647B-84FF-C431-2DE74DE8787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6DCD27F-8986-50BA-7542-17ECFBD04B07}"/>
              </a:ext>
            </a:extLst>
          </p:cNvPr>
          <p:cNvSpPr>
            <a:spLocks noGrp="1"/>
          </p:cNvSpPr>
          <p:nvPr>
            <p:ph type="dt" sz="half" idx="10"/>
          </p:nvPr>
        </p:nvSpPr>
        <p:spPr/>
        <p:txBody>
          <a:bodyPr/>
          <a:lstStyle/>
          <a:p>
            <a:fld id="{031E8282-EAC7-3C47-967D-D807466BAEA2}" type="datetimeFigureOut">
              <a:rPr lang="en-US" smtClean="0"/>
              <a:t>10/22/25</a:t>
            </a:fld>
            <a:endParaRPr lang="en-US"/>
          </a:p>
        </p:txBody>
      </p:sp>
      <p:sp>
        <p:nvSpPr>
          <p:cNvPr id="5" name="Footer Placeholder 4">
            <a:extLst>
              <a:ext uri="{FF2B5EF4-FFF2-40B4-BE49-F238E27FC236}">
                <a16:creationId xmlns:a16="http://schemas.microsoft.com/office/drawing/2014/main" id="{FE70E8ED-CCBB-08D8-4C14-84E2CD6692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A66FA9-538C-93A2-112E-E324B6C022DE}"/>
              </a:ext>
            </a:extLst>
          </p:cNvPr>
          <p:cNvSpPr>
            <a:spLocks noGrp="1"/>
          </p:cNvSpPr>
          <p:nvPr>
            <p:ph type="sldNum" sz="quarter" idx="12"/>
          </p:nvPr>
        </p:nvSpPr>
        <p:spPr/>
        <p:txBody>
          <a:bodyPr/>
          <a:lstStyle/>
          <a:p>
            <a:fld id="{30A8824A-C058-484A-ACAB-F867FCB7BB59}" type="slidenum">
              <a:rPr lang="en-US" smtClean="0"/>
              <a:t>‹#›</a:t>
            </a:fld>
            <a:endParaRPr lang="en-US"/>
          </a:p>
        </p:txBody>
      </p:sp>
    </p:spTree>
    <p:extLst>
      <p:ext uri="{BB962C8B-B14F-4D97-AF65-F5344CB8AC3E}">
        <p14:creationId xmlns:p14="http://schemas.microsoft.com/office/powerpoint/2010/main" val="994824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14BEC2-F9E4-0A5C-8FA1-4FDDE6411D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9724977-18F3-8A7B-B093-41E587E753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008AD1-37E1-6CE7-CCF4-1A5486D9E0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1E8282-EAC7-3C47-967D-D807466BAEA2}" type="datetimeFigureOut">
              <a:rPr lang="en-US" smtClean="0"/>
              <a:t>10/22/25</a:t>
            </a:fld>
            <a:endParaRPr lang="en-US"/>
          </a:p>
        </p:txBody>
      </p:sp>
      <p:sp>
        <p:nvSpPr>
          <p:cNvPr id="5" name="Footer Placeholder 4">
            <a:extLst>
              <a:ext uri="{FF2B5EF4-FFF2-40B4-BE49-F238E27FC236}">
                <a16:creationId xmlns:a16="http://schemas.microsoft.com/office/drawing/2014/main" id="{D3406A4E-3258-AD73-091B-1D27788FBC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98DCA21-1227-1F0D-2667-891869D1FE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0A8824A-C058-484A-ACAB-F867FCB7BB59}" type="slidenum">
              <a:rPr lang="en-US" smtClean="0"/>
              <a:t>‹#›</a:t>
            </a:fld>
            <a:endParaRPr lang="en-US"/>
          </a:p>
        </p:txBody>
      </p:sp>
    </p:spTree>
    <p:extLst>
      <p:ext uri="{BB962C8B-B14F-4D97-AF65-F5344CB8AC3E}">
        <p14:creationId xmlns:p14="http://schemas.microsoft.com/office/powerpoint/2010/main" val="7774691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0C643-8CC5-51B3-3649-4590CB3CF3CE}"/>
              </a:ext>
            </a:extLst>
          </p:cNvPr>
          <p:cNvSpPr>
            <a:spLocks noGrp="1"/>
          </p:cNvSpPr>
          <p:nvPr>
            <p:ph type="title"/>
          </p:nvPr>
        </p:nvSpPr>
        <p:spPr>
          <a:xfrm>
            <a:off x="1030704" y="1303571"/>
            <a:ext cx="8066404" cy="4250858"/>
          </a:xfrm>
        </p:spPr>
        <p:txBody>
          <a:bodyPr anchor="ctr">
            <a:normAutofit/>
          </a:bodyPr>
          <a:lstStyle/>
          <a:p>
            <a:pPr>
              <a:lnSpc>
                <a:spcPct val="100000"/>
              </a:lnSpc>
            </a:pPr>
            <a:r>
              <a:rPr lang="en-GB" sz="6000" b="1" noProof="0" dirty="0">
                <a:solidFill>
                  <a:srgbClr val="592880"/>
                </a:solidFill>
                <a:latin typeface="Dubai" panose="020B0503030403030204" pitchFamily="34" charset="-78"/>
                <a:cs typeface="Dubai" panose="020B0503030403030204" pitchFamily="34" charset="-78"/>
              </a:rPr>
              <a:t>AP+ Industry Project</a:t>
            </a:r>
            <a:br>
              <a:rPr lang="en-GB" sz="3600" b="1" noProof="0" dirty="0">
                <a:solidFill>
                  <a:srgbClr val="592880"/>
                </a:solidFill>
                <a:latin typeface="Dubai" panose="020B0503030403030204" pitchFamily="34" charset="-78"/>
                <a:cs typeface="Dubai" panose="020B0503030403030204" pitchFamily="34" charset="-78"/>
              </a:rPr>
            </a:br>
            <a:br>
              <a:rPr lang="en-GB" sz="3600" b="1" noProof="0" dirty="0">
                <a:solidFill>
                  <a:srgbClr val="592880"/>
                </a:solidFill>
                <a:latin typeface="Dubai" panose="020B0503030403030204" pitchFamily="34" charset="-78"/>
                <a:cs typeface="Dubai" panose="020B0503030403030204" pitchFamily="34" charset="-78"/>
              </a:rPr>
            </a:br>
            <a:r>
              <a:rPr lang="en-GB" sz="3600" noProof="0" dirty="0">
                <a:latin typeface="Dubai" panose="020B0503030403030204" pitchFamily="34" charset="-78"/>
                <a:cs typeface="Dubai" panose="020B0503030403030204" pitchFamily="34" charset="-78"/>
              </a:rPr>
              <a:t>Background</a:t>
            </a:r>
            <a:br>
              <a:rPr lang="en-GB" sz="4000" noProof="0" dirty="0">
                <a:latin typeface="Dubai" panose="020B0503030403030204" pitchFamily="34" charset="-78"/>
                <a:cs typeface="Dubai" panose="020B0503030403030204" pitchFamily="34" charset="-78"/>
              </a:rPr>
            </a:br>
            <a:br>
              <a:rPr lang="en-GB" sz="2000" noProof="0" dirty="0">
                <a:latin typeface="Dubai" panose="020B0503030403030204" pitchFamily="34" charset="-78"/>
                <a:cs typeface="Dubai" panose="020B0503030403030204" pitchFamily="34" charset="-78"/>
              </a:rPr>
            </a:br>
            <a:br>
              <a:rPr lang="en-GB" sz="2000" b="1" noProof="0" dirty="0">
                <a:solidFill>
                  <a:srgbClr val="35115F"/>
                </a:solidFill>
                <a:latin typeface="Dubai" panose="020B0503030403030204" pitchFamily="34" charset="-78"/>
                <a:cs typeface="Dubai" panose="020B0503030403030204" pitchFamily="34" charset="-78"/>
              </a:rPr>
            </a:br>
            <a:r>
              <a:rPr lang="en-GB" sz="2400" noProof="0" dirty="0">
                <a:latin typeface="Dubai" panose="020B0503030403030204" pitchFamily="34" charset="-78"/>
                <a:cs typeface="Dubai" panose="020B0503030403030204" pitchFamily="34" charset="-78"/>
              </a:rPr>
              <a:t>October 2025</a:t>
            </a:r>
            <a:endParaRPr lang="en-GB" sz="8000" noProof="0" dirty="0">
              <a:latin typeface="Dubai" panose="020B0503030403030204" pitchFamily="34" charset="-78"/>
              <a:cs typeface="Dubai" panose="020B0503030403030204" pitchFamily="34" charset="-78"/>
            </a:endParaRPr>
          </a:p>
        </p:txBody>
      </p:sp>
    </p:spTree>
    <p:extLst>
      <p:ext uri="{BB962C8B-B14F-4D97-AF65-F5344CB8AC3E}">
        <p14:creationId xmlns:p14="http://schemas.microsoft.com/office/powerpoint/2010/main" val="1767998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69B62CB-8C8B-D494-953D-AE052D084FE6}"/>
              </a:ext>
            </a:extLst>
          </p:cNvPr>
          <p:cNvPicPr>
            <a:picLocks noChangeAspect="1"/>
          </p:cNvPicPr>
          <p:nvPr/>
        </p:nvPicPr>
        <p:blipFill>
          <a:blip r:embed="rId2"/>
          <a:srcRect/>
          <a:stretch/>
        </p:blipFill>
        <p:spPr>
          <a:xfrm>
            <a:off x="613763" y="764850"/>
            <a:ext cx="10095267" cy="5720002"/>
          </a:xfrm>
          <a:prstGeom prst="rect">
            <a:avLst/>
          </a:prstGeom>
        </p:spPr>
      </p:pic>
      <p:sp>
        <p:nvSpPr>
          <p:cNvPr id="8" name="TextBox 7">
            <a:extLst>
              <a:ext uri="{FF2B5EF4-FFF2-40B4-BE49-F238E27FC236}">
                <a16:creationId xmlns:a16="http://schemas.microsoft.com/office/drawing/2014/main" id="{E5E619E3-C436-7894-2F18-62BE27FDAE88}"/>
              </a:ext>
            </a:extLst>
          </p:cNvPr>
          <p:cNvSpPr txBox="1">
            <a:spLocks/>
          </p:cNvSpPr>
          <p:nvPr/>
        </p:nvSpPr>
        <p:spPr>
          <a:xfrm>
            <a:off x="540000" y="414000"/>
            <a:ext cx="2127600" cy="1077218"/>
          </a:xfrm>
          <a:prstGeom prst="rect">
            <a:avLst/>
          </a:prstGeom>
          <a:noFill/>
        </p:spPr>
        <p:txBody>
          <a:bodyPr wrap="square">
            <a:spAutoFit/>
          </a:bodyPr>
          <a:lstStyle/>
          <a:p>
            <a:r>
              <a:rPr lang="en-GB" sz="2400" b="1" noProof="0" dirty="0">
                <a:ln w="0"/>
                <a:solidFill>
                  <a:srgbClr val="592880"/>
                </a:solidFill>
                <a:effectLst>
                  <a:outerShdw blurRad="38100" dir="5400000" algn="ctr" rotWithShape="0">
                    <a:srgbClr val="6E747A">
                      <a:alpha val="43000"/>
                    </a:srgbClr>
                  </a:outerShdw>
                </a:effectLst>
                <a:latin typeface="+mj-lt"/>
                <a:cs typeface="Dubai" panose="020B0503030403030204" pitchFamily="34" charset="-78"/>
              </a:rPr>
              <a:t>Project Acacia </a:t>
            </a:r>
          </a:p>
          <a:p>
            <a:r>
              <a:rPr lang="en-GB" sz="2000" noProof="0" dirty="0">
                <a:ln w="0"/>
                <a:solidFill>
                  <a:srgbClr val="592880"/>
                </a:solidFill>
                <a:effectLst>
                  <a:outerShdw blurRad="38100" dir="5400000" algn="ctr" rotWithShape="0">
                    <a:srgbClr val="6E747A">
                      <a:alpha val="43000"/>
                    </a:srgbClr>
                  </a:outerShdw>
                </a:effectLst>
                <a:latin typeface="+mj-lt"/>
                <a:cs typeface="Dubai" panose="020B0503030403030204" pitchFamily="34" charset="-78"/>
              </a:rPr>
              <a:t>Lead Entities </a:t>
            </a:r>
          </a:p>
          <a:p>
            <a:r>
              <a:rPr lang="en-GB" sz="2000" noProof="0" dirty="0">
                <a:ln w="0"/>
                <a:solidFill>
                  <a:srgbClr val="592880"/>
                </a:solidFill>
                <a:effectLst>
                  <a:outerShdw blurRad="38100" dir="5400000" algn="ctr" rotWithShape="0">
                    <a:srgbClr val="6E747A">
                      <a:alpha val="43000"/>
                    </a:srgbClr>
                  </a:outerShdw>
                </a:effectLst>
                <a:latin typeface="+mj-lt"/>
                <a:cs typeface="Dubai" panose="020B0503030403030204" pitchFamily="34" charset="-78"/>
              </a:rPr>
              <a:t>&amp; Use Cases</a:t>
            </a:r>
          </a:p>
        </p:txBody>
      </p:sp>
      <p:pic>
        <p:nvPicPr>
          <p:cNvPr id="5" name="Graphic 4">
            <a:extLst>
              <a:ext uri="{FF2B5EF4-FFF2-40B4-BE49-F238E27FC236}">
                <a16:creationId xmlns:a16="http://schemas.microsoft.com/office/drawing/2014/main" id="{2B5DBAF5-6096-B823-5492-FC0E5A8BB01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832762" y="4107308"/>
            <a:ext cx="1138949" cy="1251325"/>
          </a:xfrm>
          <a:prstGeom prst="rect">
            <a:avLst/>
          </a:prstGeom>
        </p:spPr>
      </p:pic>
      <p:pic>
        <p:nvPicPr>
          <p:cNvPr id="11" name="Graphic 10">
            <a:extLst>
              <a:ext uri="{FF2B5EF4-FFF2-40B4-BE49-F238E27FC236}">
                <a16:creationId xmlns:a16="http://schemas.microsoft.com/office/drawing/2014/main" id="{0F301518-9BE0-FC09-A072-40310BD1B62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910097" y="1364105"/>
            <a:ext cx="984277" cy="1596449"/>
          </a:xfrm>
          <a:prstGeom prst="rect">
            <a:avLst/>
          </a:prstGeom>
        </p:spPr>
      </p:pic>
      <p:pic>
        <p:nvPicPr>
          <p:cNvPr id="13" name="Graphic 12">
            <a:extLst>
              <a:ext uri="{FF2B5EF4-FFF2-40B4-BE49-F238E27FC236}">
                <a16:creationId xmlns:a16="http://schemas.microsoft.com/office/drawing/2014/main" id="{B1181A02-A8F8-453C-608C-6562E323BE7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55829" y="267741"/>
            <a:ext cx="994217" cy="994217"/>
          </a:xfrm>
          <a:prstGeom prst="rect">
            <a:avLst/>
          </a:prstGeom>
        </p:spPr>
      </p:pic>
    </p:spTree>
    <p:extLst>
      <p:ext uri="{BB962C8B-B14F-4D97-AF65-F5344CB8AC3E}">
        <p14:creationId xmlns:p14="http://schemas.microsoft.com/office/powerpoint/2010/main" val="15602355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AF58A0CE-4C1C-F5FB-E4A9-69FE47E4D7E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A08A701-1250-C2B6-CBCD-5D1D46F53BA9}"/>
              </a:ext>
            </a:extLst>
          </p:cNvPr>
          <p:cNvPicPr>
            <a:picLocks noChangeAspect="1"/>
          </p:cNvPicPr>
          <p:nvPr/>
        </p:nvPicPr>
        <p:blipFill>
          <a:blip r:embed="rId3"/>
          <a:srcRect/>
          <a:stretch/>
        </p:blipFill>
        <p:spPr>
          <a:xfrm>
            <a:off x="28351" y="12700"/>
            <a:ext cx="12145238" cy="6845300"/>
          </a:xfrm>
          <a:prstGeom prst="rect">
            <a:avLst/>
          </a:prstGeom>
          <a:solidFill>
            <a:schemeClr val="tx2">
              <a:lumMod val="10000"/>
              <a:lumOff val="90000"/>
            </a:schemeClr>
          </a:solidFill>
        </p:spPr>
      </p:pic>
    </p:spTree>
    <p:extLst>
      <p:ext uri="{BB962C8B-B14F-4D97-AF65-F5344CB8AC3E}">
        <p14:creationId xmlns:p14="http://schemas.microsoft.com/office/powerpoint/2010/main" val="34058290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2573C-DA69-3B0D-545E-0F90F2106A4A}"/>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D6568D69-082B-035A-B767-93ED3DAF0734}"/>
              </a:ext>
            </a:extLst>
          </p:cNvPr>
          <p:cNvSpPr/>
          <p:nvPr/>
        </p:nvSpPr>
        <p:spPr>
          <a:xfrm>
            <a:off x="525618" y="540001"/>
            <a:ext cx="9324236" cy="5287594"/>
          </a:xfrm>
          <a:prstGeom prst="rect">
            <a:avLst/>
          </a:prstGeom>
          <a:noFill/>
          <a:ln>
            <a:noFill/>
          </a:ln>
          <a:effectLst>
            <a:glow>
              <a:schemeClr val="accent5">
                <a:satMod val="175000"/>
              </a:schemeClr>
            </a:glow>
          </a:effectLst>
        </p:spPr>
        <p:style>
          <a:lnRef idx="2">
            <a:schemeClr val="accent1">
              <a:shade val="15000"/>
            </a:schemeClr>
          </a:lnRef>
          <a:fillRef idx="1">
            <a:schemeClr val="accent1"/>
          </a:fillRef>
          <a:effectRef idx="0">
            <a:schemeClr val="accent1"/>
          </a:effectRef>
          <a:fontRef idx="minor">
            <a:schemeClr val="lt1"/>
          </a:fontRef>
        </p:style>
        <p:txBody>
          <a:bodyPr tIns="0" rtlCol="0" anchor="t"/>
          <a:lstStyle/>
          <a:p>
            <a:r>
              <a:rPr lang="en-GB" sz="2400" b="1" noProof="0" dirty="0">
                <a:solidFill>
                  <a:srgbClr val="592880"/>
                </a:solidFill>
                <a:latin typeface="+mj-lt"/>
              </a:rPr>
              <a:t>Public and </a:t>
            </a:r>
            <a:r>
              <a:rPr lang="en-GB" sz="2400" b="1" noProof="0" dirty="0">
                <a:solidFill>
                  <a:srgbClr val="35115F"/>
                </a:solidFill>
                <a:latin typeface="+mj-lt"/>
              </a:rPr>
              <a:t>Private</a:t>
            </a:r>
            <a:r>
              <a:rPr lang="en-GB" sz="2400" b="1" noProof="0" dirty="0">
                <a:solidFill>
                  <a:srgbClr val="592880"/>
                </a:solidFill>
                <a:latin typeface="+mj-lt"/>
              </a:rPr>
              <a:t> Money</a:t>
            </a:r>
            <a:endParaRPr lang="en-GB" sz="1400" b="1" i="1" noProof="0" dirty="0">
              <a:solidFill>
                <a:srgbClr val="592880"/>
              </a:solidFill>
            </a:endParaRPr>
          </a:p>
          <a:p>
            <a:endParaRPr lang="en-GB" sz="1100" i="1" noProof="0" dirty="0">
              <a:solidFill>
                <a:srgbClr val="800000"/>
              </a:solidFill>
            </a:endParaRPr>
          </a:p>
          <a:p>
            <a:r>
              <a:rPr lang="en-GB" sz="1450" noProof="0" dirty="0">
                <a:solidFill>
                  <a:schemeClr val="tx1"/>
                </a:solidFill>
              </a:rPr>
              <a:t>The distinction between public &amp; private money is essential context for Project Acacia</a:t>
            </a:r>
          </a:p>
          <a:p>
            <a:endParaRPr lang="en-GB" sz="1000" b="1" i="1" noProof="0" dirty="0">
              <a:solidFill>
                <a:srgbClr val="592880"/>
              </a:solidFill>
            </a:endParaRPr>
          </a:p>
          <a:p>
            <a:r>
              <a:rPr lang="en-GB" sz="1400" b="1" i="1" noProof="0" dirty="0">
                <a:solidFill>
                  <a:srgbClr val="592880"/>
                </a:solidFill>
              </a:rPr>
              <a:t>Public money (currency)</a:t>
            </a:r>
          </a:p>
          <a:p>
            <a:endParaRPr lang="en-GB" sz="800" i="1" noProof="0" dirty="0">
              <a:solidFill>
                <a:schemeClr val="tx1"/>
              </a:solidFill>
            </a:endParaRPr>
          </a:p>
          <a:p>
            <a:r>
              <a:rPr lang="en-GB" sz="1400" i="1" noProof="0" dirty="0">
                <a:solidFill>
                  <a:schemeClr val="tx1"/>
                </a:solidFill>
              </a:rPr>
              <a:t>Central bank (CeB) money </a:t>
            </a:r>
            <a:r>
              <a:rPr lang="en-GB" sz="1400" noProof="0" dirty="0">
                <a:solidFill>
                  <a:schemeClr val="tx1"/>
                </a:solidFill>
              </a:rPr>
              <a:t>a.k.a. </a:t>
            </a:r>
            <a:r>
              <a:rPr lang="en-GB" b="1" noProof="0" dirty="0">
                <a:solidFill>
                  <a:srgbClr val="592880"/>
                </a:solidFill>
              </a:rPr>
              <a:t>M0 </a:t>
            </a:r>
            <a:r>
              <a:rPr lang="en-GB" sz="1400" noProof="0" dirty="0">
                <a:solidFill>
                  <a:schemeClr val="tx1"/>
                </a:solidFill>
              </a:rPr>
              <a:t>or </a:t>
            </a:r>
            <a:r>
              <a:rPr lang="en-GB" b="1" noProof="0" dirty="0">
                <a:solidFill>
                  <a:srgbClr val="592880"/>
                </a:solidFill>
              </a:rPr>
              <a:t>MB </a:t>
            </a:r>
            <a:r>
              <a:rPr lang="en-GB" noProof="0" dirty="0">
                <a:solidFill>
                  <a:srgbClr val="592880"/>
                </a:solidFill>
              </a:rPr>
              <a:t>(Money Base)</a:t>
            </a:r>
            <a:r>
              <a:rPr lang="en-GB" b="1" noProof="0" dirty="0">
                <a:solidFill>
                  <a:srgbClr val="592880"/>
                </a:solidFill>
              </a:rPr>
              <a:t> </a:t>
            </a:r>
          </a:p>
          <a:p>
            <a:pPr marL="285750" indent="-285750">
              <a:buFont typeface="System Font Regular"/>
              <a:buChar char="-"/>
            </a:pPr>
            <a:r>
              <a:rPr lang="en-GB" sz="1400" noProof="0" dirty="0">
                <a:solidFill>
                  <a:schemeClr val="tx1"/>
                </a:solidFill>
              </a:rPr>
              <a:t>Sovereign </a:t>
            </a:r>
            <a:r>
              <a:rPr lang="en-GB" sz="1400" b="1" noProof="0" dirty="0">
                <a:solidFill>
                  <a:schemeClr val="tx1"/>
                </a:solidFill>
              </a:rPr>
              <a:t>fiat</a:t>
            </a:r>
            <a:r>
              <a:rPr lang="en-GB" sz="1400" noProof="0" dirty="0">
                <a:solidFill>
                  <a:schemeClr val="tx1"/>
                </a:solidFill>
              </a:rPr>
              <a:t> </a:t>
            </a:r>
            <a:r>
              <a:rPr lang="en-GB" sz="1400" b="1" noProof="0" dirty="0">
                <a:solidFill>
                  <a:schemeClr val="tx1"/>
                </a:solidFill>
              </a:rPr>
              <a:t>liabilities:</a:t>
            </a:r>
            <a:r>
              <a:rPr lang="en-GB" sz="1400" noProof="0" dirty="0">
                <a:solidFill>
                  <a:schemeClr val="tx1"/>
                </a:solidFill>
              </a:rPr>
              <a:t> issued as currency by a central bank</a:t>
            </a:r>
          </a:p>
          <a:p>
            <a:pPr marL="285750" indent="-285750">
              <a:buFont typeface="System Font Regular"/>
              <a:buChar char="-"/>
            </a:pPr>
            <a:r>
              <a:rPr lang="en-GB" sz="1400" noProof="0" dirty="0">
                <a:solidFill>
                  <a:schemeClr val="tx1"/>
                </a:solidFill>
              </a:rPr>
              <a:t>Settles tax obligations but not convertible to any reserve</a:t>
            </a:r>
          </a:p>
          <a:p>
            <a:pPr marL="285750" indent="-285750">
              <a:buFont typeface="System Font Regular"/>
              <a:buChar char="-"/>
            </a:pPr>
            <a:r>
              <a:rPr lang="en-GB" sz="1400" noProof="0" dirty="0">
                <a:solidFill>
                  <a:schemeClr val="tx1"/>
                </a:solidFill>
              </a:rPr>
              <a:t>Supported by central bank assets including repo, forex and bond holdings.</a:t>
            </a:r>
          </a:p>
          <a:p>
            <a:endParaRPr lang="en-GB" sz="800" noProof="0" dirty="0">
              <a:solidFill>
                <a:schemeClr val="tx1"/>
              </a:solidFill>
            </a:endParaRPr>
          </a:p>
          <a:p>
            <a:r>
              <a:rPr lang="en-GB" sz="1400" noProof="0" dirty="0">
                <a:solidFill>
                  <a:schemeClr val="tx1"/>
                </a:solidFill>
              </a:rPr>
              <a:t>Australian public money exists in two forms: </a:t>
            </a:r>
          </a:p>
          <a:p>
            <a:pPr marL="742950" lvl="1" indent="-285750">
              <a:buFont typeface="Arial" panose="020B0604020202020204" pitchFamily="34" charset="0"/>
              <a:buChar char="•"/>
            </a:pPr>
            <a:r>
              <a:rPr lang="en-GB" sz="1400" b="1" i="1" noProof="0" dirty="0">
                <a:solidFill>
                  <a:schemeClr val="tx1"/>
                </a:solidFill>
              </a:rPr>
              <a:t>electronic:</a:t>
            </a:r>
            <a:r>
              <a:rPr lang="en-GB" sz="1400" noProof="0" dirty="0">
                <a:solidFill>
                  <a:schemeClr val="tx1"/>
                </a:solidFill>
              </a:rPr>
              <a:t> ESA balances in </a:t>
            </a:r>
            <a:r>
              <a:rPr lang="en-GB" sz="1400" b="1" noProof="0" dirty="0">
                <a:solidFill>
                  <a:schemeClr val="tx1"/>
                </a:solidFill>
              </a:rPr>
              <a:t>RITS</a:t>
            </a:r>
            <a:r>
              <a:rPr lang="en-GB" sz="1400" noProof="0" dirty="0">
                <a:solidFill>
                  <a:schemeClr val="tx1"/>
                </a:solidFill>
              </a:rPr>
              <a:t>.  </a:t>
            </a:r>
            <a:r>
              <a:rPr lang="en-GB" sz="1400" i="1" noProof="0" dirty="0">
                <a:solidFill>
                  <a:srgbClr val="592880"/>
                </a:solidFill>
              </a:rPr>
              <a:t>Held by institutions</a:t>
            </a:r>
          </a:p>
          <a:p>
            <a:pPr marL="742950" lvl="1" indent="-285750">
              <a:buFont typeface="Arial" panose="020B0604020202020204" pitchFamily="34" charset="0"/>
              <a:buChar char="•"/>
            </a:pPr>
            <a:r>
              <a:rPr lang="en-GB" sz="1400" b="1" i="1" noProof="0" dirty="0">
                <a:solidFill>
                  <a:schemeClr val="tx1"/>
                </a:solidFill>
              </a:rPr>
              <a:t>physical: </a:t>
            </a:r>
            <a:r>
              <a:rPr lang="en-GB" sz="1400" noProof="0" dirty="0">
                <a:solidFill>
                  <a:schemeClr val="tx1"/>
                </a:solidFill>
              </a:rPr>
              <a:t>banknotes / coins.  </a:t>
            </a:r>
            <a:r>
              <a:rPr lang="en-GB" sz="1400" i="1" noProof="0" dirty="0">
                <a:solidFill>
                  <a:srgbClr val="592880"/>
                </a:solidFill>
              </a:rPr>
              <a:t>Held by the public</a:t>
            </a:r>
          </a:p>
          <a:p>
            <a:r>
              <a:rPr lang="en-GB" sz="1400" b="1" noProof="0" dirty="0">
                <a:solidFill>
                  <a:schemeClr val="tx1"/>
                </a:solidFill>
              </a:rPr>
              <a:t>CBDC</a:t>
            </a:r>
            <a:r>
              <a:rPr lang="en-GB" sz="1400" noProof="0" dirty="0">
                <a:solidFill>
                  <a:schemeClr val="tx1"/>
                </a:solidFill>
              </a:rPr>
              <a:t> would be a new digital form of public money outside RITS. </a:t>
            </a:r>
          </a:p>
          <a:p>
            <a:r>
              <a:rPr lang="en-GB" sz="1400" i="1" noProof="0" dirty="0">
                <a:solidFill>
                  <a:srgbClr val="800000"/>
                </a:solidFill>
              </a:rPr>
              <a:t>Project Acacia is considering only a </a:t>
            </a:r>
            <a:r>
              <a:rPr lang="en-GB" sz="1400" b="1" i="1" noProof="0" dirty="0">
                <a:solidFill>
                  <a:srgbClr val="800000"/>
                </a:solidFill>
              </a:rPr>
              <a:t>wCBDC</a:t>
            </a:r>
            <a:r>
              <a:rPr lang="en-GB" sz="1400" i="1" noProof="0" dirty="0">
                <a:solidFill>
                  <a:srgbClr val="800000"/>
                </a:solidFill>
              </a:rPr>
              <a:t> held by institutions </a:t>
            </a:r>
          </a:p>
          <a:p>
            <a:endParaRPr lang="en-GB" sz="1400" i="1" noProof="0" dirty="0">
              <a:solidFill>
                <a:srgbClr val="800000"/>
              </a:solidFill>
            </a:endParaRPr>
          </a:p>
          <a:p>
            <a:r>
              <a:rPr lang="en-GB" sz="1400" b="1" i="1" noProof="0" dirty="0">
                <a:solidFill>
                  <a:srgbClr val="592880"/>
                </a:solidFill>
              </a:rPr>
              <a:t>Private money (deposits)</a:t>
            </a:r>
          </a:p>
          <a:p>
            <a:endParaRPr lang="en-GB" sz="800" i="1" noProof="0" dirty="0">
              <a:solidFill>
                <a:schemeClr val="tx1"/>
              </a:solidFill>
            </a:endParaRPr>
          </a:p>
          <a:p>
            <a:r>
              <a:rPr lang="en-GB" sz="1400" i="1" noProof="0" dirty="0">
                <a:solidFill>
                  <a:schemeClr val="tx1"/>
                </a:solidFill>
              </a:rPr>
              <a:t>Commercial bank (</a:t>
            </a:r>
            <a:r>
              <a:rPr lang="en-GB" sz="1400" i="1" noProof="0" dirty="0" err="1">
                <a:solidFill>
                  <a:schemeClr val="tx1"/>
                </a:solidFill>
              </a:rPr>
              <a:t>CoB</a:t>
            </a:r>
            <a:r>
              <a:rPr lang="en-GB" sz="1400" i="1" noProof="0" dirty="0">
                <a:solidFill>
                  <a:schemeClr val="tx1"/>
                </a:solidFill>
              </a:rPr>
              <a:t>) money </a:t>
            </a:r>
            <a:r>
              <a:rPr lang="en-GB" sz="1400" noProof="0" dirty="0">
                <a:solidFill>
                  <a:schemeClr val="tx1"/>
                </a:solidFill>
              </a:rPr>
              <a:t>a.k.a. </a:t>
            </a:r>
            <a:r>
              <a:rPr lang="en-GB" b="1" noProof="0" dirty="0">
                <a:solidFill>
                  <a:srgbClr val="592880"/>
                </a:solidFill>
              </a:rPr>
              <a:t>M1       </a:t>
            </a:r>
            <a:r>
              <a:rPr lang="en-GB" sz="1200" i="1" noProof="0" dirty="0">
                <a:solidFill>
                  <a:srgbClr val="0070C0"/>
                </a:solidFill>
              </a:rPr>
              <a:t>although “M1” includes </a:t>
            </a:r>
            <a:r>
              <a:rPr lang="en-GB" sz="1200" b="1" i="1" noProof="0" dirty="0">
                <a:solidFill>
                  <a:srgbClr val="0070C0"/>
                </a:solidFill>
              </a:rPr>
              <a:t>physical currency </a:t>
            </a:r>
            <a:r>
              <a:rPr lang="en-GB" sz="1200" i="1" noProof="0" dirty="0">
                <a:solidFill>
                  <a:srgbClr val="0070C0"/>
                </a:solidFill>
              </a:rPr>
              <a:t>also </a:t>
            </a:r>
          </a:p>
          <a:p>
            <a:endParaRPr lang="en-GB" sz="1200" i="1" noProof="0" dirty="0">
              <a:solidFill>
                <a:srgbClr val="0070C0"/>
              </a:solidFill>
            </a:endParaRPr>
          </a:p>
          <a:p>
            <a:pPr marL="285750" indent="-285750">
              <a:buFont typeface="System Font Regular"/>
              <a:buChar char="-"/>
            </a:pPr>
            <a:r>
              <a:rPr lang="en-GB" sz="1400" noProof="0" dirty="0">
                <a:solidFill>
                  <a:schemeClr val="tx1"/>
                </a:solidFill>
              </a:rPr>
              <a:t>Commercial bank </a:t>
            </a:r>
            <a:r>
              <a:rPr lang="en-GB" sz="1400" b="1" noProof="0" dirty="0">
                <a:solidFill>
                  <a:schemeClr val="tx1"/>
                </a:solidFill>
              </a:rPr>
              <a:t>cash</a:t>
            </a:r>
            <a:r>
              <a:rPr lang="en-GB" sz="1400" b="1" i="1" noProof="0" dirty="0">
                <a:solidFill>
                  <a:schemeClr val="tx1"/>
                </a:solidFill>
              </a:rPr>
              <a:t> </a:t>
            </a:r>
            <a:r>
              <a:rPr lang="en-GB" sz="1400" b="1" noProof="0" dirty="0">
                <a:solidFill>
                  <a:schemeClr val="tx1"/>
                </a:solidFill>
              </a:rPr>
              <a:t>liabilities: </a:t>
            </a:r>
            <a:r>
              <a:rPr lang="en-GB" sz="1400" noProof="0" dirty="0">
                <a:solidFill>
                  <a:schemeClr val="tx1"/>
                </a:solidFill>
              </a:rPr>
              <a:t>an</a:t>
            </a:r>
            <a:r>
              <a:rPr lang="en-GB" sz="1400" b="1" noProof="0" dirty="0">
                <a:solidFill>
                  <a:schemeClr val="tx1"/>
                </a:solidFill>
              </a:rPr>
              <a:t> </a:t>
            </a:r>
            <a:r>
              <a:rPr lang="en-GB" sz="1400" noProof="0" dirty="0">
                <a:solidFill>
                  <a:schemeClr val="tx1"/>
                </a:solidFill>
              </a:rPr>
              <a:t>interest-bearing </a:t>
            </a:r>
            <a:r>
              <a:rPr lang="en-GB" sz="1400" i="1" noProof="0" dirty="0">
                <a:solidFill>
                  <a:schemeClr val="tx1"/>
                </a:solidFill>
              </a:rPr>
              <a:t>debt </a:t>
            </a:r>
            <a:r>
              <a:rPr lang="en-GB" sz="1400" noProof="0" dirty="0">
                <a:solidFill>
                  <a:schemeClr val="tx1"/>
                </a:solidFill>
              </a:rPr>
              <a:t>issued by a bank to a depositor</a:t>
            </a:r>
          </a:p>
          <a:p>
            <a:pPr marL="285750" indent="-285750">
              <a:buFont typeface="System Font Regular"/>
              <a:buChar char="-"/>
            </a:pPr>
            <a:r>
              <a:rPr lang="en-GB" sz="1400" noProof="0" dirty="0">
                <a:solidFill>
                  <a:schemeClr val="tx1"/>
                </a:solidFill>
              </a:rPr>
              <a:t>Supported by commercial bank assets, including </a:t>
            </a:r>
            <a:r>
              <a:rPr lang="en-GB" sz="1400" b="1" i="1" noProof="0" dirty="0">
                <a:solidFill>
                  <a:srgbClr val="592880"/>
                </a:solidFill>
              </a:rPr>
              <a:t>reserves</a:t>
            </a:r>
            <a:r>
              <a:rPr lang="en-GB" sz="1400" noProof="0" dirty="0">
                <a:solidFill>
                  <a:schemeClr val="tx1"/>
                </a:solidFill>
              </a:rPr>
              <a:t> and </a:t>
            </a:r>
            <a:r>
              <a:rPr lang="en-GB" sz="1400" b="1" i="1" noProof="0" dirty="0">
                <a:solidFill>
                  <a:schemeClr val="tx1"/>
                </a:solidFill>
              </a:rPr>
              <a:t>loans </a:t>
            </a:r>
            <a:endParaRPr lang="en-GB" sz="1400" noProof="0" dirty="0">
              <a:solidFill>
                <a:schemeClr val="tx1"/>
              </a:solidFill>
            </a:endParaRPr>
          </a:p>
          <a:p>
            <a:pPr lvl="1"/>
            <a:r>
              <a:rPr lang="en-GB" sz="1400" b="1" i="1" noProof="0" dirty="0">
                <a:solidFill>
                  <a:srgbClr val="592880"/>
                </a:solidFill>
              </a:rPr>
              <a:t>Reserves</a:t>
            </a:r>
            <a:r>
              <a:rPr lang="en-GB" sz="1400" i="1" noProof="0" dirty="0">
                <a:solidFill>
                  <a:schemeClr val="tx1"/>
                </a:solidFill>
              </a:rPr>
              <a:t> </a:t>
            </a:r>
            <a:r>
              <a:rPr lang="en-GB" sz="1400" noProof="0" dirty="0">
                <a:solidFill>
                  <a:schemeClr val="tx1"/>
                </a:solidFill>
              </a:rPr>
              <a:t>are</a:t>
            </a:r>
            <a:r>
              <a:rPr lang="en-GB" sz="1400" i="1" noProof="0" dirty="0">
                <a:solidFill>
                  <a:schemeClr val="tx1"/>
                </a:solidFill>
              </a:rPr>
              <a:t> </a:t>
            </a:r>
            <a:r>
              <a:rPr lang="en-GB" sz="1400" noProof="0" dirty="0">
                <a:solidFill>
                  <a:schemeClr val="tx1"/>
                </a:solidFill>
              </a:rPr>
              <a:t>ESA Balances (M0), which settle interbank payments in </a:t>
            </a:r>
            <a:r>
              <a:rPr lang="en-GB" sz="1400" b="1" noProof="0" dirty="0">
                <a:solidFill>
                  <a:schemeClr val="tx1"/>
                </a:solidFill>
              </a:rPr>
              <a:t>RITS </a:t>
            </a:r>
            <a:r>
              <a:rPr lang="en-GB" sz="1400" noProof="0" dirty="0">
                <a:solidFill>
                  <a:schemeClr val="tx1"/>
                </a:solidFill>
              </a:rPr>
              <a:t>(real-time gross or batch netted)</a:t>
            </a:r>
          </a:p>
          <a:p>
            <a:pPr lvl="1"/>
            <a:r>
              <a:rPr lang="en-GB" sz="1400" i="1" noProof="0" dirty="0">
                <a:solidFill>
                  <a:srgbClr val="800000"/>
                </a:solidFill>
              </a:rPr>
              <a:t>Fractional-reserve banking</a:t>
            </a:r>
            <a:r>
              <a:rPr lang="en-GB" sz="1400" b="1" i="1" noProof="0" dirty="0">
                <a:solidFill>
                  <a:srgbClr val="800000"/>
                </a:solidFill>
              </a:rPr>
              <a:t> </a:t>
            </a:r>
            <a:r>
              <a:rPr lang="en-GB" sz="1400" i="1" noProof="0" dirty="0">
                <a:solidFill>
                  <a:srgbClr val="800000"/>
                </a:solidFill>
              </a:rPr>
              <a:t>generates M1 as a multiple of M0</a:t>
            </a:r>
            <a:r>
              <a:rPr lang="en-GB" sz="1400" b="1" i="1" noProof="0" dirty="0">
                <a:solidFill>
                  <a:srgbClr val="800000"/>
                </a:solidFill>
              </a:rPr>
              <a:t>: bank loans (of M0) create new bank deposits (M1)</a:t>
            </a:r>
          </a:p>
          <a:p>
            <a:endParaRPr lang="en-GB" sz="1400" i="1" noProof="0" dirty="0">
              <a:solidFill>
                <a:srgbClr val="800000"/>
              </a:solidFill>
            </a:endParaRPr>
          </a:p>
          <a:p>
            <a:endParaRPr lang="en-GB" sz="1400" i="1" noProof="0" dirty="0">
              <a:solidFill>
                <a:srgbClr val="800000"/>
              </a:solidFill>
            </a:endParaRPr>
          </a:p>
          <a:p>
            <a:endParaRPr lang="en-GB" sz="1400" i="1" noProof="0" dirty="0">
              <a:solidFill>
                <a:srgbClr val="800000"/>
              </a:solidFill>
            </a:endParaRPr>
          </a:p>
          <a:p>
            <a:endParaRPr lang="en-GB" sz="1400" i="1" noProof="0" dirty="0">
              <a:solidFill>
                <a:srgbClr val="800000"/>
              </a:solidFill>
            </a:endParaRPr>
          </a:p>
        </p:txBody>
      </p:sp>
      <p:sp>
        <p:nvSpPr>
          <p:cNvPr id="2" name="Oval 1">
            <a:extLst>
              <a:ext uri="{FF2B5EF4-FFF2-40B4-BE49-F238E27FC236}">
                <a16:creationId xmlns:a16="http://schemas.microsoft.com/office/drawing/2014/main" id="{329A2AD0-3423-7AB3-5119-E0B28ED0E713}"/>
              </a:ext>
            </a:extLst>
          </p:cNvPr>
          <p:cNvSpPr>
            <a:spLocks noChangeAspect="1"/>
          </p:cNvSpPr>
          <p:nvPr/>
        </p:nvSpPr>
        <p:spPr>
          <a:xfrm>
            <a:off x="6858749" y="2048982"/>
            <a:ext cx="2325600" cy="2325600"/>
          </a:xfrm>
          <a:prstGeom prst="ellipse">
            <a:avLst/>
          </a:prstGeom>
          <a:solidFill>
            <a:schemeClr val="tx2">
              <a:lumMod val="10000"/>
              <a:lumOff val="90000"/>
            </a:schemeClr>
          </a:solidFill>
          <a:ln w="6350">
            <a:solidFill>
              <a:srgbClr val="35115F"/>
            </a:solidFill>
          </a:ln>
        </p:spPr>
        <p:style>
          <a:lnRef idx="2">
            <a:schemeClr val="accent1">
              <a:shade val="15000"/>
            </a:schemeClr>
          </a:lnRef>
          <a:fillRef idx="1">
            <a:schemeClr val="accent1"/>
          </a:fillRef>
          <a:effectRef idx="0">
            <a:schemeClr val="accent1"/>
          </a:effectRef>
          <a:fontRef idx="minor">
            <a:schemeClr val="lt1"/>
          </a:fontRef>
        </p:style>
        <p:txBody>
          <a:bodyPr lIns="90000" tIns="0" bIns="1368000" rtlCol="0" anchor="t"/>
          <a:lstStyle/>
          <a:p>
            <a:pPr algn="ctr"/>
            <a:endParaRPr lang="en-GB" sz="2400" noProof="0" dirty="0">
              <a:solidFill>
                <a:schemeClr val="tx2"/>
              </a:solidFill>
            </a:endParaRPr>
          </a:p>
        </p:txBody>
      </p:sp>
      <p:sp>
        <p:nvSpPr>
          <p:cNvPr id="11" name="Oval 10">
            <a:extLst>
              <a:ext uri="{FF2B5EF4-FFF2-40B4-BE49-F238E27FC236}">
                <a16:creationId xmlns:a16="http://schemas.microsoft.com/office/drawing/2014/main" id="{3F9B8CED-DB8C-EB9F-0ADB-60B173159ECE}"/>
              </a:ext>
            </a:extLst>
          </p:cNvPr>
          <p:cNvSpPr>
            <a:spLocks noChangeAspect="1"/>
          </p:cNvSpPr>
          <p:nvPr/>
        </p:nvSpPr>
        <p:spPr>
          <a:xfrm>
            <a:off x="7139549" y="2621920"/>
            <a:ext cx="1764000" cy="1764000"/>
          </a:xfrm>
          <a:prstGeom prst="ellipse">
            <a:avLst/>
          </a:prstGeom>
          <a:solidFill>
            <a:srgbClr val="7030A0">
              <a:alpha val="45000"/>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tIns="0" bIns="216000" rtlCol="0" anchor="ctr"/>
          <a:lstStyle/>
          <a:p>
            <a:pPr algn="ctr"/>
            <a:r>
              <a:rPr lang="en-GB" sz="2800" b="1" noProof="0" dirty="0">
                <a:solidFill>
                  <a:srgbClr val="35115F"/>
                </a:solidFill>
              </a:rPr>
              <a:t>M1</a:t>
            </a:r>
          </a:p>
          <a:p>
            <a:pPr algn="ctr"/>
            <a:r>
              <a:rPr lang="en-GB" noProof="0" dirty="0">
                <a:solidFill>
                  <a:srgbClr val="35115F"/>
                </a:solidFill>
              </a:rPr>
              <a:t>A$ 1.9 T</a:t>
            </a:r>
            <a:endParaRPr lang="en-GB" sz="800" b="1" noProof="0" dirty="0"/>
          </a:p>
        </p:txBody>
      </p:sp>
      <p:sp>
        <p:nvSpPr>
          <p:cNvPr id="12" name="Oval 11">
            <a:extLst>
              <a:ext uri="{FF2B5EF4-FFF2-40B4-BE49-F238E27FC236}">
                <a16:creationId xmlns:a16="http://schemas.microsoft.com/office/drawing/2014/main" id="{BADC48A6-B3A0-1F38-5659-35C4C39D633A}"/>
              </a:ext>
            </a:extLst>
          </p:cNvPr>
          <p:cNvSpPr>
            <a:spLocks noChangeAspect="1"/>
          </p:cNvSpPr>
          <p:nvPr/>
        </p:nvSpPr>
        <p:spPr>
          <a:xfrm>
            <a:off x="7661549" y="4100996"/>
            <a:ext cx="720000" cy="720000"/>
          </a:xfrm>
          <a:prstGeom prst="ellipse">
            <a:avLst/>
          </a:prstGeom>
          <a:solidFill>
            <a:srgbClr val="7030A0">
              <a:alpha val="84605"/>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GB" sz="1400" b="1" noProof="0" dirty="0"/>
              <a:t>MB</a:t>
            </a:r>
          </a:p>
          <a:p>
            <a:pPr algn="ctr"/>
            <a:r>
              <a:rPr lang="en-GB" sz="1000" noProof="0" dirty="0"/>
              <a:t>A$ 0.3 T</a:t>
            </a:r>
            <a:endParaRPr lang="en-GB" sz="1050" noProof="0" dirty="0"/>
          </a:p>
        </p:txBody>
      </p:sp>
      <p:cxnSp>
        <p:nvCxnSpPr>
          <p:cNvPr id="16" name="Elbow Connector 15">
            <a:extLst>
              <a:ext uri="{FF2B5EF4-FFF2-40B4-BE49-F238E27FC236}">
                <a16:creationId xmlns:a16="http://schemas.microsoft.com/office/drawing/2014/main" id="{5CB759C8-9DAF-6E1C-1D68-0E5A08FB8289}"/>
              </a:ext>
            </a:extLst>
          </p:cNvPr>
          <p:cNvCxnSpPr>
            <a:cxnSpLocks/>
          </p:cNvCxnSpPr>
          <p:nvPr/>
        </p:nvCxnSpPr>
        <p:spPr>
          <a:xfrm flipV="1">
            <a:off x="6743497" y="4277406"/>
            <a:ext cx="1053334" cy="221382"/>
          </a:xfrm>
          <a:prstGeom prst="bentConnector3">
            <a:avLst>
              <a:gd name="adj1" fmla="val 713"/>
            </a:avLst>
          </a:prstGeom>
          <a:ln w="12700">
            <a:gradFill flip="none" rotWithShape="1">
              <a:gsLst>
                <a:gs pos="0">
                  <a:schemeClr val="accent1">
                    <a:lumMod val="5000"/>
                    <a:lumOff val="95000"/>
                  </a:schemeClr>
                </a:gs>
                <a:gs pos="100000">
                  <a:srgbClr val="0070C0"/>
                </a:gs>
                <a:gs pos="100000">
                  <a:srgbClr val="00B0F0"/>
                </a:gs>
              </a:gsLst>
              <a:lin ang="10800000" scaled="1"/>
              <a:tileRect/>
            </a:gradFill>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4D3837AC-38A3-5DB9-591A-33279BC02AB9}"/>
              </a:ext>
            </a:extLst>
          </p:cNvPr>
          <p:cNvSpPr txBox="1"/>
          <p:nvPr/>
        </p:nvSpPr>
        <p:spPr>
          <a:xfrm>
            <a:off x="8799625" y="679070"/>
            <a:ext cx="3074323" cy="307777"/>
          </a:xfrm>
          <a:prstGeom prst="rect">
            <a:avLst/>
          </a:prstGeom>
          <a:noFill/>
        </p:spPr>
        <p:txBody>
          <a:bodyPr wrap="square">
            <a:spAutoFit/>
          </a:bodyPr>
          <a:lstStyle/>
          <a:p>
            <a:r>
              <a:rPr lang="en-GB" sz="1400" noProof="0" dirty="0"/>
              <a:t> </a:t>
            </a:r>
          </a:p>
        </p:txBody>
      </p:sp>
      <p:sp>
        <p:nvSpPr>
          <p:cNvPr id="36" name="TextBox 35">
            <a:extLst>
              <a:ext uri="{FF2B5EF4-FFF2-40B4-BE49-F238E27FC236}">
                <a16:creationId xmlns:a16="http://schemas.microsoft.com/office/drawing/2014/main" id="{92119E49-1488-3BF2-2A25-0A962A5D43B6}"/>
              </a:ext>
            </a:extLst>
          </p:cNvPr>
          <p:cNvSpPr txBox="1"/>
          <p:nvPr/>
        </p:nvSpPr>
        <p:spPr>
          <a:xfrm>
            <a:off x="525616" y="5864996"/>
            <a:ext cx="10790083" cy="584775"/>
          </a:xfrm>
          <a:prstGeom prst="rect">
            <a:avLst/>
          </a:prstGeom>
          <a:noFill/>
        </p:spPr>
        <p:txBody>
          <a:bodyPr wrap="square">
            <a:spAutoFit/>
          </a:bodyPr>
          <a:lstStyle/>
          <a:p>
            <a:r>
              <a:rPr lang="en-GB" sz="1600" noProof="0" dirty="0"/>
              <a:t>M1 deposits are </a:t>
            </a:r>
            <a:r>
              <a:rPr lang="en-GB" sz="1600" b="1" noProof="0" dirty="0"/>
              <a:t>call deposits:</a:t>
            </a:r>
            <a:r>
              <a:rPr lang="en-GB" sz="1600" noProof="0" dirty="0"/>
              <a:t> transferrable (convertible to M0) at par value </a:t>
            </a:r>
            <a:r>
              <a:rPr lang="en-GB" sz="1600" b="1" noProof="0" dirty="0"/>
              <a:t>on demand / without tenor </a:t>
            </a:r>
          </a:p>
          <a:p>
            <a:r>
              <a:rPr lang="en-GB" sz="1600" noProof="0" dirty="0"/>
              <a:t>Less </a:t>
            </a:r>
            <a:r>
              <a:rPr lang="en-GB" sz="1600" b="1" i="1" noProof="0" dirty="0"/>
              <a:t>liquid </a:t>
            </a:r>
            <a:r>
              <a:rPr lang="en-GB" sz="1600" noProof="0" dirty="0"/>
              <a:t>deposits (e.g. term deposits) are included in </a:t>
            </a:r>
            <a:r>
              <a:rPr lang="en-GB" sz="1600" b="1" noProof="0" dirty="0">
                <a:solidFill>
                  <a:srgbClr val="592880"/>
                </a:solidFill>
              </a:rPr>
              <a:t>M3</a:t>
            </a:r>
            <a:r>
              <a:rPr lang="en-GB" sz="1600" noProof="0" dirty="0"/>
              <a:t> </a:t>
            </a:r>
          </a:p>
        </p:txBody>
      </p:sp>
      <p:sp>
        <p:nvSpPr>
          <p:cNvPr id="3" name="Rectangle 2">
            <a:extLst>
              <a:ext uri="{FF2B5EF4-FFF2-40B4-BE49-F238E27FC236}">
                <a16:creationId xmlns:a16="http://schemas.microsoft.com/office/drawing/2014/main" id="{8EB86475-D413-5C51-F297-69D17936C61B}"/>
              </a:ext>
            </a:extLst>
          </p:cNvPr>
          <p:cNvSpPr/>
          <p:nvPr/>
        </p:nvSpPr>
        <p:spPr>
          <a:xfrm>
            <a:off x="8799625" y="577642"/>
            <a:ext cx="2822170" cy="1193101"/>
          </a:xfrm>
          <a:prstGeom prst="rect">
            <a:avLst/>
          </a:prstGeom>
          <a:solidFill>
            <a:schemeClr val="tx2">
              <a:lumMod val="10000"/>
              <a:lumOff val="90000"/>
            </a:schemeClr>
          </a:solidFill>
          <a:ln w="6350">
            <a:solidFill>
              <a:srgbClr val="59288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GB" sz="1350" noProof="0" dirty="0">
                <a:solidFill>
                  <a:schemeClr val="tx1"/>
                </a:solidFill>
              </a:rPr>
              <a:t>Most </a:t>
            </a:r>
            <a:r>
              <a:rPr lang="en-GB" sz="1350" b="1" noProof="0" dirty="0">
                <a:solidFill>
                  <a:schemeClr val="tx1"/>
                </a:solidFill>
              </a:rPr>
              <a:t>Authorised Deposit-Taking Institutions (ADIs) </a:t>
            </a:r>
            <a:r>
              <a:rPr lang="en-GB" sz="1350" noProof="0" dirty="0">
                <a:solidFill>
                  <a:schemeClr val="tx1"/>
                </a:solidFill>
              </a:rPr>
              <a:t>are commercial banks, although some non-banks are also authorised to issue deposits (e.g. Cuscal Limited) </a:t>
            </a:r>
          </a:p>
        </p:txBody>
      </p:sp>
      <p:sp>
        <p:nvSpPr>
          <p:cNvPr id="5" name="TextBox 4">
            <a:extLst>
              <a:ext uri="{FF2B5EF4-FFF2-40B4-BE49-F238E27FC236}">
                <a16:creationId xmlns:a16="http://schemas.microsoft.com/office/drawing/2014/main" id="{A671AC62-9E38-B86E-FF34-C9425FA5EB21}"/>
              </a:ext>
            </a:extLst>
          </p:cNvPr>
          <p:cNvSpPr txBox="1"/>
          <p:nvPr/>
        </p:nvSpPr>
        <p:spPr>
          <a:xfrm>
            <a:off x="6736540" y="2097747"/>
            <a:ext cx="2570018" cy="507831"/>
          </a:xfrm>
          <a:prstGeom prst="rect">
            <a:avLst/>
          </a:prstGeom>
          <a:noFill/>
        </p:spPr>
        <p:txBody>
          <a:bodyPr wrap="square" tIns="0">
            <a:spAutoFit/>
          </a:bodyPr>
          <a:lstStyle/>
          <a:p>
            <a:pPr algn="ctr"/>
            <a:r>
              <a:rPr lang="en-GB" b="1" noProof="0" dirty="0">
                <a:solidFill>
                  <a:schemeClr val="accent4">
                    <a:lumMod val="50000"/>
                  </a:schemeClr>
                </a:solidFill>
              </a:rPr>
              <a:t>M3</a:t>
            </a:r>
          </a:p>
          <a:p>
            <a:pPr algn="ctr"/>
            <a:r>
              <a:rPr lang="en-GB" sz="1200" noProof="0" dirty="0">
                <a:solidFill>
                  <a:schemeClr val="accent4">
                    <a:lumMod val="50000"/>
                  </a:schemeClr>
                </a:solidFill>
              </a:rPr>
              <a:t>A$ 3.3 T</a:t>
            </a:r>
          </a:p>
        </p:txBody>
      </p:sp>
      <p:sp>
        <p:nvSpPr>
          <p:cNvPr id="19" name="Rectangle 18">
            <a:extLst>
              <a:ext uri="{FF2B5EF4-FFF2-40B4-BE49-F238E27FC236}">
                <a16:creationId xmlns:a16="http://schemas.microsoft.com/office/drawing/2014/main" id="{DA4F0BB4-E58F-01A0-0F6D-66C4B8BFE3BB}"/>
              </a:ext>
            </a:extLst>
          </p:cNvPr>
          <p:cNvSpPr/>
          <p:nvPr/>
        </p:nvSpPr>
        <p:spPr>
          <a:xfrm>
            <a:off x="9379699" y="2273204"/>
            <a:ext cx="2570018" cy="3051929"/>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GB" sz="1150" noProof="0" dirty="0">
                <a:solidFill>
                  <a:srgbClr val="35115F"/>
                </a:solidFill>
              </a:rPr>
              <a:t>A “deposit-taker” (ADI) is also called deposit </a:t>
            </a:r>
            <a:r>
              <a:rPr lang="en-GB" sz="1150" i="1" noProof="0" dirty="0">
                <a:solidFill>
                  <a:srgbClr val="35115F"/>
                </a:solidFill>
              </a:rPr>
              <a:t>issuer</a:t>
            </a:r>
            <a:r>
              <a:rPr lang="en-GB" sz="1150" noProof="0" dirty="0">
                <a:solidFill>
                  <a:srgbClr val="35115F"/>
                </a:solidFill>
              </a:rPr>
              <a:t>, since deposits are financial instruments issued to depositors. </a:t>
            </a:r>
          </a:p>
          <a:p>
            <a:endParaRPr lang="en-GB" sz="1150" noProof="0" dirty="0">
              <a:solidFill>
                <a:srgbClr val="35115F"/>
              </a:solidFill>
            </a:endParaRPr>
          </a:p>
          <a:p>
            <a:r>
              <a:rPr lang="en-GB" sz="1150" noProof="0" dirty="0">
                <a:solidFill>
                  <a:srgbClr val="35115F"/>
                </a:solidFill>
              </a:rPr>
              <a:t>Only ADIs can issue deposits, but non-ADIs can issue </a:t>
            </a:r>
            <a:r>
              <a:rPr lang="en-GB" sz="1150" b="1" noProof="0" dirty="0">
                <a:solidFill>
                  <a:srgbClr val="35115F"/>
                </a:solidFill>
              </a:rPr>
              <a:t>Stored Value Facilities (SVFs),</a:t>
            </a:r>
            <a:r>
              <a:rPr lang="en-GB" sz="1150" noProof="0" dirty="0">
                <a:solidFill>
                  <a:srgbClr val="35115F"/>
                </a:solidFill>
              </a:rPr>
              <a:t> instruments allowing customers to store funds for the purposes of making </a:t>
            </a:r>
            <a:r>
              <a:rPr lang="en-GB" sz="1150" b="1" noProof="0" dirty="0">
                <a:solidFill>
                  <a:srgbClr val="35115F"/>
                </a:solidFill>
              </a:rPr>
              <a:t>future payments</a:t>
            </a:r>
            <a:r>
              <a:rPr lang="en-GB" sz="1150" noProof="0" dirty="0">
                <a:solidFill>
                  <a:srgbClr val="35115F"/>
                </a:solidFill>
              </a:rPr>
              <a:t>,</a:t>
            </a:r>
            <a:r>
              <a:rPr lang="en-GB" sz="1150" dirty="0">
                <a:solidFill>
                  <a:srgbClr val="35115F"/>
                </a:solidFill>
              </a:rPr>
              <a:t> including</a:t>
            </a:r>
            <a:r>
              <a:rPr lang="en-GB" sz="1150" noProof="0" dirty="0">
                <a:solidFill>
                  <a:srgbClr val="35115F"/>
                </a:solidFill>
              </a:rPr>
              <a:t> prepaid cards and mobile ‘wallet’ or online </a:t>
            </a:r>
            <a:r>
              <a:rPr lang="en-GB" sz="1150" dirty="0">
                <a:solidFill>
                  <a:srgbClr val="35115F"/>
                </a:solidFill>
              </a:rPr>
              <a:t>account balances (e.g. PayPal, Alipay). These are money-like claims on a private issuer, but not M1. </a:t>
            </a:r>
            <a:endParaRPr lang="en-GB" sz="1150" b="1" noProof="0" dirty="0">
              <a:solidFill>
                <a:srgbClr val="35115F"/>
              </a:solidFill>
            </a:endParaRPr>
          </a:p>
        </p:txBody>
      </p:sp>
    </p:spTree>
    <p:extLst>
      <p:ext uri="{BB962C8B-B14F-4D97-AF65-F5344CB8AC3E}">
        <p14:creationId xmlns:p14="http://schemas.microsoft.com/office/powerpoint/2010/main" val="41680215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469FA-561F-980E-4BB2-C4DFE9A594ED}"/>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C291E802-81AD-D40A-81DA-2725CFF61559}"/>
              </a:ext>
            </a:extLst>
          </p:cNvPr>
          <p:cNvSpPr/>
          <p:nvPr/>
        </p:nvSpPr>
        <p:spPr>
          <a:xfrm>
            <a:off x="526552" y="523958"/>
            <a:ext cx="6968538" cy="2714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Ins="216000" rtlCol="0" anchor="t"/>
          <a:lstStyle/>
          <a:p>
            <a:r>
              <a:rPr lang="en-GB" sz="2400" b="1" noProof="0" dirty="0">
                <a:solidFill>
                  <a:srgbClr val="592880"/>
                </a:solidFill>
                <a:latin typeface="+mj-lt"/>
              </a:rPr>
              <a:t>Monetary Aggregates</a:t>
            </a:r>
          </a:p>
          <a:p>
            <a:endParaRPr lang="en-GB" sz="1100" noProof="0" dirty="0">
              <a:solidFill>
                <a:schemeClr val="tx1"/>
              </a:solidFill>
            </a:endParaRPr>
          </a:p>
          <a:p>
            <a:pPr marL="285750" indent="-285750">
              <a:buFont typeface="Courier New" panose="02070309020205020404" pitchFamily="49" charset="0"/>
              <a:buChar char="o"/>
            </a:pPr>
            <a:r>
              <a:rPr lang="en-GB" sz="1600" b="1" noProof="0" dirty="0">
                <a:solidFill>
                  <a:schemeClr val="tx1"/>
                </a:solidFill>
              </a:rPr>
              <a:t>M1:   </a:t>
            </a:r>
            <a:r>
              <a:rPr lang="en-GB" sz="1250" b="1" i="1" noProof="0" dirty="0">
                <a:solidFill>
                  <a:srgbClr val="002060"/>
                </a:solidFill>
              </a:rPr>
              <a:t>physical currency</a:t>
            </a:r>
            <a:r>
              <a:rPr lang="en-GB" sz="1250" i="1" noProof="0" dirty="0">
                <a:solidFill>
                  <a:srgbClr val="002060"/>
                </a:solidFill>
              </a:rPr>
              <a:t> </a:t>
            </a:r>
            <a:r>
              <a:rPr lang="en-GB" sz="1250" b="1" i="1" noProof="0" dirty="0">
                <a:solidFill>
                  <a:srgbClr val="002060"/>
                </a:solidFill>
              </a:rPr>
              <a:t>+</a:t>
            </a:r>
            <a:r>
              <a:rPr lang="en-GB" sz="1250" i="1" noProof="0" dirty="0">
                <a:solidFill>
                  <a:srgbClr val="002060"/>
                </a:solidFill>
              </a:rPr>
              <a:t> transferrable (a.k.a. call / cash / demand) deposits at ADIs</a:t>
            </a:r>
          </a:p>
          <a:p>
            <a:pPr marL="285750" indent="-285750">
              <a:buFont typeface="Courier New" panose="02070309020205020404" pitchFamily="49" charset="0"/>
              <a:buChar char="o"/>
            </a:pPr>
            <a:endParaRPr lang="en-GB" sz="500" b="1" noProof="0" dirty="0">
              <a:solidFill>
                <a:srgbClr val="592880"/>
              </a:solidFill>
            </a:endParaRPr>
          </a:p>
          <a:p>
            <a:pPr marL="285750" indent="-285750">
              <a:buFont typeface="Courier New" panose="02070309020205020404" pitchFamily="49" charset="0"/>
              <a:buChar char="o"/>
            </a:pPr>
            <a:r>
              <a:rPr lang="en-GB" sz="1600" b="1" noProof="0" dirty="0">
                <a:solidFill>
                  <a:schemeClr val="tx1"/>
                </a:solidFill>
              </a:rPr>
              <a:t>M3:</a:t>
            </a:r>
            <a:r>
              <a:rPr lang="en-GB" sz="1600" noProof="0" dirty="0">
                <a:solidFill>
                  <a:schemeClr val="tx1"/>
                </a:solidFill>
              </a:rPr>
              <a:t>   </a:t>
            </a:r>
            <a:r>
              <a:rPr lang="en-GB" sz="1250" b="1" i="1" noProof="0" dirty="0">
                <a:solidFill>
                  <a:srgbClr val="002060"/>
                </a:solidFill>
              </a:rPr>
              <a:t>M1 +</a:t>
            </a:r>
            <a:r>
              <a:rPr lang="en-GB" sz="1250" i="1" noProof="0" dirty="0">
                <a:solidFill>
                  <a:srgbClr val="002060"/>
                </a:solidFill>
              </a:rPr>
              <a:t> all other deposits at ADIs including </a:t>
            </a:r>
            <a:r>
              <a:rPr lang="en-GB" sz="1250" b="1" i="1" noProof="0" dirty="0">
                <a:solidFill>
                  <a:srgbClr val="002060"/>
                </a:solidFill>
              </a:rPr>
              <a:t>term deposits </a:t>
            </a:r>
            <a:r>
              <a:rPr lang="en-GB" sz="1250" i="1" noProof="0" dirty="0">
                <a:solidFill>
                  <a:srgbClr val="002060"/>
                </a:solidFill>
              </a:rPr>
              <a:t>and </a:t>
            </a:r>
            <a:r>
              <a:rPr lang="en-GB" sz="1250" b="1" i="1" noProof="0" dirty="0">
                <a:solidFill>
                  <a:srgbClr val="002060"/>
                </a:solidFill>
              </a:rPr>
              <a:t>certificates of deposit</a:t>
            </a:r>
          </a:p>
          <a:p>
            <a:pPr marL="285750" indent="-285750">
              <a:buFont typeface="Courier New" panose="02070309020205020404" pitchFamily="49" charset="0"/>
              <a:buChar char="o"/>
            </a:pPr>
            <a:endParaRPr lang="en-GB" sz="500" b="1" i="1" noProof="0" dirty="0">
              <a:solidFill>
                <a:srgbClr val="592880"/>
              </a:solidFill>
            </a:endParaRPr>
          </a:p>
          <a:p>
            <a:pPr marL="285750" indent="-285750">
              <a:buFont typeface="Courier New" panose="02070309020205020404" pitchFamily="49" charset="0"/>
              <a:buChar char="o"/>
            </a:pPr>
            <a:r>
              <a:rPr lang="en-GB" sz="1600" b="1" noProof="0" dirty="0">
                <a:solidFill>
                  <a:schemeClr val="tx1"/>
                </a:solidFill>
              </a:rPr>
              <a:t>Broad Money:   </a:t>
            </a:r>
            <a:r>
              <a:rPr lang="en-GB" sz="1250" b="1" i="1" noProof="0" dirty="0">
                <a:solidFill>
                  <a:srgbClr val="002060"/>
                </a:solidFill>
              </a:rPr>
              <a:t>M3 + </a:t>
            </a:r>
            <a:r>
              <a:rPr lang="en-GB" sz="1250" i="1" noProof="0" dirty="0">
                <a:solidFill>
                  <a:srgbClr val="002060"/>
                </a:solidFill>
              </a:rPr>
              <a:t>short term liquid liabilities issued by non-ADIs</a:t>
            </a:r>
          </a:p>
          <a:p>
            <a:endParaRPr lang="en-GB" sz="1400" b="1" noProof="0" dirty="0">
              <a:solidFill>
                <a:schemeClr val="tx1"/>
              </a:solidFill>
            </a:endParaRPr>
          </a:p>
        </p:txBody>
      </p:sp>
      <p:sp>
        <p:nvSpPr>
          <p:cNvPr id="5" name="Rectangle 4">
            <a:extLst>
              <a:ext uri="{FF2B5EF4-FFF2-40B4-BE49-F238E27FC236}">
                <a16:creationId xmlns:a16="http://schemas.microsoft.com/office/drawing/2014/main" id="{2E38F9AD-A5BB-6A40-30F5-DFD6FD9D6186}"/>
              </a:ext>
            </a:extLst>
          </p:cNvPr>
          <p:cNvSpPr/>
          <p:nvPr/>
        </p:nvSpPr>
        <p:spPr>
          <a:xfrm>
            <a:off x="6026345" y="2893687"/>
            <a:ext cx="5795889" cy="3585784"/>
          </a:xfrm>
          <a:prstGeom prst="rect">
            <a:avLst/>
          </a:prstGeom>
          <a:solidFill>
            <a:srgbClr val="7030A0">
              <a:alpha val="10000"/>
            </a:srgbClr>
          </a:solidFill>
          <a:ln w="6350">
            <a:solidFill>
              <a:srgbClr val="592880"/>
            </a:solidFill>
          </a:ln>
        </p:spPr>
        <p:style>
          <a:lnRef idx="2">
            <a:schemeClr val="accent1">
              <a:shade val="15000"/>
            </a:schemeClr>
          </a:lnRef>
          <a:fillRef idx="1">
            <a:schemeClr val="accent1"/>
          </a:fillRef>
          <a:effectRef idx="0">
            <a:schemeClr val="accent1"/>
          </a:effectRef>
          <a:fontRef idx="minor">
            <a:schemeClr val="lt1"/>
          </a:fontRef>
        </p:style>
        <p:txBody>
          <a:bodyPr lIns="144000" tIns="108000" rIns="108000" bIns="36000" rtlCol="0" anchor="t"/>
          <a:lstStyle/>
          <a:p>
            <a:r>
              <a:rPr lang="en-GB" sz="1600" b="1" noProof="0" dirty="0">
                <a:solidFill>
                  <a:srgbClr val="35115F"/>
                </a:solidFill>
                <a:latin typeface="+mj-lt"/>
              </a:rPr>
              <a:t>Tokenised Private Money</a:t>
            </a:r>
          </a:p>
          <a:p>
            <a:endParaRPr lang="en-GB" sz="600" noProof="0" dirty="0">
              <a:solidFill>
                <a:schemeClr val="tx1"/>
              </a:solidFill>
            </a:endParaRPr>
          </a:p>
          <a:p>
            <a:pPr marL="285750" indent="-285750">
              <a:buFont typeface="Arial" panose="020B0604020202020204" pitchFamily="34" charset="0"/>
              <a:buChar char="•"/>
            </a:pPr>
            <a:r>
              <a:rPr lang="en-GB" sz="1300" b="1" noProof="0" dirty="0">
                <a:solidFill>
                  <a:srgbClr val="800000"/>
                </a:solidFill>
              </a:rPr>
              <a:t>Deposit tokens </a:t>
            </a:r>
            <a:r>
              <a:rPr lang="en-GB" sz="1250" noProof="0" dirty="0">
                <a:solidFill>
                  <a:schemeClr val="tx1"/>
                </a:solidFill>
              </a:rPr>
              <a:t>issued by domestic ADIs would be legally equivalent to deposits. Deposit tokens without tenor would be categorised with call deposits in monetary aggregates (M1). Project Acacia experiments </a:t>
            </a:r>
            <a:r>
              <a:rPr lang="en-GB" sz="1250" dirty="0">
                <a:solidFill>
                  <a:schemeClr val="tx1"/>
                </a:solidFill>
              </a:rPr>
              <a:t>will feature tokenised term deposits &amp; CDs; </a:t>
            </a:r>
            <a:r>
              <a:rPr lang="en-GB" sz="1250" b="1" noProof="0" dirty="0">
                <a:solidFill>
                  <a:schemeClr val="tx1"/>
                </a:solidFill>
              </a:rPr>
              <a:t>tokenised M3.</a:t>
            </a:r>
            <a:r>
              <a:rPr lang="en-GB" sz="1250" noProof="0" dirty="0">
                <a:solidFill>
                  <a:schemeClr val="tx1"/>
                </a:solidFill>
              </a:rPr>
              <a:t> </a:t>
            </a:r>
          </a:p>
          <a:p>
            <a:pPr marL="285750" indent="-285750">
              <a:buFont typeface="Arial" panose="020B0604020202020204" pitchFamily="34" charset="0"/>
              <a:buChar char="•"/>
            </a:pPr>
            <a:endParaRPr lang="en-GB" sz="600" noProof="0" dirty="0">
              <a:solidFill>
                <a:schemeClr val="tx1"/>
              </a:solidFill>
            </a:endParaRPr>
          </a:p>
          <a:p>
            <a:pPr marL="285750" indent="-285750">
              <a:buFont typeface="Arial" panose="020B0604020202020204" pitchFamily="34" charset="0"/>
              <a:buChar char="•"/>
            </a:pPr>
            <a:r>
              <a:rPr lang="en-GB" sz="1300" b="1" noProof="0" dirty="0">
                <a:solidFill>
                  <a:srgbClr val="800000"/>
                </a:solidFill>
              </a:rPr>
              <a:t>Stablecoins</a:t>
            </a:r>
            <a:r>
              <a:rPr lang="en-GB" sz="1250" noProof="0" dirty="0">
                <a:solidFill>
                  <a:srgbClr val="800000"/>
                </a:solidFill>
              </a:rPr>
              <a:t> </a:t>
            </a:r>
            <a:r>
              <a:rPr lang="en-GB" sz="1250" noProof="0" dirty="0">
                <a:solidFill>
                  <a:schemeClr val="tx1"/>
                </a:solidFill>
              </a:rPr>
              <a:t>can be issued by non-ADIs and are not included in any monetary aggregate. Treasury’s proposed regulatory framework classifies stablecoins as a special type of </a:t>
            </a:r>
            <a:r>
              <a:rPr lang="en-GB" sz="1250" b="1" noProof="0" dirty="0">
                <a:solidFill>
                  <a:schemeClr val="tx1"/>
                </a:solidFill>
              </a:rPr>
              <a:t>SVF</a:t>
            </a:r>
            <a:r>
              <a:rPr lang="en-GB" sz="1250" noProof="0" dirty="0">
                <a:solidFill>
                  <a:schemeClr val="tx1"/>
                </a:solidFill>
              </a:rPr>
              <a:t> that is </a:t>
            </a:r>
            <a:r>
              <a:rPr lang="en-GB" sz="1250" i="1" noProof="0" dirty="0">
                <a:solidFill>
                  <a:schemeClr val="tx1"/>
                </a:solidFill>
              </a:rPr>
              <a:t>“used [for payments] without the direct involvement of the issuer”</a:t>
            </a:r>
            <a:r>
              <a:rPr lang="en-GB" sz="1250" noProof="0" dirty="0">
                <a:solidFill>
                  <a:schemeClr val="tx1"/>
                </a:solidFill>
              </a:rPr>
              <a:t>.</a:t>
            </a:r>
            <a:r>
              <a:rPr lang="en-GB" sz="1250" b="1" noProof="0" dirty="0">
                <a:solidFill>
                  <a:schemeClr val="tx1"/>
                </a:solidFill>
              </a:rPr>
              <a:t> </a:t>
            </a:r>
            <a:r>
              <a:rPr lang="en-GB" sz="1250" noProof="0" dirty="0">
                <a:solidFill>
                  <a:schemeClr val="tx1"/>
                </a:solidFill>
              </a:rPr>
              <a:t> Including SVFs in monetary aggregates would ‘double count’ the issuer’s liability along with the deposits held by the issuer as its necessary liquid backing assets. </a:t>
            </a:r>
          </a:p>
          <a:p>
            <a:pPr marL="285750" indent="-285750">
              <a:buFont typeface="Arial" panose="020B0604020202020204" pitchFamily="34" charset="0"/>
              <a:buChar char="•"/>
            </a:pPr>
            <a:endParaRPr lang="en-GB" sz="600" noProof="0" dirty="0">
              <a:solidFill>
                <a:schemeClr val="tx1"/>
              </a:solidFill>
            </a:endParaRPr>
          </a:p>
          <a:p>
            <a:pPr marL="285750" indent="-285750">
              <a:buFont typeface="Arial" panose="020B0604020202020204" pitchFamily="34" charset="0"/>
              <a:buChar char="•"/>
            </a:pPr>
            <a:r>
              <a:rPr lang="en-GB" sz="1300" b="1" noProof="0" dirty="0">
                <a:solidFill>
                  <a:srgbClr val="800000"/>
                </a:solidFill>
              </a:rPr>
              <a:t>Tokenised MMFs </a:t>
            </a:r>
            <a:r>
              <a:rPr lang="en-GB" sz="1250" noProof="0" dirty="0">
                <a:solidFill>
                  <a:schemeClr val="tx1"/>
                </a:solidFill>
              </a:rPr>
              <a:t>are shares in regulated mutual funds investing in short-term low-risk assets, issued </a:t>
            </a:r>
            <a:r>
              <a:rPr lang="en-GB" sz="1250" dirty="0">
                <a:solidFill>
                  <a:schemeClr val="tx1"/>
                </a:solidFill>
              </a:rPr>
              <a:t>as </a:t>
            </a:r>
            <a:r>
              <a:rPr lang="en-GB" sz="1250" b="1" dirty="0">
                <a:solidFill>
                  <a:schemeClr val="tx1"/>
                </a:solidFill>
              </a:rPr>
              <a:t>stable-value yield-bearing tokens </a:t>
            </a:r>
            <a:r>
              <a:rPr lang="en-GB" sz="1250" noProof="0" dirty="0">
                <a:solidFill>
                  <a:schemeClr val="tx1"/>
                </a:solidFill>
              </a:rPr>
              <a:t>and useful as </a:t>
            </a:r>
            <a:r>
              <a:rPr lang="en-GB" sz="1250" b="1" noProof="0" dirty="0">
                <a:solidFill>
                  <a:schemeClr val="tx1"/>
                </a:solidFill>
              </a:rPr>
              <a:t>programmable collateral</a:t>
            </a:r>
            <a:r>
              <a:rPr lang="en-GB" sz="1250" noProof="0" dirty="0">
                <a:solidFill>
                  <a:schemeClr val="tx1"/>
                </a:solidFill>
              </a:rPr>
              <a:t>. Tokenised MMFs are issued by BlackRock, Franklin Templeton, UBS, Fidelity International &amp; Circle. Goldman Sachs &amp; BNY Mellon also recently announced a MMF tokenisation initiative.</a:t>
            </a:r>
          </a:p>
        </p:txBody>
      </p:sp>
      <p:sp>
        <p:nvSpPr>
          <p:cNvPr id="4" name="TextBox 3">
            <a:extLst>
              <a:ext uri="{FF2B5EF4-FFF2-40B4-BE49-F238E27FC236}">
                <a16:creationId xmlns:a16="http://schemas.microsoft.com/office/drawing/2014/main" id="{D9092784-F9F7-E7E9-9C9D-D88429D7A976}"/>
              </a:ext>
            </a:extLst>
          </p:cNvPr>
          <p:cNvSpPr txBox="1"/>
          <p:nvPr/>
        </p:nvSpPr>
        <p:spPr>
          <a:xfrm>
            <a:off x="485165" y="2462555"/>
            <a:ext cx="1317169" cy="1415772"/>
          </a:xfrm>
          <a:prstGeom prst="rect">
            <a:avLst/>
          </a:prstGeom>
          <a:noFill/>
        </p:spPr>
        <p:txBody>
          <a:bodyPr wrap="square">
            <a:spAutoFit/>
          </a:bodyPr>
          <a:lstStyle/>
          <a:p>
            <a:pPr algn="r"/>
            <a:endParaRPr lang="en-GB" sz="1600" b="1" i="1" noProof="0" dirty="0"/>
          </a:p>
          <a:p>
            <a:pPr algn="r"/>
            <a:r>
              <a:rPr lang="en-GB" sz="1400" b="1" i="1" noProof="0" dirty="0">
                <a:solidFill>
                  <a:srgbClr val="7030A0"/>
                </a:solidFill>
              </a:rPr>
              <a:t>ES balances </a:t>
            </a:r>
            <a:r>
              <a:rPr lang="en-GB" sz="1400" i="1" noProof="0" dirty="0">
                <a:solidFill>
                  <a:srgbClr val="7030A0"/>
                </a:solidFill>
              </a:rPr>
              <a:t>(in RITS) are part of MB but not M1</a:t>
            </a:r>
          </a:p>
          <a:p>
            <a:pPr algn="r"/>
            <a:endParaRPr lang="en-GB" sz="1400" noProof="0" dirty="0"/>
          </a:p>
        </p:txBody>
      </p:sp>
      <p:graphicFrame>
        <p:nvGraphicFramePr>
          <p:cNvPr id="9" name="Chart 8">
            <a:extLst>
              <a:ext uri="{FF2B5EF4-FFF2-40B4-BE49-F238E27FC236}">
                <a16:creationId xmlns:a16="http://schemas.microsoft.com/office/drawing/2014/main" id="{69B3F959-7938-119E-5275-8A744C566844}"/>
              </a:ext>
            </a:extLst>
          </p:cNvPr>
          <p:cNvGraphicFramePr/>
          <p:nvPr>
            <p:extLst>
              <p:ext uri="{D42A27DB-BD31-4B8C-83A1-F6EECF244321}">
                <p14:modId xmlns:p14="http://schemas.microsoft.com/office/powerpoint/2010/main" val="3471578501"/>
              </p:ext>
            </p:extLst>
          </p:nvPr>
        </p:nvGraphicFramePr>
        <p:xfrm>
          <a:off x="1739529" y="2397448"/>
          <a:ext cx="1561948" cy="1617084"/>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a:extLst>
              <a:ext uri="{FF2B5EF4-FFF2-40B4-BE49-F238E27FC236}">
                <a16:creationId xmlns:a16="http://schemas.microsoft.com/office/drawing/2014/main" id="{FFC05CA0-EB6D-3103-AF27-D2ABD98FC067}"/>
              </a:ext>
            </a:extLst>
          </p:cNvPr>
          <p:cNvSpPr txBox="1"/>
          <p:nvPr/>
        </p:nvSpPr>
        <p:spPr>
          <a:xfrm>
            <a:off x="2108673" y="2975157"/>
            <a:ext cx="823660" cy="461665"/>
          </a:xfrm>
          <a:prstGeom prst="rect">
            <a:avLst/>
          </a:prstGeom>
          <a:noFill/>
        </p:spPr>
        <p:txBody>
          <a:bodyPr wrap="square">
            <a:spAutoFit/>
          </a:bodyPr>
          <a:lstStyle/>
          <a:p>
            <a:pPr algn="ctr"/>
            <a:r>
              <a:rPr lang="en-GB" sz="2400" b="1" noProof="0" dirty="0">
                <a:solidFill>
                  <a:srgbClr val="800000"/>
                </a:solidFill>
              </a:rPr>
              <a:t>MB</a:t>
            </a:r>
            <a:r>
              <a:rPr lang="en-GB" sz="2400" noProof="0" dirty="0">
                <a:solidFill>
                  <a:srgbClr val="800000"/>
                </a:solidFill>
              </a:rPr>
              <a:t> </a:t>
            </a:r>
          </a:p>
        </p:txBody>
      </p:sp>
      <p:sp>
        <p:nvSpPr>
          <p:cNvPr id="13" name="TextBox 12">
            <a:extLst>
              <a:ext uri="{FF2B5EF4-FFF2-40B4-BE49-F238E27FC236}">
                <a16:creationId xmlns:a16="http://schemas.microsoft.com/office/drawing/2014/main" id="{1B02D792-8042-A904-EFF9-CA10256C24EB}"/>
              </a:ext>
            </a:extLst>
          </p:cNvPr>
          <p:cNvSpPr txBox="1"/>
          <p:nvPr/>
        </p:nvSpPr>
        <p:spPr>
          <a:xfrm>
            <a:off x="3238672" y="3319405"/>
            <a:ext cx="2306593" cy="461665"/>
          </a:xfrm>
          <a:prstGeom prst="rect">
            <a:avLst/>
          </a:prstGeom>
          <a:noFill/>
        </p:spPr>
        <p:txBody>
          <a:bodyPr wrap="square">
            <a:spAutoFit/>
          </a:bodyPr>
          <a:lstStyle/>
          <a:p>
            <a:r>
              <a:rPr lang="en-GB" sz="1200" i="1" noProof="0" dirty="0">
                <a:solidFill>
                  <a:schemeClr val="accent5"/>
                </a:solidFill>
              </a:rPr>
              <a:t>Other RBA liabilities to private non-banks (not in M1)</a:t>
            </a:r>
          </a:p>
        </p:txBody>
      </p:sp>
      <p:sp>
        <p:nvSpPr>
          <p:cNvPr id="14" name="TextBox 13">
            <a:extLst>
              <a:ext uri="{FF2B5EF4-FFF2-40B4-BE49-F238E27FC236}">
                <a16:creationId xmlns:a16="http://schemas.microsoft.com/office/drawing/2014/main" id="{4C402DE8-4F9E-BD84-DA0D-1556FBCC316B}"/>
              </a:ext>
            </a:extLst>
          </p:cNvPr>
          <p:cNvSpPr txBox="1"/>
          <p:nvPr/>
        </p:nvSpPr>
        <p:spPr>
          <a:xfrm>
            <a:off x="3230387" y="2493884"/>
            <a:ext cx="3771648" cy="738664"/>
          </a:xfrm>
          <a:prstGeom prst="rect">
            <a:avLst/>
          </a:prstGeom>
          <a:noFill/>
        </p:spPr>
        <p:txBody>
          <a:bodyPr wrap="square">
            <a:spAutoFit/>
          </a:bodyPr>
          <a:lstStyle/>
          <a:p>
            <a:r>
              <a:rPr lang="en-GB" sz="1400" b="1" i="1" noProof="0" dirty="0">
                <a:solidFill>
                  <a:srgbClr val="2E0D2A"/>
                </a:solidFill>
              </a:rPr>
              <a:t>Physical currency </a:t>
            </a:r>
            <a:r>
              <a:rPr lang="en-GB" sz="1400" i="1" noProof="0" dirty="0">
                <a:solidFill>
                  <a:srgbClr val="2E0D2A"/>
                </a:solidFill>
              </a:rPr>
              <a:t>(banknotes + coins)</a:t>
            </a:r>
          </a:p>
          <a:p>
            <a:r>
              <a:rPr lang="en-GB" sz="1400" i="1" noProof="0" dirty="0">
                <a:solidFill>
                  <a:srgbClr val="2E0D2A"/>
                </a:solidFill>
              </a:rPr>
              <a:t>are included in MB &amp; M1  </a:t>
            </a:r>
          </a:p>
          <a:p>
            <a:endParaRPr lang="en-GB" sz="1400" i="1" noProof="0" dirty="0">
              <a:solidFill>
                <a:srgbClr val="2E0D2A"/>
              </a:solidFill>
            </a:endParaRPr>
          </a:p>
        </p:txBody>
      </p:sp>
      <p:sp>
        <p:nvSpPr>
          <p:cNvPr id="22" name="TextBox 21">
            <a:extLst>
              <a:ext uri="{FF2B5EF4-FFF2-40B4-BE49-F238E27FC236}">
                <a16:creationId xmlns:a16="http://schemas.microsoft.com/office/drawing/2014/main" id="{C72CB513-DB8D-C566-954F-F3C85AB36DAF}"/>
              </a:ext>
            </a:extLst>
          </p:cNvPr>
          <p:cNvSpPr txBox="1"/>
          <p:nvPr/>
        </p:nvSpPr>
        <p:spPr>
          <a:xfrm>
            <a:off x="460234" y="3908558"/>
            <a:ext cx="5528789" cy="492443"/>
          </a:xfrm>
          <a:prstGeom prst="rect">
            <a:avLst/>
          </a:prstGeom>
          <a:noFill/>
        </p:spPr>
        <p:txBody>
          <a:bodyPr wrap="square">
            <a:spAutoFit/>
          </a:bodyPr>
          <a:lstStyle/>
          <a:p>
            <a:r>
              <a:rPr lang="en-GB" sz="1200" i="1" noProof="0" dirty="0">
                <a:solidFill>
                  <a:srgbClr val="800000"/>
                </a:solidFill>
              </a:rPr>
              <a:t>A future legislated CBDC (retail or wholesale) would be a new MB component</a:t>
            </a:r>
          </a:p>
          <a:p>
            <a:pPr algn="r"/>
            <a:endParaRPr lang="en-GB" sz="1400" i="1" noProof="0" dirty="0">
              <a:solidFill>
                <a:srgbClr val="800000"/>
              </a:solidFill>
            </a:endParaRPr>
          </a:p>
        </p:txBody>
      </p:sp>
      <p:sp>
        <p:nvSpPr>
          <p:cNvPr id="27" name="TextBox 26">
            <a:extLst>
              <a:ext uri="{FF2B5EF4-FFF2-40B4-BE49-F238E27FC236}">
                <a16:creationId xmlns:a16="http://schemas.microsoft.com/office/drawing/2014/main" id="{A31DF59F-A16F-057F-A8F3-FB601A560F44}"/>
              </a:ext>
            </a:extLst>
          </p:cNvPr>
          <p:cNvSpPr txBox="1"/>
          <p:nvPr/>
        </p:nvSpPr>
        <p:spPr>
          <a:xfrm>
            <a:off x="460233" y="2112885"/>
            <a:ext cx="6666667" cy="338554"/>
          </a:xfrm>
          <a:prstGeom prst="rect">
            <a:avLst/>
          </a:prstGeom>
          <a:noFill/>
        </p:spPr>
        <p:txBody>
          <a:bodyPr wrap="square">
            <a:spAutoFit/>
          </a:bodyPr>
          <a:lstStyle/>
          <a:p>
            <a:r>
              <a:rPr lang="en-GB" sz="1600" noProof="0" dirty="0">
                <a:solidFill>
                  <a:srgbClr val="800000"/>
                </a:solidFill>
              </a:rPr>
              <a:t>The RBA refers to central bank money as </a:t>
            </a:r>
            <a:r>
              <a:rPr lang="en-GB" sz="1600" b="1" noProof="0" dirty="0">
                <a:solidFill>
                  <a:srgbClr val="800000"/>
                </a:solidFill>
              </a:rPr>
              <a:t>MB</a:t>
            </a:r>
            <a:r>
              <a:rPr lang="en-GB" sz="1600" noProof="0" dirty="0">
                <a:solidFill>
                  <a:srgbClr val="800000"/>
                </a:solidFill>
              </a:rPr>
              <a:t> rather than </a:t>
            </a:r>
            <a:r>
              <a:rPr lang="en-GB" sz="1600" b="1" noProof="0" dirty="0">
                <a:solidFill>
                  <a:srgbClr val="800000"/>
                </a:solidFill>
              </a:rPr>
              <a:t>M0 </a:t>
            </a:r>
          </a:p>
        </p:txBody>
      </p:sp>
      <p:cxnSp>
        <p:nvCxnSpPr>
          <p:cNvPr id="35" name="Straight Connector 34">
            <a:extLst>
              <a:ext uri="{FF2B5EF4-FFF2-40B4-BE49-F238E27FC236}">
                <a16:creationId xmlns:a16="http://schemas.microsoft.com/office/drawing/2014/main" id="{110DAD1B-12CA-938B-ED13-BA45F7FF69E6}"/>
              </a:ext>
            </a:extLst>
          </p:cNvPr>
          <p:cNvCxnSpPr>
            <a:cxnSpLocks/>
          </p:cNvCxnSpPr>
          <p:nvPr/>
        </p:nvCxnSpPr>
        <p:spPr>
          <a:xfrm>
            <a:off x="503659" y="4261861"/>
            <a:ext cx="5327298" cy="0"/>
          </a:xfrm>
          <a:prstGeom prst="line">
            <a:avLst/>
          </a:prstGeom>
          <a:ln w="6350">
            <a:solidFill>
              <a:srgbClr val="35115F"/>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E8E5D825-4A9A-550D-8994-D913F4A9FEB6}"/>
              </a:ext>
            </a:extLst>
          </p:cNvPr>
          <p:cNvCxnSpPr>
            <a:cxnSpLocks/>
          </p:cNvCxnSpPr>
          <p:nvPr/>
        </p:nvCxnSpPr>
        <p:spPr>
          <a:xfrm>
            <a:off x="7219851" y="524190"/>
            <a:ext cx="0" cy="2181863"/>
          </a:xfrm>
          <a:prstGeom prst="line">
            <a:avLst/>
          </a:prstGeom>
          <a:ln w="6350">
            <a:solidFill>
              <a:srgbClr val="35115F"/>
            </a:solidFill>
          </a:ln>
        </p:spPr>
        <p:style>
          <a:lnRef idx="2">
            <a:schemeClr val="accent1"/>
          </a:lnRef>
          <a:fillRef idx="0">
            <a:schemeClr val="accent1"/>
          </a:fillRef>
          <a:effectRef idx="1">
            <a:schemeClr val="accent1"/>
          </a:effectRef>
          <a:fontRef idx="minor">
            <a:schemeClr val="tx1"/>
          </a:fontRef>
        </p:style>
      </p:cxnSp>
      <p:pic>
        <p:nvPicPr>
          <p:cNvPr id="42" name="Picture 41">
            <a:extLst>
              <a:ext uri="{FF2B5EF4-FFF2-40B4-BE49-F238E27FC236}">
                <a16:creationId xmlns:a16="http://schemas.microsoft.com/office/drawing/2014/main" id="{763C4D76-4211-040C-F716-B1B939D000EA}"/>
              </a:ext>
            </a:extLst>
          </p:cNvPr>
          <p:cNvPicPr>
            <a:picLocks noChangeAspect="1"/>
          </p:cNvPicPr>
          <p:nvPr/>
        </p:nvPicPr>
        <p:blipFill>
          <a:blip r:embed="rId4"/>
          <a:stretch>
            <a:fillRect/>
          </a:stretch>
        </p:blipFill>
        <p:spPr>
          <a:xfrm>
            <a:off x="7437668" y="410614"/>
            <a:ext cx="4315049" cy="2316833"/>
          </a:xfrm>
          <a:prstGeom prst="rect">
            <a:avLst/>
          </a:prstGeom>
        </p:spPr>
      </p:pic>
      <p:sp>
        <p:nvSpPr>
          <p:cNvPr id="2" name="TextBox 1">
            <a:extLst>
              <a:ext uri="{FF2B5EF4-FFF2-40B4-BE49-F238E27FC236}">
                <a16:creationId xmlns:a16="http://schemas.microsoft.com/office/drawing/2014/main" id="{21F25434-AA77-564F-BFDC-044C9759D0EF}"/>
              </a:ext>
            </a:extLst>
          </p:cNvPr>
          <p:cNvSpPr txBox="1"/>
          <p:nvPr/>
        </p:nvSpPr>
        <p:spPr>
          <a:xfrm>
            <a:off x="8812676" y="296623"/>
            <a:ext cx="1394869" cy="307777"/>
          </a:xfrm>
          <a:prstGeom prst="rect">
            <a:avLst/>
          </a:prstGeom>
          <a:noFill/>
        </p:spPr>
        <p:txBody>
          <a:bodyPr wrap="none" rtlCol="0">
            <a:spAutoFit/>
          </a:bodyPr>
          <a:lstStyle/>
          <a:p>
            <a:r>
              <a:rPr lang="en-GB" sz="1400" noProof="0" dirty="0">
                <a:solidFill>
                  <a:schemeClr val="accent4">
                    <a:lumMod val="50000"/>
                  </a:schemeClr>
                </a:solidFill>
              </a:rPr>
              <a:t>RBA Aggregates</a:t>
            </a:r>
          </a:p>
        </p:txBody>
      </p:sp>
      <p:pic>
        <p:nvPicPr>
          <p:cNvPr id="6" name="Picture 10">
            <a:extLst>
              <a:ext uri="{FF2B5EF4-FFF2-40B4-BE49-F238E27FC236}">
                <a16:creationId xmlns:a16="http://schemas.microsoft.com/office/drawing/2014/main" id="{7684E138-EB63-ECD6-625B-8366B97E0F9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0465"/>
          <a:stretch>
            <a:fillRect/>
          </a:stretch>
        </p:blipFill>
        <p:spPr bwMode="auto">
          <a:xfrm>
            <a:off x="726337" y="4614400"/>
            <a:ext cx="2178784" cy="201709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194B4F1-0E94-664F-9B80-31E928135A47}"/>
              </a:ext>
            </a:extLst>
          </p:cNvPr>
          <p:cNvSpPr txBox="1"/>
          <p:nvPr/>
        </p:nvSpPr>
        <p:spPr>
          <a:xfrm>
            <a:off x="1025423" y="4367835"/>
            <a:ext cx="1790641" cy="307777"/>
          </a:xfrm>
          <a:prstGeom prst="rect">
            <a:avLst/>
          </a:prstGeom>
          <a:noFill/>
        </p:spPr>
        <p:txBody>
          <a:bodyPr wrap="square">
            <a:spAutoFit/>
          </a:bodyPr>
          <a:lstStyle/>
          <a:p>
            <a:pPr algn="ctr"/>
            <a:r>
              <a:rPr lang="en-GB" sz="1400" noProof="0" dirty="0">
                <a:solidFill>
                  <a:schemeClr val="accent4">
                    <a:lumMod val="50000"/>
                  </a:schemeClr>
                </a:solidFill>
                <a:latin typeface="+mj-lt"/>
              </a:rPr>
              <a:t>CeB Liabilities</a:t>
            </a:r>
            <a:endParaRPr lang="en-GB" sz="1400" noProof="0" dirty="0">
              <a:solidFill>
                <a:schemeClr val="accent4">
                  <a:lumMod val="50000"/>
                </a:schemeClr>
              </a:solidFill>
            </a:endParaRPr>
          </a:p>
        </p:txBody>
      </p:sp>
      <p:pic>
        <p:nvPicPr>
          <p:cNvPr id="10" name="Picture 14">
            <a:extLst>
              <a:ext uri="{FF2B5EF4-FFF2-40B4-BE49-F238E27FC236}">
                <a16:creationId xmlns:a16="http://schemas.microsoft.com/office/drawing/2014/main" id="{A2171EDC-9B88-DA75-CC37-FA94FA30526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174"/>
          <a:stretch>
            <a:fillRect/>
          </a:stretch>
        </p:blipFill>
        <p:spPr bwMode="auto">
          <a:xfrm>
            <a:off x="3266178" y="4663080"/>
            <a:ext cx="2126687" cy="1919735"/>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D1E64DAF-78A2-B329-78FC-0F572D157590}"/>
              </a:ext>
            </a:extLst>
          </p:cNvPr>
          <p:cNvSpPr txBox="1"/>
          <p:nvPr/>
        </p:nvSpPr>
        <p:spPr>
          <a:xfrm>
            <a:off x="3352427" y="4363695"/>
            <a:ext cx="1704213" cy="307777"/>
          </a:xfrm>
          <a:prstGeom prst="rect">
            <a:avLst/>
          </a:prstGeom>
          <a:noFill/>
        </p:spPr>
        <p:txBody>
          <a:bodyPr wrap="square">
            <a:spAutoFit/>
          </a:bodyPr>
          <a:lstStyle/>
          <a:p>
            <a:pPr algn="ctr"/>
            <a:r>
              <a:rPr lang="en-GB" sz="1400" noProof="0" dirty="0" err="1">
                <a:solidFill>
                  <a:schemeClr val="accent4">
                    <a:lumMod val="50000"/>
                  </a:schemeClr>
                </a:solidFill>
                <a:latin typeface="+mj-lt"/>
              </a:rPr>
              <a:t>CoB</a:t>
            </a:r>
            <a:r>
              <a:rPr lang="en-GB" sz="1400" noProof="0" dirty="0">
                <a:solidFill>
                  <a:schemeClr val="accent4">
                    <a:lumMod val="50000"/>
                  </a:schemeClr>
                </a:solidFill>
                <a:latin typeface="+mj-lt"/>
              </a:rPr>
              <a:t> Liabilities</a:t>
            </a:r>
            <a:endParaRPr lang="en-GB" sz="1400" noProof="0" dirty="0">
              <a:solidFill>
                <a:schemeClr val="accent4">
                  <a:lumMod val="50000"/>
                </a:schemeClr>
              </a:solidFill>
            </a:endParaRPr>
          </a:p>
        </p:txBody>
      </p:sp>
    </p:spTree>
    <p:extLst>
      <p:ext uri="{BB962C8B-B14F-4D97-AF65-F5344CB8AC3E}">
        <p14:creationId xmlns:p14="http://schemas.microsoft.com/office/powerpoint/2010/main" val="38966807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86118-34E2-B698-D19C-8CE2AC6B5F73}"/>
            </a:ext>
          </a:extLst>
        </p:cNvPr>
        <p:cNvGrpSpPr/>
        <p:nvPr/>
      </p:nvGrpSpPr>
      <p:grpSpPr>
        <a:xfrm>
          <a:off x="0" y="0"/>
          <a:ext cx="0" cy="0"/>
          <a:chOff x="0" y="0"/>
          <a:chExt cx="0" cy="0"/>
        </a:xfrm>
      </p:grpSpPr>
      <p:pic>
        <p:nvPicPr>
          <p:cNvPr id="4114" name="Picture 18">
            <a:extLst>
              <a:ext uri="{FF2B5EF4-FFF2-40B4-BE49-F238E27FC236}">
                <a16:creationId xmlns:a16="http://schemas.microsoft.com/office/drawing/2014/main" id="{6CF31737-2396-85CD-0374-E35BCD3CCE55}"/>
              </a:ext>
            </a:extLst>
          </p:cNvPr>
          <p:cNvPicPr>
            <a:picLocks/>
          </p:cNvPicPr>
          <p:nvPr/>
        </p:nvPicPr>
        <p:blipFill rotWithShape="1">
          <a:blip r:embed="rId3">
            <a:extLst>
              <a:ext uri="{28A0092B-C50C-407E-A947-70E740481C1C}">
                <a14:useLocalDpi xmlns:a14="http://schemas.microsoft.com/office/drawing/2010/main" val="0"/>
              </a:ext>
            </a:extLst>
          </a:blip>
          <a:srcRect l="5435" r="19174" b="22162"/>
          <a:stretch>
            <a:fillRect/>
          </a:stretch>
        </p:blipFill>
        <p:spPr bwMode="auto">
          <a:xfrm>
            <a:off x="8721559" y="4137038"/>
            <a:ext cx="3170764" cy="2233110"/>
          </a:xfrm>
          <a:prstGeom prst="rect">
            <a:avLst/>
          </a:prstGeom>
          <a:noFill/>
          <a:extLst>
            <a:ext uri="{909E8E84-426E-40DD-AFC4-6F175D3DCCD1}">
              <a14:hiddenFill xmlns:a14="http://schemas.microsoft.com/office/drawing/2010/main">
                <a:solidFill>
                  <a:srgbClr val="FFFFFF"/>
                </a:solidFill>
              </a14:hiddenFill>
            </a:ext>
          </a:extLst>
        </p:spPr>
      </p:pic>
      <p:pic>
        <p:nvPicPr>
          <p:cNvPr id="4112" name="Picture 16">
            <a:extLst>
              <a:ext uri="{FF2B5EF4-FFF2-40B4-BE49-F238E27FC236}">
                <a16:creationId xmlns:a16="http://schemas.microsoft.com/office/drawing/2014/main" id="{B979D792-F860-533A-E519-E0948F1C7C4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2" t="-633" r="122" b="9064"/>
          <a:stretch>
            <a:fillRect/>
          </a:stretch>
        </p:blipFill>
        <p:spPr bwMode="auto">
          <a:xfrm>
            <a:off x="8593129" y="801204"/>
            <a:ext cx="2988398" cy="3433768"/>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C216DFFE-866B-0359-D238-622BA7573896}"/>
              </a:ext>
            </a:extLst>
          </p:cNvPr>
          <p:cNvSpPr txBox="1"/>
          <p:nvPr/>
        </p:nvSpPr>
        <p:spPr>
          <a:xfrm>
            <a:off x="9355684" y="-1599710"/>
            <a:ext cx="2358839" cy="307777"/>
          </a:xfrm>
          <a:prstGeom prst="rect">
            <a:avLst/>
          </a:prstGeom>
          <a:noFill/>
        </p:spPr>
        <p:txBody>
          <a:bodyPr wrap="square">
            <a:spAutoFit/>
          </a:bodyPr>
          <a:lstStyle/>
          <a:p>
            <a:pPr algn="ctr"/>
            <a:r>
              <a:rPr lang="en-GB" sz="1400" b="1" noProof="0" dirty="0">
                <a:solidFill>
                  <a:schemeClr val="tx1">
                    <a:lumMod val="75000"/>
                    <a:lumOff val="25000"/>
                  </a:schemeClr>
                </a:solidFill>
                <a:latin typeface="+mj-lt"/>
              </a:rPr>
              <a:t>Tokenised RWA  Issuance</a:t>
            </a:r>
            <a:endParaRPr lang="en-GB" sz="1400" b="1" noProof="0" dirty="0">
              <a:solidFill>
                <a:schemeClr val="tx1">
                  <a:lumMod val="75000"/>
                  <a:lumOff val="25000"/>
                </a:schemeClr>
              </a:solidFill>
            </a:endParaRPr>
          </a:p>
        </p:txBody>
      </p:sp>
      <p:pic>
        <p:nvPicPr>
          <p:cNvPr id="4104" name="Picture 8">
            <a:extLst>
              <a:ext uri="{FF2B5EF4-FFF2-40B4-BE49-F238E27FC236}">
                <a16:creationId xmlns:a16="http://schemas.microsoft.com/office/drawing/2014/main" id="{CBB71824-9D25-BEF5-C0D9-6D629606CAB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1546" y="4713961"/>
            <a:ext cx="3186136" cy="1815015"/>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14">
            <a:extLst>
              <a:ext uri="{FF2B5EF4-FFF2-40B4-BE49-F238E27FC236}">
                <a16:creationId xmlns:a16="http://schemas.microsoft.com/office/drawing/2014/main" id="{8DAF0787-3477-07EE-F556-73F24F2FC7C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2546" y="4777712"/>
            <a:ext cx="3185729" cy="1815015"/>
          </a:xfrm>
          <a:prstGeom prst="rect">
            <a:avLst/>
          </a:prstGeom>
          <a:noFill/>
          <a:extLst>
            <a:ext uri="{909E8E84-426E-40DD-AFC4-6F175D3DCCD1}">
              <a14:hiddenFill xmlns:a14="http://schemas.microsoft.com/office/drawing/2010/main">
                <a:solidFill>
                  <a:srgbClr val="FFFFFF"/>
                </a:solidFill>
              </a14:hiddenFill>
            </a:ext>
          </a:extLst>
        </p:spPr>
      </p:pic>
      <p:sp>
        <p:nvSpPr>
          <p:cNvPr id="38" name="TextBox 37">
            <a:extLst>
              <a:ext uri="{FF2B5EF4-FFF2-40B4-BE49-F238E27FC236}">
                <a16:creationId xmlns:a16="http://schemas.microsoft.com/office/drawing/2014/main" id="{11C89341-4D9E-3B8D-CE12-F390D1D92E98}"/>
              </a:ext>
            </a:extLst>
          </p:cNvPr>
          <p:cNvSpPr txBox="1"/>
          <p:nvPr/>
        </p:nvSpPr>
        <p:spPr>
          <a:xfrm>
            <a:off x="4482334" y="4287816"/>
            <a:ext cx="3794545" cy="438582"/>
          </a:xfrm>
          <a:prstGeom prst="rect">
            <a:avLst/>
          </a:prstGeom>
          <a:noFill/>
        </p:spPr>
        <p:txBody>
          <a:bodyPr wrap="square">
            <a:spAutoFit/>
          </a:bodyPr>
          <a:lstStyle/>
          <a:p>
            <a:pPr algn="ctr"/>
            <a:r>
              <a:rPr lang="en-GB" sz="1200" b="1" noProof="0" dirty="0">
                <a:solidFill>
                  <a:srgbClr val="35115F"/>
                </a:solidFill>
                <a:latin typeface="+mj-lt"/>
              </a:rPr>
              <a:t>RWA Issuance</a:t>
            </a:r>
          </a:p>
          <a:p>
            <a:pPr algn="ctr"/>
            <a:r>
              <a:rPr lang="en-GB" sz="1000" noProof="0" dirty="0">
                <a:solidFill>
                  <a:srgbClr val="35115F"/>
                </a:solidFill>
                <a:latin typeface="+mj-lt"/>
              </a:rPr>
              <a:t>The largest component comes from  the US HELOC lender Figure </a:t>
            </a:r>
            <a:endParaRPr lang="en-GB" sz="1000" noProof="0" dirty="0">
              <a:solidFill>
                <a:srgbClr val="35115F"/>
              </a:solidFill>
            </a:endParaRPr>
          </a:p>
        </p:txBody>
      </p:sp>
      <p:sp>
        <p:nvSpPr>
          <p:cNvPr id="39" name="TextBox 38">
            <a:extLst>
              <a:ext uri="{FF2B5EF4-FFF2-40B4-BE49-F238E27FC236}">
                <a16:creationId xmlns:a16="http://schemas.microsoft.com/office/drawing/2014/main" id="{E4511135-33B8-E062-70F8-F1CD2CC32074}"/>
              </a:ext>
            </a:extLst>
          </p:cNvPr>
          <p:cNvSpPr txBox="1"/>
          <p:nvPr/>
        </p:nvSpPr>
        <p:spPr>
          <a:xfrm>
            <a:off x="8935871" y="336587"/>
            <a:ext cx="2506829" cy="538609"/>
          </a:xfrm>
          <a:prstGeom prst="rect">
            <a:avLst/>
          </a:prstGeom>
          <a:noFill/>
        </p:spPr>
        <p:txBody>
          <a:bodyPr wrap="square">
            <a:spAutoFit/>
          </a:bodyPr>
          <a:lstStyle/>
          <a:p>
            <a:pPr algn="ctr"/>
            <a:r>
              <a:rPr lang="en-GB" sz="1100" b="1" noProof="0" dirty="0">
                <a:solidFill>
                  <a:srgbClr val="35115F"/>
                </a:solidFill>
                <a:latin typeface="+mj-lt"/>
              </a:rPr>
              <a:t>Tokenised RWA Value (USD)</a:t>
            </a:r>
          </a:p>
          <a:p>
            <a:pPr algn="ctr"/>
            <a:r>
              <a:rPr lang="en-GB" sz="900" b="1" noProof="0" dirty="0">
                <a:solidFill>
                  <a:srgbClr val="35115F"/>
                </a:solidFill>
                <a:latin typeface="+mj-lt"/>
              </a:rPr>
              <a:t>US Treasuries </a:t>
            </a:r>
            <a:r>
              <a:rPr lang="en-GB" sz="900" noProof="0" dirty="0">
                <a:solidFill>
                  <a:srgbClr val="35115F"/>
                </a:solidFill>
                <a:latin typeface="+mj-lt"/>
              </a:rPr>
              <a:t>(led by BlackRock) and </a:t>
            </a:r>
            <a:r>
              <a:rPr lang="en-GB" sz="900" b="1" noProof="0" dirty="0">
                <a:solidFill>
                  <a:srgbClr val="35115F"/>
                </a:solidFill>
                <a:latin typeface="+mj-lt"/>
              </a:rPr>
              <a:t>gold </a:t>
            </a:r>
            <a:r>
              <a:rPr lang="en-GB" sz="900" noProof="0" dirty="0">
                <a:solidFill>
                  <a:srgbClr val="35115F"/>
                </a:solidFill>
                <a:latin typeface="+mj-lt"/>
              </a:rPr>
              <a:t>are the top tokenised assets, excluding HELOC’s ~$12B</a:t>
            </a:r>
            <a:endParaRPr lang="en-GB" sz="900" noProof="0" dirty="0">
              <a:solidFill>
                <a:srgbClr val="35115F"/>
              </a:solidFill>
            </a:endParaRPr>
          </a:p>
        </p:txBody>
      </p:sp>
      <p:sp>
        <p:nvSpPr>
          <p:cNvPr id="40" name="TextBox 39">
            <a:extLst>
              <a:ext uri="{FF2B5EF4-FFF2-40B4-BE49-F238E27FC236}">
                <a16:creationId xmlns:a16="http://schemas.microsoft.com/office/drawing/2014/main" id="{00183E88-90BC-4993-346E-8E3BD32FEEEE}"/>
              </a:ext>
            </a:extLst>
          </p:cNvPr>
          <p:cNvSpPr txBox="1"/>
          <p:nvPr/>
        </p:nvSpPr>
        <p:spPr>
          <a:xfrm>
            <a:off x="5894054" y="5247063"/>
            <a:ext cx="1165185" cy="246221"/>
          </a:xfrm>
          <a:prstGeom prst="rect">
            <a:avLst/>
          </a:prstGeom>
          <a:noFill/>
        </p:spPr>
        <p:txBody>
          <a:bodyPr wrap="square" rtlCol="0">
            <a:spAutoFit/>
          </a:bodyPr>
          <a:lstStyle/>
          <a:p>
            <a:r>
              <a:rPr lang="en-GB" sz="1000" i="1" noProof="0" dirty="0">
                <a:solidFill>
                  <a:srgbClr val="800000"/>
                </a:solidFill>
              </a:rPr>
              <a:t>Figure HELOC</a:t>
            </a:r>
          </a:p>
        </p:txBody>
      </p:sp>
      <p:sp>
        <p:nvSpPr>
          <p:cNvPr id="20" name="TextBox 19">
            <a:extLst>
              <a:ext uri="{FF2B5EF4-FFF2-40B4-BE49-F238E27FC236}">
                <a16:creationId xmlns:a16="http://schemas.microsoft.com/office/drawing/2014/main" id="{B5BB1223-48FD-37C1-FBF8-9FCA24C1FD7A}"/>
              </a:ext>
            </a:extLst>
          </p:cNvPr>
          <p:cNvSpPr txBox="1"/>
          <p:nvPr/>
        </p:nvSpPr>
        <p:spPr>
          <a:xfrm>
            <a:off x="852546" y="4294153"/>
            <a:ext cx="3065374" cy="438582"/>
          </a:xfrm>
          <a:prstGeom prst="rect">
            <a:avLst/>
          </a:prstGeom>
          <a:noFill/>
        </p:spPr>
        <p:txBody>
          <a:bodyPr wrap="square">
            <a:spAutoFit/>
          </a:bodyPr>
          <a:lstStyle/>
          <a:p>
            <a:pPr algn="ctr"/>
            <a:r>
              <a:rPr lang="en-GB" sz="1200" b="1" noProof="0" dirty="0">
                <a:solidFill>
                  <a:srgbClr val="35115F"/>
                </a:solidFill>
                <a:latin typeface="+mj-lt"/>
              </a:rPr>
              <a:t>Stablecoin Issuance (USD)</a:t>
            </a:r>
          </a:p>
          <a:p>
            <a:pPr algn="ctr"/>
            <a:r>
              <a:rPr lang="en-GB" sz="1000" noProof="0" dirty="0">
                <a:solidFill>
                  <a:srgbClr val="35115F"/>
                </a:solidFill>
                <a:latin typeface="+mj-lt"/>
              </a:rPr>
              <a:t>99.8%  of issued stablecoins are USD denominated</a:t>
            </a:r>
          </a:p>
        </p:txBody>
      </p:sp>
      <p:cxnSp>
        <p:nvCxnSpPr>
          <p:cNvPr id="43" name="Straight Arrow Connector 42">
            <a:extLst>
              <a:ext uri="{FF2B5EF4-FFF2-40B4-BE49-F238E27FC236}">
                <a16:creationId xmlns:a16="http://schemas.microsoft.com/office/drawing/2014/main" id="{910DDB65-4DC4-B3D8-F8D7-5198CCE0004F}"/>
              </a:ext>
            </a:extLst>
          </p:cNvPr>
          <p:cNvCxnSpPr>
            <a:stCxn id="40" idx="2"/>
          </p:cNvCxnSpPr>
          <p:nvPr/>
        </p:nvCxnSpPr>
        <p:spPr>
          <a:xfrm>
            <a:off x="6476647" y="5493284"/>
            <a:ext cx="804156" cy="432922"/>
          </a:xfrm>
          <a:prstGeom prst="straightConnector1">
            <a:avLst/>
          </a:prstGeom>
          <a:ln>
            <a:gradFill>
              <a:gsLst>
                <a:gs pos="0">
                  <a:srgbClr val="800000"/>
                </a:gs>
                <a:gs pos="100000">
                  <a:schemeClr val="bg1"/>
                </a:gs>
              </a:gsLst>
              <a:lin ang="5400000" scaled="1"/>
            </a:gradFill>
            <a:tailEnd type="triangle"/>
          </a:ln>
        </p:spPr>
        <p:style>
          <a:lnRef idx="2">
            <a:schemeClr val="accent1"/>
          </a:lnRef>
          <a:fillRef idx="0">
            <a:schemeClr val="accent1"/>
          </a:fillRef>
          <a:effectRef idx="1">
            <a:schemeClr val="accent1"/>
          </a:effectRef>
          <a:fontRef idx="minor">
            <a:schemeClr val="tx1"/>
          </a:fontRef>
        </p:style>
      </p:cxnSp>
      <p:cxnSp>
        <p:nvCxnSpPr>
          <p:cNvPr id="2" name="Straight Connector 1">
            <a:extLst>
              <a:ext uri="{FF2B5EF4-FFF2-40B4-BE49-F238E27FC236}">
                <a16:creationId xmlns:a16="http://schemas.microsoft.com/office/drawing/2014/main" id="{516EDB28-8B81-7734-8F2C-8CC1068E7810}"/>
              </a:ext>
            </a:extLst>
          </p:cNvPr>
          <p:cNvCxnSpPr>
            <a:cxnSpLocks/>
          </p:cNvCxnSpPr>
          <p:nvPr/>
        </p:nvCxnSpPr>
        <p:spPr>
          <a:xfrm>
            <a:off x="550846" y="3813260"/>
            <a:ext cx="7731487" cy="0"/>
          </a:xfrm>
          <a:prstGeom prst="line">
            <a:avLst/>
          </a:prstGeom>
          <a:ln w="9525">
            <a:solidFill>
              <a:srgbClr val="7030A0"/>
            </a:solidFill>
          </a:ln>
        </p:spPr>
        <p:style>
          <a:lnRef idx="2">
            <a:schemeClr val="accent1"/>
          </a:lnRef>
          <a:fillRef idx="0">
            <a:schemeClr val="accent1"/>
          </a:fillRef>
          <a:effectRef idx="1">
            <a:schemeClr val="accent1"/>
          </a:effectRef>
          <a:fontRef idx="minor">
            <a:schemeClr val="tx1"/>
          </a:fontRef>
        </p:style>
      </p:cxnSp>
      <p:graphicFrame>
        <p:nvGraphicFramePr>
          <p:cNvPr id="5" name="Table 4">
            <a:extLst>
              <a:ext uri="{FF2B5EF4-FFF2-40B4-BE49-F238E27FC236}">
                <a16:creationId xmlns:a16="http://schemas.microsoft.com/office/drawing/2014/main" id="{C2BBEA9E-71A8-2828-F8E1-9CF483473892}"/>
              </a:ext>
            </a:extLst>
          </p:cNvPr>
          <p:cNvGraphicFramePr>
            <a:graphicFrameLocks noGrp="1"/>
          </p:cNvGraphicFramePr>
          <p:nvPr>
            <p:extLst>
              <p:ext uri="{D42A27DB-BD31-4B8C-83A1-F6EECF244321}">
                <p14:modId xmlns:p14="http://schemas.microsoft.com/office/powerpoint/2010/main" val="3763418916"/>
              </p:ext>
            </p:extLst>
          </p:nvPr>
        </p:nvGraphicFramePr>
        <p:xfrm>
          <a:off x="550847" y="1128277"/>
          <a:ext cx="7731486" cy="2827931"/>
        </p:xfrm>
        <a:graphic>
          <a:graphicData uri="http://schemas.openxmlformats.org/drawingml/2006/table">
            <a:tbl>
              <a:tblPr firstRow="1" bandRow="1">
                <a:tableStyleId>{5940675A-B579-460E-94D1-54222C63F5DA}</a:tableStyleId>
              </a:tblPr>
              <a:tblGrid>
                <a:gridCol w="3078178">
                  <a:extLst>
                    <a:ext uri="{9D8B030D-6E8A-4147-A177-3AD203B41FA5}">
                      <a16:colId xmlns:a16="http://schemas.microsoft.com/office/drawing/2014/main" val="1000213857"/>
                    </a:ext>
                  </a:extLst>
                </a:gridCol>
                <a:gridCol w="4653308">
                  <a:extLst>
                    <a:ext uri="{9D8B030D-6E8A-4147-A177-3AD203B41FA5}">
                      <a16:colId xmlns:a16="http://schemas.microsoft.com/office/drawing/2014/main" val="3647128997"/>
                    </a:ext>
                  </a:extLst>
                </a:gridCol>
              </a:tblGrid>
              <a:tr h="180551">
                <a:tc>
                  <a:txBody>
                    <a:bodyPr/>
                    <a:lstStyle/>
                    <a:p>
                      <a:pPr algn="ctr"/>
                      <a:r>
                        <a:rPr lang="en-GB" sz="1000" b="1" i="1" noProof="0" dirty="0">
                          <a:solidFill>
                            <a:schemeClr val="bg1"/>
                          </a:solidFill>
                        </a:rPr>
                        <a:t>Jurisdiction: </a:t>
                      </a:r>
                      <a:r>
                        <a:rPr lang="en-GB" sz="1000" b="0" i="1" noProof="0" dirty="0">
                          <a:solidFill>
                            <a:schemeClr val="bg1"/>
                          </a:solidFill>
                        </a:rPr>
                        <a:t>Stablecoins Framework</a:t>
                      </a:r>
                    </a:p>
                  </a:txBody>
                  <a:tcPr marL="72000" marR="36000" marT="36000" marB="36000" anchor="ctr">
                    <a:lnL w="19050" cap="flat" cmpd="sng" algn="ctr">
                      <a:solidFill>
                        <a:schemeClr val="tx1"/>
                      </a:solidFill>
                      <a:prstDash val="solid"/>
                      <a:round/>
                      <a:headEnd type="none" w="med" len="med"/>
                      <a:tailEnd type="none" w="med" len="med"/>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solidFill>
                  </a:tcPr>
                </a:tc>
                <a:tc>
                  <a:txBody>
                    <a:bodyPr/>
                    <a:lstStyle/>
                    <a:p>
                      <a:pPr algn="l"/>
                      <a:r>
                        <a:rPr lang="en-GB" sz="1000" b="1" i="1" noProof="0" dirty="0">
                          <a:solidFill>
                            <a:schemeClr val="bg1"/>
                          </a:solidFill>
                        </a:rPr>
                        <a:t>Liquidity Requirements:   </a:t>
                      </a:r>
                      <a:r>
                        <a:rPr lang="en-GB" sz="1000" b="0" i="1" noProof="0" dirty="0">
                          <a:solidFill>
                            <a:schemeClr val="bg1"/>
                          </a:solidFill>
                        </a:rPr>
                        <a:t>all jurisdictions require 100% backing </a:t>
                      </a:r>
                    </a:p>
                  </a:txBody>
                  <a:tcPr marL="72000" marR="36000" marT="36000" marB="36000" anchor="ctr">
                    <a:lnL w="12700" cmpd="sng">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769850602"/>
                  </a:ext>
                </a:extLst>
              </a:tr>
              <a:tr h="306480">
                <a:tc>
                  <a:txBody>
                    <a:bodyPr/>
                    <a:lstStyle/>
                    <a:p>
                      <a:pPr algn="l"/>
                      <a:r>
                        <a:rPr kumimoji="0" lang="en-GB" sz="2000" b="1" i="0" u="none" strike="noStrike" kern="1200" cap="none" spc="0" normalizeH="0" baseline="-20000" noProof="0" dirty="0">
                          <a:ln>
                            <a:noFill/>
                          </a:ln>
                          <a:solidFill>
                            <a:schemeClr val="accent1">
                              <a:lumMod val="50000"/>
                            </a:schemeClr>
                          </a:solidFill>
                          <a:effectLst/>
                          <a:uLnTx/>
                          <a:uFillTx/>
                          <a:latin typeface="+mn-lt"/>
                          <a:ea typeface="+mn-ea"/>
                          <a:cs typeface="+mn-cs"/>
                        </a:rPr>
                        <a:t>🇪🇺 </a:t>
                      </a:r>
                      <a:r>
                        <a:rPr kumimoji="0" lang="en-GB" sz="1050" b="1" i="0" u="none" strike="noStrike" kern="1200" cap="none" spc="0" normalizeH="0" baseline="0" noProof="0" dirty="0">
                          <a:ln>
                            <a:noFill/>
                          </a:ln>
                          <a:solidFill>
                            <a:schemeClr val="accent1">
                              <a:lumMod val="50000"/>
                            </a:schemeClr>
                          </a:solidFill>
                          <a:effectLst/>
                          <a:uLnTx/>
                          <a:uFillTx/>
                          <a:latin typeface="+mn-lt"/>
                          <a:ea typeface="+mn-ea"/>
                          <a:cs typeface="+mn-cs"/>
                        </a:rPr>
                        <a:t>EU: </a:t>
                      </a:r>
                      <a:r>
                        <a:rPr lang="en-GB" sz="900" b="0" i="1" noProof="0" dirty="0" err="1">
                          <a:solidFill>
                            <a:schemeClr val="accent1">
                              <a:lumMod val="50000"/>
                            </a:schemeClr>
                          </a:solidFill>
                        </a:rPr>
                        <a:t>MiCA</a:t>
                      </a:r>
                      <a:r>
                        <a:rPr lang="en-GB" sz="900" b="0" i="1" noProof="0" dirty="0">
                          <a:solidFill>
                            <a:schemeClr val="accent1">
                              <a:lumMod val="50000"/>
                            </a:schemeClr>
                          </a:solidFill>
                        </a:rPr>
                        <a:t> (2024)</a:t>
                      </a:r>
                    </a:p>
                  </a:txBody>
                  <a:tcPr marL="72000" marR="36000" marT="36000" marB="36000" anchor="ctr">
                    <a:lnL w="190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l"/>
                      <a:r>
                        <a:rPr lang="en-GB" sz="900" noProof="0" dirty="0">
                          <a:solidFill>
                            <a:schemeClr val="accent1">
                              <a:lumMod val="50000"/>
                            </a:schemeClr>
                          </a:solidFill>
                        </a:rPr>
                        <a:t>Minimum proportion (30-60%) in </a:t>
                      </a:r>
                      <a:r>
                        <a:rPr lang="en-GB" sz="900" noProof="0" dirty="0" err="1">
                          <a:solidFill>
                            <a:schemeClr val="accent1">
                              <a:lumMod val="50000"/>
                            </a:schemeClr>
                          </a:solidFill>
                        </a:rPr>
                        <a:t>CoB</a:t>
                      </a:r>
                      <a:r>
                        <a:rPr lang="en-GB" sz="900" noProof="0" dirty="0">
                          <a:solidFill>
                            <a:schemeClr val="accent1">
                              <a:lumMod val="50000"/>
                            </a:schemeClr>
                          </a:solidFill>
                        </a:rPr>
                        <a:t> call deposits with concentration limits, remainder in HQLA; reserve assets, segregated accounts. No interest permitted.</a:t>
                      </a:r>
                    </a:p>
                  </a:txBody>
                  <a:tcPr marL="72000" marR="36000" marT="18000" marB="18000" anchor="ctr">
                    <a:lnL w="12700" cmpd="sng">
                      <a:noFill/>
                    </a:lnL>
                    <a:lnR w="1905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582934052"/>
                  </a:ext>
                </a:extLst>
              </a:tr>
              <a:tr h="265201">
                <a:tc>
                  <a:txBody>
                    <a:bodyPr/>
                    <a:lstStyle/>
                    <a:p>
                      <a:pPr algn="l"/>
                      <a:r>
                        <a:rPr kumimoji="0" lang="en-GB" sz="2000" b="1" i="0" u="none" strike="noStrike" kern="1200" cap="none" spc="0" normalizeH="0" baseline="-20000" noProof="0" dirty="0">
                          <a:ln>
                            <a:noFill/>
                          </a:ln>
                          <a:solidFill>
                            <a:schemeClr val="accent1">
                              <a:lumMod val="50000"/>
                            </a:schemeClr>
                          </a:solidFill>
                          <a:effectLst/>
                          <a:uLnTx/>
                          <a:uFillTx/>
                          <a:latin typeface="+mn-lt"/>
                          <a:ea typeface="+mn-ea"/>
                          <a:cs typeface="+mn-cs"/>
                        </a:rPr>
                        <a:t>🇺🇸 </a:t>
                      </a:r>
                      <a:r>
                        <a:rPr kumimoji="0" lang="en-GB" sz="1050" b="1" i="0" u="none" strike="noStrike" kern="1200" cap="none" spc="0" normalizeH="0" baseline="0" noProof="0" dirty="0">
                          <a:ln>
                            <a:noFill/>
                          </a:ln>
                          <a:solidFill>
                            <a:schemeClr val="accent1">
                              <a:lumMod val="50000"/>
                            </a:schemeClr>
                          </a:solidFill>
                          <a:effectLst/>
                          <a:uLnTx/>
                          <a:uFillTx/>
                          <a:latin typeface="+mn-lt"/>
                          <a:ea typeface="+mn-ea"/>
                          <a:cs typeface="+mn-cs"/>
                        </a:rPr>
                        <a:t>US: </a:t>
                      </a:r>
                      <a:r>
                        <a:rPr lang="en-GB" sz="900" b="0" i="1" noProof="0" dirty="0">
                          <a:solidFill>
                            <a:schemeClr val="accent1">
                              <a:lumMod val="50000"/>
                            </a:schemeClr>
                          </a:solidFill>
                        </a:rPr>
                        <a:t>GENIUS Act (2025)</a:t>
                      </a:r>
                    </a:p>
                  </a:txBody>
                  <a:tcPr marL="72000" marR="36000" marT="36000" marB="36000" anchor="ctr">
                    <a:lnL w="190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l"/>
                      <a:r>
                        <a:rPr lang="en-GB" sz="900" noProof="0" dirty="0" err="1">
                          <a:solidFill>
                            <a:schemeClr val="accent1">
                              <a:lumMod val="50000"/>
                            </a:schemeClr>
                          </a:solidFill>
                        </a:rPr>
                        <a:t>CoB</a:t>
                      </a:r>
                      <a:r>
                        <a:rPr lang="en-GB" sz="900" noProof="0" dirty="0">
                          <a:solidFill>
                            <a:schemeClr val="accent1">
                              <a:lumMod val="50000"/>
                            </a:schemeClr>
                          </a:solidFill>
                        </a:rPr>
                        <a:t> call deposits, short term Treasury securities (up to 93 days maturity), overnight repos / reverse repos, MMF shares; segregated accounts, no interest</a:t>
                      </a:r>
                    </a:p>
                  </a:txBody>
                  <a:tcPr marL="72000" marR="36000" marT="18000" marB="18000" anchor="ctr">
                    <a:lnL w="12700" cmpd="sng">
                      <a:noFill/>
                    </a:lnL>
                    <a:lnR w="1905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148786555"/>
                  </a:ext>
                </a:extLst>
              </a:tr>
              <a:tr h="3643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20000" noProof="0" dirty="0">
                          <a:ln>
                            <a:noFill/>
                          </a:ln>
                          <a:solidFill>
                            <a:schemeClr val="accent1">
                              <a:lumMod val="50000"/>
                            </a:schemeClr>
                          </a:solidFill>
                          <a:effectLst/>
                          <a:uLnTx/>
                          <a:uFillTx/>
                          <a:latin typeface="+mn-lt"/>
                          <a:ea typeface="+mn-ea"/>
                          <a:cs typeface="+mn-cs"/>
                        </a:rPr>
                        <a:t>🇯🇵 </a:t>
                      </a:r>
                      <a:r>
                        <a:rPr kumimoji="0" lang="en-GB" sz="1050" b="1" i="0" u="none" strike="noStrike" kern="1200" cap="none" spc="0" normalizeH="0" baseline="0" noProof="0" dirty="0">
                          <a:ln>
                            <a:noFill/>
                          </a:ln>
                          <a:solidFill>
                            <a:schemeClr val="accent1">
                              <a:lumMod val="50000"/>
                            </a:schemeClr>
                          </a:solidFill>
                          <a:effectLst/>
                          <a:uLnTx/>
                          <a:uFillTx/>
                          <a:latin typeface="+mn-lt"/>
                          <a:ea typeface="+mn-ea"/>
                          <a:cs typeface="+mn-cs"/>
                        </a:rPr>
                        <a:t>Japan: </a:t>
                      </a:r>
                      <a:r>
                        <a:rPr lang="en-GB" sz="900" b="0" i="1" noProof="0" dirty="0">
                          <a:solidFill>
                            <a:schemeClr val="accent1">
                              <a:lumMod val="50000"/>
                            </a:schemeClr>
                          </a:solidFill>
                        </a:rPr>
                        <a:t>Electronic Payment Instruments amendments (2023)</a:t>
                      </a:r>
                    </a:p>
                  </a:txBody>
                  <a:tcPr marL="72000" marR="36000" marT="36000" marB="36000" anchor="ctr">
                    <a:lnL w="190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noProof="0" dirty="0">
                          <a:solidFill>
                            <a:schemeClr val="accent1">
                              <a:lumMod val="50000"/>
                            </a:schemeClr>
                          </a:solidFill>
                        </a:rPr>
                        <a:t>Cash, </a:t>
                      </a:r>
                      <a:r>
                        <a:rPr lang="en-GB" sz="900" noProof="0" dirty="0" err="1">
                          <a:solidFill>
                            <a:schemeClr val="accent1">
                              <a:lumMod val="50000"/>
                            </a:schemeClr>
                          </a:solidFill>
                        </a:rPr>
                        <a:t>CoB</a:t>
                      </a:r>
                      <a:r>
                        <a:rPr lang="en-GB" sz="900" noProof="0" dirty="0">
                          <a:solidFill>
                            <a:schemeClr val="accent1">
                              <a:lumMod val="50000"/>
                            </a:schemeClr>
                          </a:solidFill>
                        </a:rPr>
                        <a:t> call deposits, government / municipal bonds; funds segregated and held by legal trust entities</a:t>
                      </a:r>
                    </a:p>
                  </a:txBody>
                  <a:tcPr marL="72000" marR="36000" marT="18000" marB="18000" anchor="ctr">
                    <a:lnL w="12700" cmpd="sng">
                      <a:noFill/>
                    </a:lnL>
                    <a:lnR w="1905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396129106"/>
                  </a:ext>
                </a:extLst>
              </a:tr>
              <a:tr h="2652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b="1" baseline="-20000" noProof="0" dirty="0">
                          <a:solidFill>
                            <a:schemeClr val="accent1">
                              <a:lumMod val="50000"/>
                            </a:schemeClr>
                          </a:solidFill>
                        </a:rPr>
                        <a:t>🇸🇬</a:t>
                      </a:r>
                      <a:r>
                        <a:rPr lang="en-GB" sz="1600" b="1" baseline="-20000" noProof="0" dirty="0">
                          <a:solidFill>
                            <a:schemeClr val="accent1">
                              <a:lumMod val="50000"/>
                            </a:schemeClr>
                          </a:solidFill>
                        </a:rPr>
                        <a:t>  </a:t>
                      </a:r>
                      <a:r>
                        <a:rPr lang="en-GB" sz="1050" b="1" noProof="0" dirty="0">
                          <a:solidFill>
                            <a:schemeClr val="accent1">
                              <a:lumMod val="50000"/>
                            </a:schemeClr>
                          </a:solidFill>
                        </a:rPr>
                        <a:t>Singapore:</a:t>
                      </a:r>
                      <a:r>
                        <a:rPr lang="en-GB" sz="1050" b="1" i="0" baseline="-20000" noProof="0" dirty="0">
                          <a:solidFill>
                            <a:schemeClr val="accent1">
                              <a:lumMod val="50000"/>
                            </a:schemeClr>
                          </a:solidFill>
                        </a:rPr>
                        <a:t> </a:t>
                      </a:r>
                      <a:r>
                        <a:rPr lang="en-GB" sz="900" b="0" i="1" noProof="0" dirty="0">
                          <a:solidFill>
                            <a:schemeClr val="accent1">
                              <a:lumMod val="50000"/>
                            </a:schemeClr>
                          </a:solidFill>
                        </a:rPr>
                        <a:t>SCS framework (2023)</a:t>
                      </a:r>
                    </a:p>
                  </a:txBody>
                  <a:tcPr marL="72000" marR="36000" marT="36000" marB="36000" anchor="ctr">
                    <a:lnL w="190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noProof="0" dirty="0">
                          <a:solidFill>
                            <a:schemeClr val="accent1">
                              <a:lumMod val="50000"/>
                            </a:schemeClr>
                          </a:solidFill>
                        </a:rPr>
                        <a:t>Cash, </a:t>
                      </a:r>
                      <a:r>
                        <a:rPr lang="en-GB" sz="900" noProof="0" dirty="0" err="1">
                          <a:solidFill>
                            <a:schemeClr val="accent1">
                              <a:lumMod val="50000"/>
                            </a:schemeClr>
                          </a:solidFill>
                        </a:rPr>
                        <a:t>CoB</a:t>
                      </a:r>
                      <a:r>
                        <a:rPr lang="en-GB" sz="900" noProof="0" dirty="0">
                          <a:solidFill>
                            <a:schemeClr val="accent1">
                              <a:lumMod val="50000"/>
                            </a:schemeClr>
                          </a:solidFill>
                        </a:rPr>
                        <a:t> deposits &amp; government debt (AA- equivalent) up to 3 months maturity; segregated accounts. Max T+5 business day redemption.</a:t>
                      </a:r>
                    </a:p>
                  </a:txBody>
                  <a:tcPr marL="72000" marR="36000" marT="18000" marB="18000" anchor="ctr">
                    <a:lnL w="12700" cmpd="sng">
                      <a:noFill/>
                    </a:lnL>
                    <a:lnR w="1905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91743309"/>
                  </a:ext>
                </a:extLst>
              </a:tr>
              <a:tr h="2652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b="1" baseline="-20000" noProof="0" dirty="0">
                          <a:solidFill>
                            <a:schemeClr val="accent1">
                              <a:lumMod val="50000"/>
                            </a:schemeClr>
                          </a:solidFill>
                        </a:rPr>
                        <a:t>🇭🇰</a:t>
                      </a:r>
                      <a:r>
                        <a:rPr lang="en-GB" sz="1600" b="1" baseline="-20000" noProof="0" dirty="0">
                          <a:solidFill>
                            <a:schemeClr val="accent1">
                              <a:lumMod val="50000"/>
                            </a:schemeClr>
                          </a:solidFill>
                        </a:rPr>
                        <a:t>  </a:t>
                      </a:r>
                      <a:r>
                        <a:rPr lang="en-GB" sz="1050" b="1" kern="1200" noProof="0" dirty="0">
                          <a:solidFill>
                            <a:schemeClr val="accent1">
                              <a:lumMod val="50000"/>
                            </a:schemeClr>
                          </a:solidFill>
                          <a:latin typeface="+mn-lt"/>
                          <a:ea typeface="+mn-ea"/>
                          <a:cs typeface="+mn-cs"/>
                        </a:rPr>
                        <a:t>Hong Kong:   </a:t>
                      </a:r>
                      <a:r>
                        <a:rPr lang="en-GB" sz="900" b="0" i="1" noProof="0" dirty="0">
                          <a:solidFill>
                            <a:schemeClr val="accent1">
                              <a:lumMod val="50000"/>
                            </a:schemeClr>
                          </a:solidFill>
                        </a:rPr>
                        <a:t>Stablecoins Ordinance (2025)</a:t>
                      </a:r>
                    </a:p>
                  </a:txBody>
                  <a:tcPr marL="72000" marR="36000" marT="36000" marB="36000" anchor="ctr">
                    <a:lnL w="190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l"/>
                      <a:r>
                        <a:rPr lang="en-GB" sz="900" noProof="0" dirty="0">
                          <a:solidFill>
                            <a:schemeClr val="accent1">
                              <a:lumMod val="50000"/>
                            </a:schemeClr>
                          </a:solidFill>
                        </a:rPr>
                        <a:t>Cash, </a:t>
                      </a:r>
                      <a:r>
                        <a:rPr lang="en-GB" sz="900" noProof="0" dirty="0" err="1">
                          <a:solidFill>
                            <a:schemeClr val="accent1">
                              <a:lumMod val="50000"/>
                            </a:schemeClr>
                          </a:solidFill>
                        </a:rPr>
                        <a:t>CoB</a:t>
                      </a:r>
                      <a:r>
                        <a:rPr lang="en-GB" sz="900" noProof="0" dirty="0">
                          <a:solidFill>
                            <a:schemeClr val="accent1">
                              <a:lumMod val="50000"/>
                            </a:schemeClr>
                          </a:solidFill>
                        </a:rPr>
                        <a:t> deposits with tenor up to 3 months, government issued or guaranteed debt with up to one year residual maturity, reverse repo, funds</a:t>
                      </a:r>
                    </a:p>
                  </a:txBody>
                  <a:tcPr marL="72000" marR="36000" marT="18000" marB="18000" anchor="ctr">
                    <a:lnL w="12700" cmpd="sng">
                      <a:noFill/>
                    </a:lnL>
                    <a:lnR w="1905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767212542"/>
                  </a:ext>
                </a:extLst>
              </a:tr>
              <a:tr h="2652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20000" noProof="0" dirty="0">
                          <a:ln>
                            <a:noFill/>
                          </a:ln>
                          <a:solidFill>
                            <a:schemeClr val="accent1">
                              <a:lumMod val="50000"/>
                            </a:schemeClr>
                          </a:solidFill>
                          <a:effectLst/>
                          <a:uLnTx/>
                          <a:uFillTx/>
                          <a:latin typeface="+mn-lt"/>
                          <a:ea typeface="+mn-ea"/>
                          <a:cs typeface="+mn-cs"/>
                        </a:rPr>
                        <a:t>🇦🇪 </a:t>
                      </a:r>
                      <a:r>
                        <a:rPr kumimoji="0" lang="en-GB" sz="1050" b="1" i="0" u="none" strike="noStrike" kern="1200" cap="none" spc="0" normalizeH="0" baseline="0" noProof="0" dirty="0">
                          <a:ln>
                            <a:noFill/>
                          </a:ln>
                          <a:solidFill>
                            <a:schemeClr val="accent1">
                              <a:lumMod val="50000"/>
                            </a:schemeClr>
                          </a:solidFill>
                          <a:effectLst/>
                          <a:uLnTx/>
                          <a:uFillTx/>
                          <a:latin typeface="+mn-lt"/>
                          <a:ea typeface="+mn-ea"/>
                          <a:cs typeface="+mn-cs"/>
                        </a:rPr>
                        <a:t>UAE:</a:t>
                      </a:r>
                      <a:r>
                        <a:rPr kumimoji="0" lang="en-GB" sz="1100" b="1" i="0" u="none" strike="noStrike" kern="1200" cap="none" spc="0" normalizeH="0" baseline="-20000" noProof="0" dirty="0">
                          <a:ln>
                            <a:noFill/>
                          </a:ln>
                          <a:solidFill>
                            <a:schemeClr val="accent1">
                              <a:lumMod val="50000"/>
                            </a:schemeClr>
                          </a:solidFill>
                          <a:effectLst/>
                          <a:uLnTx/>
                          <a:uFillTx/>
                          <a:latin typeface="+mn-lt"/>
                          <a:ea typeface="+mn-ea"/>
                          <a:cs typeface="+mn-cs"/>
                        </a:rPr>
                        <a:t> </a:t>
                      </a:r>
                      <a:r>
                        <a:rPr lang="en-GB" sz="900" b="0" i="1" noProof="0" dirty="0">
                          <a:solidFill>
                            <a:schemeClr val="accent1">
                              <a:lumMod val="50000"/>
                            </a:schemeClr>
                          </a:solidFill>
                        </a:rPr>
                        <a:t>Payment Token Services Regulation (2025)</a:t>
                      </a:r>
                    </a:p>
                  </a:txBody>
                  <a:tcPr marL="72000" marR="36000" marT="36000" marB="36000" anchor="ctr">
                    <a:lnL w="190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l"/>
                      <a:r>
                        <a:rPr lang="en-GB" sz="900" noProof="0" dirty="0">
                          <a:solidFill>
                            <a:schemeClr val="accent1">
                              <a:lumMod val="50000"/>
                            </a:schemeClr>
                          </a:solidFill>
                        </a:rPr>
                        <a:t>Domestic currency: 100% escrowed deposits.</a:t>
                      </a:r>
                    </a:p>
                    <a:p>
                      <a:pPr algn="l"/>
                      <a:r>
                        <a:rPr lang="en-GB" sz="900" noProof="0" dirty="0">
                          <a:solidFill>
                            <a:schemeClr val="accent1">
                              <a:lumMod val="50000"/>
                            </a:schemeClr>
                          </a:solidFill>
                        </a:rPr>
                        <a:t>Foreign currency: 100% HQLA </a:t>
                      </a:r>
                    </a:p>
                  </a:txBody>
                  <a:tcPr marL="72000" marR="36000" marT="18000" marB="18000" anchor="ctr">
                    <a:lnL w="12700" cmpd="sng">
                      <a:noFill/>
                    </a:lnL>
                    <a:lnR w="1905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015482407"/>
                  </a:ext>
                </a:extLst>
              </a:tr>
              <a:tr h="245778">
                <a:tc>
                  <a:txBody>
                    <a:bodyPr/>
                    <a:lstStyle/>
                    <a:p>
                      <a:pPr algn="l"/>
                      <a:r>
                        <a:rPr lang="en-GB" sz="2000" b="1" baseline="-20000" noProof="0" dirty="0">
                          <a:solidFill>
                            <a:schemeClr val="accent1">
                              <a:lumMod val="50000"/>
                            </a:schemeClr>
                          </a:solidFill>
                        </a:rPr>
                        <a:t>🇨🇭 </a:t>
                      </a:r>
                      <a:r>
                        <a:rPr lang="en-GB" sz="1600" b="1" baseline="-20000" noProof="0" dirty="0">
                          <a:solidFill>
                            <a:schemeClr val="accent1">
                              <a:lumMod val="50000"/>
                            </a:schemeClr>
                          </a:solidFill>
                        </a:rPr>
                        <a:t> </a:t>
                      </a:r>
                      <a:r>
                        <a:rPr lang="en-GB" sz="1050" b="1" noProof="0" dirty="0">
                          <a:solidFill>
                            <a:schemeClr val="accent1">
                              <a:lumMod val="50000"/>
                            </a:schemeClr>
                          </a:solidFill>
                        </a:rPr>
                        <a:t>Switzerland:</a:t>
                      </a:r>
                      <a:r>
                        <a:rPr lang="en-GB" sz="900" b="1" noProof="0" dirty="0">
                          <a:solidFill>
                            <a:schemeClr val="accent1">
                              <a:lumMod val="50000"/>
                            </a:schemeClr>
                          </a:solidFill>
                        </a:rPr>
                        <a:t> </a:t>
                      </a:r>
                      <a:r>
                        <a:rPr lang="en-GB" sz="900" b="0" i="1" noProof="0" dirty="0">
                          <a:solidFill>
                            <a:schemeClr val="accent1">
                              <a:lumMod val="50000"/>
                            </a:schemeClr>
                          </a:solidFill>
                        </a:rPr>
                        <a:t>FINMA Guidance (2024)</a:t>
                      </a:r>
                    </a:p>
                  </a:txBody>
                  <a:tcPr marL="72000" marR="36000" marT="36000" marB="36000" anchor="ctr">
                    <a:lnL w="190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l"/>
                      <a:r>
                        <a:rPr lang="en-GB" sz="900" noProof="0" dirty="0">
                          <a:solidFill>
                            <a:schemeClr val="accent1">
                              <a:lumMod val="50000"/>
                            </a:schemeClr>
                          </a:solidFill>
                        </a:rPr>
                        <a:t>Reserves held as </a:t>
                      </a:r>
                      <a:r>
                        <a:rPr lang="en-GB" sz="900" noProof="0" dirty="0" err="1">
                          <a:solidFill>
                            <a:schemeClr val="accent1">
                              <a:lumMod val="50000"/>
                            </a:schemeClr>
                          </a:solidFill>
                        </a:rPr>
                        <a:t>CoB</a:t>
                      </a:r>
                      <a:r>
                        <a:rPr lang="en-GB" sz="900" noProof="0" dirty="0">
                          <a:solidFill>
                            <a:schemeClr val="accent1">
                              <a:lumMod val="50000"/>
                            </a:schemeClr>
                          </a:solidFill>
                        </a:rPr>
                        <a:t> deposits covered by Swiss default guarantee</a:t>
                      </a:r>
                    </a:p>
                  </a:txBody>
                  <a:tcPr marL="72000" marR="36000" marT="18000" marB="18000" anchor="ctr">
                    <a:lnL w="12700" cmpd="sng">
                      <a:noFill/>
                    </a:lnL>
                    <a:lnR w="1905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028817630"/>
                  </a:ext>
                </a:extLst>
              </a:tr>
              <a:tr h="364371">
                <a:tc>
                  <a:txBody>
                    <a:bodyPr/>
                    <a:lstStyle/>
                    <a:p>
                      <a:pPr algn="l"/>
                      <a:r>
                        <a:rPr kumimoji="0" lang="en-GB" sz="2000" b="1" i="0" u="none" strike="noStrike" kern="1200" cap="none" spc="0" normalizeH="0" baseline="-20000" noProof="0" dirty="0">
                          <a:ln>
                            <a:noFill/>
                          </a:ln>
                          <a:solidFill>
                            <a:schemeClr val="accent1">
                              <a:lumMod val="50000"/>
                            </a:schemeClr>
                          </a:solidFill>
                          <a:effectLst/>
                          <a:uLnTx/>
                          <a:uFillTx/>
                          <a:latin typeface="+mn-lt"/>
                          <a:ea typeface="+mn-ea"/>
                          <a:cs typeface="+mn-cs"/>
                        </a:rPr>
                        <a:t>🇬🇧 </a:t>
                      </a:r>
                      <a:r>
                        <a:rPr kumimoji="0" lang="en-GB" sz="1050" b="1" i="0" u="none" strike="noStrike" kern="1200" cap="none" spc="0" normalizeH="0" baseline="0" noProof="0" dirty="0">
                          <a:ln>
                            <a:noFill/>
                          </a:ln>
                          <a:solidFill>
                            <a:schemeClr val="accent1">
                              <a:lumMod val="50000"/>
                            </a:schemeClr>
                          </a:solidFill>
                          <a:effectLst/>
                          <a:uLnTx/>
                          <a:uFillTx/>
                          <a:latin typeface="+mn-lt"/>
                          <a:ea typeface="+mn-ea"/>
                          <a:cs typeface="+mn-cs"/>
                        </a:rPr>
                        <a:t>UK: </a:t>
                      </a:r>
                      <a:r>
                        <a:rPr lang="en-GB" sz="900" i="1" noProof="0" dirty="0">
                          <a:solidFill>
                            <a:schemeClr val="accent1">
                              <a:lumMod val="50000"/>
                            </a:schemeClr>
                          </a:solidFill>
                        </a:rPr>
                        <a:t>Final standards under development (FCA/BoE)</a:t>
                      </a:r>
                    </a:p>
                  </a:txBody>
                  <a:tcPr marL="72000" marR="36000" marT="36000" marB="36000" anchor="ctr">
                    <a:lnL w="19050" cap="flat" cmpd="sng" algn="ctr">
                      <a:solidFill>
                        <a:schemeClr val="tx1"/>
                      </a:solidFill>
                      <a:prstDash val="solid"/>
                      <a:round/>
                      <a:headEnd type="none" w="med" len="med"/>
                      <a:tailEnd type="none" w="med" len="med"/>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GB" sz="900" noProof="0" dirty="0">
                          <a:solidFill>
                            <a:schemeClr val="accent1">
                              <a:lumMod val="50000"/>
                            </a:schemeClr>
                          </a:solidFill>
                        </a:rPr>
                        <a:t>Under transitional FCA rules, at least 5% </a:t>
                      </a:r>
                      <a:r>
                        <a:rPr lang="en-GB" sz="900" noProof="0" dirty="0" err="1">
                          <a:solidFill>
                            <a:schemeClr val="accent1">
                              <a:lumMod val="50000"/>
                            </a:schemeClr>
                          </a:solidFill>
                        </a:rPr>
                        <a:t>CoB</a:t>
                      </a:r>
                      <a:r>
                        <a:rPr lang="en-GB" sz="900" noProof="0" dirty="0">
                          <a:solidFill>
                            <a:schemeClr val="accent1">
                              <a:lumMod val="50000"/>
                            </a:schemeClr>
                          </a:solidFill>
                        </a:rPr>
                        <a:t> call deposits, the rest in HQLA</a:t>
                      </a:r>
                    </a:p>
                  </a:txBody>
                  <a:tcPr marL="72000" marR="36000" marT="18000" marB="18000" anchor="ctr">
                    <a:lnL w="12700" cmpd="sng">
                      <a:noFill/>
                    </a:lnL>
                    <a:lnR w="19050" cap="flat" cmpd="sng" algn="ctr">
                      <a:solidFill>
                        <a:schemeClr val="tx1"/>
                      </a:solidFill>
                      <a:prstDash val="solid"/>
                      <a:round/>
                      <a:headEnd type="none" w="med" len="med"/>
                      <a:tailEnd type="none" w="med" len="med"/>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64160378"/>
                  </a:ext>
                </a:extLst>
              </a:tr>
            </a:tbl>
          </a:graphicData>
        </a:graphic>
      </p:graphicFrame>
      <p:sp>
        <p:nvSpPr>
          <p:cNvPr id="8" name="TextBox 7">
            <a:extLst>
              <a:ext uri="{FF2B5EF4-FFF2-40B4-BE49-F238E27FC236}">
                <a16:creationId xmlns:a16="http://schemas.microsoft.com/office/drawing/2014/main" id="{B2139FA5-4C52-C9D2-2D2D-CCA9BB15597D}"/>
              </a:ext>
            </a:extLst>
          </p:cNvPr>
          <p:cNvSpPr txBox="1"/>
          <p:nvPr/>
        </p:nvSpPr>
        <p:spPr>
          <a:xfrm>
            <a:off x="612929" y="540000"/>
            <a:ext cx="6096000" cy="461665"/>
          </a:xfrm>
          <a:prstGeom prst="rect">
            <a:avLst/>
          </a:prstGeom>
          <a:noFill/>
        </p:spPr>
        <p:txBody>
          <a:bodyPr wrap="square">
            <a:spAutoFit/>
          </a:bodyPr>
          <a:lstStyle/>
          <a:p>
            <a:r>
              <a:rPr lang="en-GB" sz="2400" b="1" noProof="0" dirty="0">
                <a:solidFill>
                  <a:srgbClr val="592880"/>
                </a:solidFill>
                <a:latin typeface="+mj-lt"/>
              </a:rPr>
              <a:t>New Regulatory Regimes</a:t>
            </a:r>
            <a:endParaRPr lang="en-GB" sz="2400" b="1" i="1" noProof="0" dirty="0">
              <a:solidFill>
                <a:srgbClr val="592880"/>
              </a:solidFill>
            </a:endParaRPr>
          </a:p>
        </p:txBody>
      </p:sp>
    </p:spTree>
    <p:extLst>
      <p:ext uri="{BB962C8B-B14F-4D97-AF65-F5344CB8AC3E}">
        <p14:creationId xmlns:p14="http://schemas.microsoft.com/office/powerpoint/2010/main" val="229480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449CA-9221-51F4-8828-3B706BBB3D9A}"/>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BC130EA8-167E-9DB3-BC69-F5E7EC2893DF}"/>
              </a:ext>
            </a:extLst>
          </p:cNvPr>
          <p:cNvSpPr/>
          <p:nvPr/>
        </p:nvSpPr>
        <p:spPr>
          <a:xfrm>
            <a:off x="626298" y="3247705"/>
            <a:ext cx="7219510" cy="3214689"/>
          </a:xfrm>
          <a:prstGeom prst="rect">
            <a:avLst/>
          </a:prstGeom>
          <a:solidFill>
            <a:srgbClr val="7030A0">
              <a:alpha val="5000"/>
            </a:srgbClr>
          </a:solidFill>
          <a:ln w="6350">
            <a:solidFill>
              <a:srgbClr val="592880"/>
            </a:solidFill>
          </a:ln>
        </p:spPr>
        <p:style>
          <a:lnRef idx="2">
            <a:schemeClr val="accent1">
              <a:shade val="15000"/>
            </a:schemeClr>
          </a:lnRef>
          <a:fillRef idx="1">
            <a:schemeClr val="accent1"/>
          </a:fillRef>
          <a:effectRef idx="0">
            <a:schemeClr val="accent1"/>
          </a:effectRef>
          <a:fontRef idx="minor">
            <a:schemeClr val="lt1"/>
          </a:fontRef>
        </p:style>
        <p:txBody>
          <a:bodyPr lIns="144000" tIns="90000" rIns="251999" rtlCol="0" anchor="t">
            <a:normAutofit fontScale="85000" lnSpcReduction="10000"/>
          </a:bodyPr>
          <a:lstStyle/>
          <a:p>
            <a:r>
              <a:rPr lang="en-GB" sz="1600" b="1" noProof="0" dirty="0">
                <a:solidFill>
                  <a:srgbClr val="592880"/>
                </a:solidFill>
                <a:latin typeface="+mj-lt"/>
              </a:rPr>
              <a:t>Interbank Payments Settlement &amp; Fungibility of Deposits</a:t>
            </a:r>
          </a:p>
          <a:p>
            <a:endParaRPr lang="en-GB" sz="1100" b="1" noProof="0" dirty="0">
              <a:solidFill>
                <a:schemeClr val="tx1"/>
              </a:solidFill>
            </a:endParaRPr>
          </a:p>
          <a:p>
            <a:r>
              <a:rPr lang="en-GB" sz="1400" b="1" noProof="0" dirty="0">
                <a:solidFill>
                  <a:schemeClr val="tx1"/>
                </a:solidFill>
              </a:rPr>
              <a:t>A </a:t>
            </a:r>
            <a:r>
              <a:rPr lang="en-GB" sz="1400" b="1" noProof="0" dirty="0">
                <a:solidFill>
                  <a:srgbClr val="0070C0"/>
                </a:solidFill>
              </a:rPr>
              <a:t>buyer</a:t>
            </a:r>
            <a:r>
              <a:rPr lang="en-GB" sz="1400" b="1" noProof="0" dirty="0">
                <a:solidFill>
                  <a:schemeClr val="tx1"/>
                </a:solidFill>
              </a:rPr>
              <a:t> purchases an asset from a </a:t>
            </a:r>
            <a:r>
              <a:rPr lang="en-GB" sz="1400" b="1" noProof="0" dirty="0">
                <a:solidFill>
                  <a:srgbClr val="C00000"/>
                </a:solidFill>
              </a:rPr>
              <a:t>seller. </a:t>
            </a:r>
            <a:r>
              <a:rPr lang="en-GB" sz="1400" noProof="0" dirty="0">
                <a:solidFill>
                  <a:schemeClr val="tx1"/>
                </a:solidFill>
              </a:rPr>
              <a:t>Unless the </a:t>
            </a:r>
            <a:r>
              <a:rPr lang="en-GB" sz="1400" noProof="0" dirty="0">
                <a:solidFill>
                  <a:srgbClr val="0070C0"/>
                </a:solidFill>
              </a:rPr>
              <a:t>buyer </a:t>
            </a:r>
            <a:r>
              <a:rPr lang="en-GB" sz="1400" noProof="0" dirty="0">
                <a:solidFill>
                  <a:schemeClr val="tx1"/>
                </a:solidFill>
              </a:rPr>
              <a:t>is an ESA holder (or paying with physical currency), traditional payment must come from the balance of the buyer’s</a:t>
            </a:r>
            <a:r>
              <a:rPr lang="en-GB" sz="1400" b="1" noProof="0" dirty="0">
                <a:solidFill>
                  <a:schemeClr val="tx1"/>
                </a:solidFill>
              </a:rPr>
              <a:t> commercial bank deposit</a:t>
            </a:r>
            <a:r>
              <a:rPr lang="en-GB" sz="1400" noProof="0" dirty="0">
                <a:solidFill>
                  <a:schemeClr val="tx1"/>
                </a:solidFill>
              </a:rPr>
              <a:t>. </a:t>
            </a:r>
          </a:p>
          <a:p>
            <a:endParaRPr lang="en-GB" sz="1400" b="1" noProof="0" dirty="0">
              <a:solidFill>
                <a:schemeClr val="tx1"/>
              </a:solidFill>
            </a:endParaRPr>
          </a:p>
          <a:p>
            <a:r>
              <a:rPr lang="en-GB" sz="1400" b="1" noProof="0" dirty="0">
                <a:solidFill>
                  <a:schemeClr val="tx1"/>
                </a:solidFill>
              </a:rPr>
              <a:t>If </a:t>
            </a:r>
            <a:r>
              <a:rPr lang="en-GB" sz="1400" b="1" noProof="0" dirty="0">
                <a:solidFill>
                  <a:srgbClr val="0070C0"/>
                </a:solidFill>
              </a:rPr>
              <a:t>buyer </a:t>
            </a:r>
            <a:r>
              <a:rPr lang="en-GB" sz="1400" b="1" noProof="0" dirty="0">
                <a:solidFill>
                  <a:schemeClr val="tx1"/>
                </a:solidFill>
              </a:rPr>
              <a:t>and </a:t>
            </a:r>
            <a:r>
              <a:rPr lang="en-GB" sz="1400" b="1" noProof="0" dirty="0">
                <a:solidFill>
                  <a:srgbClr val="C00000"/>
                </a:solidFill>
              </a:rPr>
              <a:t>seller </a:t>
            </a:r>
            <a:r>
              <a:rPr lang="en-GB" sz="1400" b="1" noProof="0" dirty="0">
                <a:solidFill>
                  <a:schemeClr val="tx1"/>
                </a:solidFill>
              </a:rPr>
              <a:t>have accounts with the same commercial bank, payment could be made internally within that bank. </a:t>
            </a:r>
            <a:r>
              <a:rPr lang="en-GB" sz="1400" noProof="0" dirty="0">
                <a:solidFill>
                  <a:schemeClr val="tx1"/>
                </a:solidFill>
              </a:rPr>
              <a:t>The </a:t>
            </a:r>
            <a:r>
              <a:rPr lang="en-GB" sz="1400" noProof="0" dirty="0">
                <a:solidFill>
                  <a:srgbClr val="C00000"/>
                </a:solidFill>
              </a:rPr>
              <a:t>seller</a:t>
            </a:r>
            <a:r>
              <a:rPr lang="en-GB" sz="1400" noProof="0" dirty="0">
                <a:solidFill>
                  <a:schemeClr val="tx1"/>
                </a:solidFill>
              </a:rPr>
              <a:t> receives a</a:t>
            </a:r>
            <a:r>
              <a:rPr lang="en-GB" sz="1400" b="1" noProof="0" dirty="0">
                <a:solidFill>
                  <a:schemeClr val="tx1"/>
                </a:solidFill>
              </a:rPr>
              <a:t> deposit</a:t>
            </a:r>
            <a:r>
              <a:rPr lang="en-GB" sz="1400" noProof="0" dirty="0">
                <a:solidFill>
                  <a:schemeClr val="tx1"/>
                </a:solidFill>
              </a:rPr>
              <a:t> – a commercial bank liability – without any movement of central bank liabilities (cash). The commercial bank balance sheet is unchanged: the buyer’s deposit is now the seller’s deposit. </a:t>
            </a:r>
          </a:p>
          <a:p>
            <a:endParaRPr lang="en-GB" sz="800" noProof="0" dirty="0">
              <a:solidFill>
                <a:schemeClr val="tx1"/>
              </a:solidFill>
            </a:endParaRPr>
          </a:p>
          <a:p>
            <a:r>
              <a:rPr lang="en-GB" sz="1400" b="1" noProof="0" dirty="0">
                <a:solidFill>
                  <a:schemeClr val="tx1"/>
                </a:solidFill>
              </a:rPr>
              <a:t>If </a:t>
            </a:r>
            <a:r>
              <a:rPr lang="en-GB" sz="1400" b="1" noProof="0" dirty="0">
                <a:solidFill>
                  <a:srgbClr val="0070C0"/>
                </a:solidFill>
              </a:rPr>
              <a:t>buyer </a:t>
            </a:r>
            <a:r>
              <a:rPr lang="en-GB" sz="1400" b="1" noProof="0" dirty="0">
                <a:solidFill>
                  <a:schemeClr val="tx1"/>
                </a:solidFill>
              </a:rPr>
              <a:t>and </a:t>
            </a:r>
            <a:r>
              <a:rPr lang="en-GB" sz="1400" b="1" noProof="0" dirty="0">
                <a:solidFill>
                  <a:srgbClr val="C00000"/>
                </a:solidFill>
              </a:rPr>
              <a:t>seller</a:t>
            </a:r>
            <a:r>
              <a:rPr lang="en-GB" sz="1400" b="1" noProof="0" dirty="0">
                <a:solidFill>
                  <a:schemeClr val="tx1"/>
                </a:solidFill>
              </a:rPr>
              <a:t> use different commercial banks, payment must be made </a:t>
            </a:r>
            <a:r>
              <a:rPr lang="en-GB" sz="1400" b="1" i="1" noProof="0" dirty="0">
                <a:solidFill>
                  <a:schemeClr val="tx1"/>
                </a:solidFill>
              </a:rPr>
              <a:t>interbank </a:t>
            </a:r>
            <a:r>
              <a:rPr lang="en-GB" sz="1400" b="1" noProof="0" dirty="0">
                <a:solidFill>
                  <a:schemeClr val="tx1"/>
                </a:solidFill>
              </a:rPr>
              <a:t>using RITS.</a:t>
            </a:r>
            <a:r>
              <a:rPr lang="en-GB" sz="1400" b="1" i="1" noProof="0" dirty="0">
                <a:solidFill>
                  <a:schemeClr val="tx1"/>
                </a:solidFill>
              </a:rPr>
              <a:t> </a:t>
            </a:r>
            <a:r>
              <a:rPr lang="en-GB" sz="1400" noProof="0" dirty="0">
                <a:solidFill>
                  <a:schemeClr val="tx1"/>
                </a:solidFill>
              </a:rPr>
              <a:t>The buyer’s commercial bank liquidates the buyer’s deposit and sends </a:t>
            </a:r>
            <a:r>
              <a:rPr lang="en-GB" sz="1400" b="1" dirty="0">
                <a:solidFill>
                  <a:schemeClr val="tx1"/>
                </a:solidFill>
              </a:rPr>
              <a:t>“</a:t>
            </a:r>
            <a:r>
              <a:rPr lang="en-GB" sz="1400" b="1" noProof="0" dirty="0">
                <a:solidFill>
                  <a:schemeClr val="tx1"/>
                </a:solidFill>
              </a:rPr>
              <a:t>cash</a:t>
            </a:r>
            <a:r>
              <a:rPr lang="en-GB" sz="1400" b="1" dirty="0">
                <a:solidFill>
                  <a:schemeClr val="tx1"/>
                </a:solidFill>
              </a:rPr>
              <a:t>”</a:t>
            </a:r>
            <a:r>
              <a:rPr lang="en-GB" sz="1400" noProof="0" dirty="0">
                <a:solidFill>
                  <a:schemeClr val="tx1"/>
                </a:solidFill>
              </a:rPr>
              <a:t> (ES balances) to the seller’s commercial bank, which creates a deposit for the seller (a liability of the seller’s bank). </a:t>
            </a:r>
          </a:p>
          <a:p>
            <a:endParaRPr lang="en-GB" sz="800" noProof="0" dirty="0">
              <a:solidFill>
                <a:schemeClr val="tx1"/>
              </a:solidFill>
            </a:endParaRPr>
          </a:p>
          <a:p>
            <a:r>
              <a:rPr lang="en-GB" sz="1400" noProof="0" dirty="0">
                <a:solidFill>
                  <a:schemeClr val="tx1"/>
                </a:solidFill>
              </a:rPr>
              <a:t>The </a:t>
            </a:r>
            <a:r>
              <a:rPr lang="en-GB" sz="1400" noProof="0" dirty="0">
                <a:solidFill>
                  <a:srgbClr val="C00000"/>
                </a:solidFill>
              </a:rPr>
              <a:t>seller </a:t>
            </a:r>
            <a:r>
              <a:rPr lang="en-GB" sz="1400" noProof="0" dirty="0">
                <a:solidFill>
                  <a:schemeClr val="tx1"/>
                </a:solidFill>
              </a:rPr>
              <a:t>still receives a deposit as payment, but the use of RITS to settle interbank payments makes deposits at different commercial banks fungible (equivalent in value). </a:t>
            </a:r>
            <a:r>
              <a:rPr lang="en-GB" sz="1400" dirty="0">
                <a:solidFill>
                  <a:schemeClr val="tx1"/>
                </a:solidFill>
              </a:rPr>
              <a:t>Banks’</a:t>
            </a:r>
            <a:r>
              <a:rPr lang="en-GB" sz="1400" noProof="0" dirty="0">
                <a:solidFill>
                  <a:schemeClr val="tx1"/>
                </a:solidFill>
              </a:rPr>
              <a:t> exclusive acceptance of ES </a:t>
            </a:r>
            <a:r>
              <a:rPr lang="en-GB" sz="1400" dirty="0">
                <a:solidFill>
                  <a:schemeClr val="tx1"/>
                </a:solidFill>
              </a:rPr>
              <a:t>balances as a multilateral settlement asset</a:t>
            </a:r>
            <a:r>
              <a:rPr lang="en-GB" sz="1400" noProof="0" dirty="0">
                <a:solidFill>
                  <a:schemeClr val="tx1"/>
                </a:solidFill>
              </a:rPr>
              <a:t> secures the </a:t>
            </a:r>
            <a:r>
              <a:rPr lang="en-GB" sz="1400" b="1" noProof="0" dirty="0">
                <a:solidFill>
                  <a:schemeClr val="tx1"/>
                </a:solidFill>
              </a:rPr>
              <a:t>singleness of the currency</a:t>
            </a:r>
            <a:r>
              <a:rPr lang="en-GB" sz="1400" noProof="0" dirty="0">
                <a:solidFill>
                  <a:schemeClr val="tx1"/>
                </a:solidFill>
              </a:rPr>
              <a:t>.</a:t>
            </a:r>
            <a:r>
              <a:rPr lang="en-GB" sz="1400" b="1" noProof="0" dirty="0">
                <a:solidFill>
                  <a:schemeClr val="tx1"/>
                </a:solidFill>
              </a:rPr>
              <a:t> </a:t>
            </a:r>
            <a:r>
              <a:rPr lang="en-GB" sz="1400" noProof="0" dirty="0">
                <a:solidFill>
                  <a:schemeClr val="tx1"/>
                </a:solidFill>
              </a:rPr>
              <a:t>Australia’s domestic FMIs are (non-ADI) ESA holders that settle  securities &amp; derivatives transactions using central bank money, even when counterparties to trade share the same commercial bank.</a:t>
            </a:r>
          </a:p>
        </p:txBody>
      </p:sp>
      <p:sp>
        <p:nvSpPr>
          <p:cNvPr id="2" name="Rectangle 1">
            <a:extLst>
              <a:ext uri="{FF2B5EF4-FFF2-40B4-BE49-F238E27FC236}">
                <a16:creationId xmlns:a16="http://schemas.microsoft.com/office/drawing/2014/main" id="{2D9E9D77-6A0B-B7BF-0C5B-F52B674D8AC9}"/>
              </a:ext>
            </a:extLst>
          </p:cNvPr>
          <p:cNvSpPr/>
          <p:nvPr/>
        </p:nvSpPr>
        <p:spPr>
          <a:xfrm>
            <a:off x="8015119" y="395604"/>
            <a:ext cx="3811066" cy="606679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lvl="1"/>
            <a:r>
              <a:rPr lang="en-GB" sz="1100" i="1" noProof="0" dirty="0">
                <a:solidFill>
                  <a:srgbClr val="800000"/>
                </a:solidFill>
              </a:rPr>
              <a:t>Central bank money is a government liability &amp; a commercial bank asset used to settle interbank payments by commercial banks’ depositors</a:t>
            </a:r>
          </a:p>
          <a:p>
            <a:pPr lvl="1"/>
            <a:endParaRPr lang="en-GB" sz="500" i="1" noProof="0" dirty="0">
              <a:solidFill>
                <a:srgbClr val="35115F"/>
              </a:solidFill>
            </a:endParaRPr>
          </a:p>
          <a:p>
            <a:r>
              <a:rPr lang="en-GB" sz="1050" noProof="0" dirty="0">
                <a:solidFill>
                  <a:schemeClr val="tx1"/>
                </a:solidFill>
              </a:rPr>
              <a:t>Central bank money </a:t>
            </a:r>
            <a:r>
              <a:rPr lang="en-GB" sz="1050" b="1" noProof="0" dirty="0">
                <a:solidFill>
                  <a:schemeClr val="tx1"/>
                </a:solidFill>
              </a:rPr>
              <a:t>deposited</a:t>
            </a:r>
            <a:r>
              <a:rPr lang="en-GB" sz="1050" noProof="0" dirty="0">
                <a:solidFill>
                  <a:schemeClr val="tx1"/>
                </a:solidFill>
              </a:rPr>
              <a:t> in a commercial bank becomes a </a:t>
            </a:r>
            <a:r>
              <a:rPr lang="en-GB" sz="1050" b="1" noProof="0" dirty="0">
                <a:solidFill>
                  <a:schemeClr val="tx1"/>
                </a:solidFill>
              </a:rPr>
              <a:t>reserve</a:t>
            </a:r>
            <a:r>
              <a:rPr lang="en-GB" sz="1050" noProof="0" dirty="0">
                <a:solidFill>
                  <a:schemeClr val="tx1"/>
                </a:solidFill>
              </a:rPr>
              <a:t>. The depositor’s </a:t>
            </a:r>
            <a:r>
              <a:rPr lang="en-GB" sz="1050" i="1" noProof="0" dirty="0">
                <a:solidFill>
                  <a:schemeClr val="tx1"/>
                </a:solidFill>
              </a:rPr>
              <a:t>commercial bank money</a:t>
            </a:r>
            <a:r>
              <a:rPr lang="en-GB" sz="1050" noProof="0" dirty="0">
                <a:solidFill>
                  <a:schemeClr val="tx1"/>
                </a:solidFill>
              </a:rPr>
              <a:t> is a </a:t>
            </a:r>
            <a:r>
              <a:rPr lang="en-GB" sz="1050" b="1" noProof="0" dirty="0">
                <a:solidFill>
                  <a:schemeClr val="tx1"/>
                </a:solidFill>
              </a:rPr>
              <a:t>claim</a:t>
            </a:r>
            <a:r>
              <a:rPr lang="en-GB" sz="1050" noProof="0" dirty="0">
                <a:solidFill>
                  <a:schemeClr val="tx1"/>
                </a:solidFill>
              </a:rPr>
              <a:t> to equal reserves when using the deposit to make interbank </a:t>
            </a:r>
            <a:r>
              <a:rPr lang="en-GB" sz="1050" b="1" noProof="0" dirty="0">
                <a:solidFill>
                  <a:schemeClr val="tx1"/>
                </a:solidFill>
              </a:rPr>
              <a:t>payments </a:t>
            </a:r>
            <a:r>
              <a:rPr lang="en-GB" sz="1050" noProof="0" dirty="0">
                <a:solidFill>
                  <a:schemeClr val="tx1"/>
                </a:solidFill>
              </a:rPr>
              <a:t>or when withdrawing physical currency.</a:t>
            </a:r>
          </a:p>
          <a:p>
            <a:endParaRPr lang="en-GB" sz="500" i="1" noProof="0" dirty="0">
              <a:solidFill>
                <a:srgbClr val="35115F"/>
              </a:solidFill>
            </a:endParaRPr>
          </a:p>
          <a:p>
            <a:pPr lvl="1"/>
            <a:r>
              <a:rPr lang="en-GB" sz="1100" i="1" noProof="0" dirty="0">
                <a:solidFill>
                  <a:schemeClr val="accent4">
                    <a:lumMod val="50000"/>
                  </a:schemeClr>
                </a:solidFill>
              </a:rPr>
              <a:t>The deposit is an asset of the depositor and a cash liability of the commercial bank</a:t>
            </a:r>
          </a:p>
          <a:p>
            <a:pPr lvl="1"/>
            <a:endParaRPr lang="en-GB" sz="500" i="1" noProof="0" dirty="0">
              <a:solidFill>
                <a:schemeClr val="accent4">
                  <a:lumMod val="50000"/>
                </a:schemeClr>
              </a:solidFill>
            </a:endParaRPr>
          </a:p>
          <a:p>
            <a:pPr lvl="1"/>
            <a:r>
              <a:rPr lang="en-GB" sz="1100" i="1" noProof="0" dirty="0">
                <a:solidFill>
                  <a:srgbClr val="800000"/>
                </a:solidFill>
              </a:rPr>
              <a:t>The bank must make reserves (liquidity) available on demand for the depositor’s interbank transfers or physical cash withdrawals</a:t>
            </a:r>
          </a:p>
          <a:p>
            <a:pPr lvl="1"/>
            <a:endParaRPr lang="en-GB" sz="500" i="1" noProof="0" dirty="0">
              <a:solidFill>
                <a:schemeClr val="accent4">
                  <a:lumMod val="50000"/>
                </a:schemeClr>
              </a:solidFill>
            </a:endParaRPr>
          </a:p>
          <a:p>
            <a:pPr lvl="1"/>
            <a:r>
              <a:rPr lang="en-GB" sz="1100" i="1" noProof="0" dirty="0">
                <a:solidFill>
                  <a:schemeClr val="accent4">
                    <a:lumMod val="50000"/>
                  </a:schemeClr>
                </a:solidFill>
              </a:rPr>
              <a:t>Reserves otherwise support acquisition of other bank assets (</a:t>
            </a:r>
            <a:r>
              <a:rPr lang="en-GB" sz="1100" i="1" noProof="0" dirty="0" err="1">
                <a:solidFill>
                  <a:schemeClr val="accent4">
                    <a:lumMod val="50000"/>
                  </a:schemeClr>
                </a:solidFill>
              </a:rPr>
              <a:t>i</a:t>
            </a:r>
            <a:r>
              <a:rPr lang="en-GB" sz="1100" i="1" noProof="0" dirty="0">
                <a:solidFill>
                  <a:schemeClr val="accent4">
                    <a:lumMod val="50000"/>
                  </a:schemeClr>
                </a:solidFill>
              </a:rPr>
              <a:t>.</a:t>
            </a:r>
            <a:r>
              <a:rPr lang="en-GB" sz="1100" i="1" dirty="0">
                <a:solidFill>
                  <a:schemeClr val="accent4">
                    <a:lumMod val="50000"/>
                  </a:schemeClr>
                </a:solidFill>
              </a:rPr>
              <a:t>e</a:t>
            </a:r>
            <a:r>
              <a:rPr lang="en-GB" sz="1100" i="1" noProof="0" dirty="0">
                <a:solidFill>
                  <a:schemeClr val="accent4">
                    <a:lumMod val="50000"/>
                  </a:schemeClr>
                </a:solidFill>
              </a:rPr>
              <a:t>. loans). The deposit effectively represents a claim on these assets, since the full value in reserves is not held for every depositor </a:t>
            </a:r>
            <a:endParaRPr lang="en-GB" sz="1100" noProof="0" dirty="0">
              <a:solidFill>
                <a:schemeClr val="accent4">
                  <a:lumMod val="50000"/>
                </a:schemeClr>
              </a:solidFill>
            </a:endParaRPr>
          </a:p>
        </p:txBody>
      </p:sp>
      <p:sp>
        <p:nvSpPr>
          <p:cNvPr id="3" name="Oval 2">
            <a:extLst>
              <a:ext uri="{FF2B5EF4-FFF2-40B4-BE49-F238E27FC236}">
                <a16:creationId xmlns:a16="http://schemas.microsoft.com/office/drawing/2014/main" id="{A8B55F88-74EF-6508-8BC4-0429C8F15886}"/>
              </a:ext>
            </a:extLst>
          </p:cNvPr>
          <p:cNvSpPr>
            <a:spLocks noChangeAspect="1"/>
          </p:cNvSpPr>
          <p:nvPr/>
        </p:nvSpPr>
        <p:spPr>
          <a:xfrm>
            <a:off x="8089242" y="617878"/>
            <a:ext cx="234000" cy="234000"/>
          </a:xfrm>
          <a:prstGeom prst="ellipse">
            <a:avLst/>
          </a:prstGeom>
          <a:solidFill>
            <a:schemeClr val="bg1"/>
          </a:solidFill>
          <a:ln w="31750">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noProof="0" dirty="0">
                <a:solidFill>
                  <a:schemeClr val="accent4">
                    <a:lumMod val="50000"/>
                  </a:schemeClr>
                </a:solidFill>
              </a:rPr>
              <a:t>+</a:t>
            </a:r>
            <a:endParaRPr lang="en-GB" sz="4000" noProof="0" dirty="0">
              <a:solidFill>
                <a:schemeClr val="accent4">
                  <a:lumMod val="50000"/>
                </a:schemeClr>
              </a:solidFill>
            </a:endParaRPr>
          </a:p>
        </p:txBody>
      </p:sp>
      <p:sp>
        <p:nvSpPr>
          <p:cNvPr id="4" name="Rectangle 3">
            <a:extLst>
              <a:ext uri="{FF2B5EF4-FFF2-40B4-BE49-F238E27FC236}">
                <a16:creationId xmlns:a16="http://schemas.microsoft.com/office/drawing/2014/main" id="{FAF632C9-D4A8-F535-2828-094A511D6616}"/>
              </a:ext>
            </a:extLst>
          </p:cNvPr>
          <p:cNvSpPr>
            <a:spLocks/>
          </p:cNvSpPr>
          <p:nvPr/>
        </p:nvSpPr>
        <p:spPr>
          <a:xfrm>
            <a:off x="8101705" y="1798552"/>
            <a:ext cx="216000" cy="216000"/>
          </a:xfrm>
          <a:prstGeom prst="rect">
            <a:avLst/>
          </a:prstGeom>
          <a:solidFill>
            <a:schemeClr val="bg1"/>
          </a:solidFill>
          <a:ln w="31750">
            <a:solidFill>
              <a:srgbClr val="8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noProof="0" dirty="0">
                <a:solidFill>
                  <a:srgbClr val="800000"/>
                </a:solidFill>
              </a:rPr>
              <a:t>-</a:t>
            </a:r>
          </a:p>
        </p:txBody>
      </p:sp>
      <p:sp>
        <p:nvSpPr>
          <p:cNvPr id="5" name="Oval 4">
            <a:extLst>
              <a:ext uri="{FF2B5EF4-FFF2-40B4-BE49-F238E27FC236}">
                <a16:creationId xmlns:a16="http://schemas.microsoft.com/office/drawing/2014/main" id="{BB683A04-ED56-ED44-D876-A396139D73E0}"/>
              </a:ext>
            </a:extLst>
          </p:cNvPr>
          <p:cNvSpPr>
            <a:spLocks noChangeAspect="1"/>
          </p:cNvSpPr>
          <p:nvPr/>
        </p:nvSpPr>
        <p:spPr>
          <a:xfrm>
            <a:off x="8089242" y="2345750"/>
            <a:ext cx="234000" cy="234000"/>
          </a:xfrm>
          <a:prstGeom prst="ellipse">
            <a:avLst/>
          </a:prstGeom>
          <a:solidFill>
            <a:schemeClr val="bg1"/>
          </a:solidFill>
          <a:ln w="31750">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noProof="0" dirty="0">
                <a:solidFill>
                  <a:schemeClr val="accent4">
                    <a:lumMod val="50000"/>
                  </a:schemeClr>
                </a:solidFill>
              </a:rPr>
              <a:t>-</a:t>
            </a:r>
          </a:p>
        </p:txBody>
      </p:sp>
      <p:sp>
        <p:nvSpPr>
          <p:cNvPr id="6" name="Rectangle 5">
            <a:extLst>
              <a:ext uri="{FF2B5EF4-FFF2-40B4-BE49-F238E27FC236}">
                <a16:creationId xmlns:a16="http://schemas.microsoft.com/office/drawing/2014/main" id="{49FFD1E7-F302-C9D6-918E-EE95BD0F5222}"/>
              </a:ext>
            </a:extLst>
          </p:cNvPr>
          <p:cNvSpPr>
            <a:spLocks noChangeAspect="1"/>
          </p:cNvSpPr>
          <p:nvPr/>
        </p:nvSpPr>
        <p:spPr>
          <a:xfrm>
            <a:off x="8101705" y="2940128"/>
            <a:ext cx="216000" cy="216000"/>
          </a:xfrm>
          <a:prstGeom prst="rect">
            <a:avLst/>
          </a:prstGeom>
          <a:solidFill>
            <a:schemeClr val="bg1"/>
          </a:solidFill>
          <a:ln w="31750">
            <a:solidFill>
              <a:srgbClr val="8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noProof="0" dirty="0">
                <a:solidFill>
                  <a:srgbClr val="800000"/>
                </a:solidFill>
              </a:rPr>
              <a:t>+</a:t>
            </a:r>
          </a:p>
        </p:txBody>
      </p:sp>
      <p:sp>
        <p:nvSpPr>
          <p:cNvPr id="12" name="TextBox 11">
            <a:extLst>
              <a:ext uri="{FF2B5EF4-FFF2-40B4-BE49-F238E27FC236}">
                <a16:creationId xmlns:a16="http://schemas.microsoft.com/office/drawing/2014/main" id="{14E0C74C-2E82-03DB-2875-32B0C389FAF9}"/>
              </a:ext>
            </a:extLst>
          </p:cNvPr>
          <p:cNvSpPr txBox="1"/>
          <p:nvPr/>
        </p:nvSpPr>
        <p:spPr>
          <a:xfrm>
            <a:off x="525600" y="375011"/>
            <a:ext cx="7190418" cy="3214690"/>
          </a:xfrm>
          <a:prstGeom prst="rect">
            <a:avLst/>
          </a:prstGeom>
          <a:noFill/>
          <a:ln w="19050">
            <a:noFill/>
          </a:ln>
        </p:spPr>
        <p:txBody>
          <a:bodyPr wrap="square" lIns="180000" tIns="144000" rIns="144000" bIns="144000">
            <a:spAutoFit/>
          </a:bodyPr>
          <a:lstStyle/>
          <a:p>
            <a:pPr lvl="0">
              <a:buSzPct val="100000"/>
            </a:pPr>
            <a:r>
              <a:rPr lang="en-GB" sz="2400" b="1" noProof="0" dirty="0">
                <a:solidFill>
                  <a:srgbClr val="592880"/>
                </a:solidFill>
                <a:latin typeface="+mj-lt"/>
              </a:rPr>
              <a:t>Monetary Singleness: </a:t>
            </a:r>
            <a:r>
              <a:rPr lang="en-GB" b="1" noProof="0" dirty="0">
                <a:solidFill>
                  <a:srgbClr val="592880"/>
                </a:solidFill>
                <a:latin typeface="+mj-lt"/>
              </a:rPr>
              <a:t>a case for a national industry scheme</a:t>
            </a:r>
            <a:r>
              <a:rPr lang="en-GB" sz="2400" b="1" noProof="0" dirty="0">
                <a:solidFill>
                  <a:srgbClr val="592880"/>
                </a:solidFill>
                <a:latin typeface="+mj-lt"/>
              </a:rPr>
              <a:t>  </a:t>
            </a:r>
          </a:p>
          <a:p>
            <a:pPr lvl="0">
              <a:buSzPct val="100000"/>
            </a:pPr>
            <a:endParaRPr lang="en-GB" sz="800" noProof="0" dirty="0">
              <a:latin typeface="+mj-lt"/>
            </a:endParaRPr>
          </a:p>
          <a:p>
            <a:pPr lvl="0">
              <a:buSzPct val="100000"/>
            </a:pPr>
            <a:r>
              <a:rPr lang="en-GB" sz="1300" noProof="0" dirty="0"/>
              <a:t>The </a:t>
            </a:r>
            <a:r>
              <a:rPr lang="en-GB" sz="1300" b="1" noProof="0" dirty="0"/>
              <a:t>AP+ Project Acacia pilots </a:t>
            </a:r>
            <a:r>
              <a:rPr lang="en-GB" sz="1300" noProof="0" dirty="0"/>
              <a:t>are designed to highlight the key upgrades necessary for Australia’s payments &amp; banking infrastructure to effectively interface with the emerging token-based financial ecosystem. The core mechanism is a </a:t>
            </a:r>
            <a:r>
              <a:rPr lang="en-GB" sz="1300" b="1" noProof="0" dirty="0"/>
              <a:t>Token Interchange facility </a:t>
            </a:r>
            <a:r>
              <a:rPr lang="en-GB" sz="1300" noProof="0" dirty="0"/>
              <a:t>for exchange of par-valued AUD tokens, managed under an </a:t>
            </a:r>
            <a:r>
              <a:rPr lang="en-GB" sz="1300" b="1" noProof="0" dirty="0"/>
              <a:t>industry Scheme </a:t>
            </a:r>
            <a:r>
              <a:rPr lang="en-GB" sz="1300" noProof="0" dirty="0"/>
              <a:t>to enforce the use of a </a:t>
            </a:r>
            <a:r>
              <a:rPr lang="en-GB" sz="1300" b="1" noProof="0" dirty="0">
                <a:solidFill>
                  <a:srgbClr val="35115F"/>
                </a:solidFill>
              </a:rPr>
              <a:t>common multilateral interchange token 100% backed with central bank money.</a:t>
            </a:r>
            <a:r>
              <a:rPr lang="en-GB" sz="1300" b="1" noProof="0" dirty="0"/>
              <a:t> </a:t>
            </a:r>
            <a:r>
              <a:rPr lang="en-GB" sz="1300" noProof="0" dirty="0"/>
              <a:t>This can extend the singleness of money to privately-issued AUD tokens on public ledgers. During the pilots, central bank money will take the form of private-network wCBDC. However, the Scheme could also operate without a CBDC, by synchronising the interchange token directly to RITS. </a:t>
            </a:r>
          </a:p>
          <a:p>
            <a:pPr lvl="0">
              <a:buSzPct val="100000"/>
            </a:pPr>
            <a:endParaRPr lang="en-GB" sz="700" noProof="0" dirty="0"/>
          </a:p>
          <a:p>
            <a:pPr lvl="0">
              <a:buSzPct val="100000"/>
            </a:pPr>
            <a:r>
              <a:rPr lang="en-GB" sz="1300" noProof="0" dirty="0"/>
              <a:t>A </a:t>
            </a:r>
            <a:r>
              <a:rPr lang="en-GB" sz="1300" b="1" noProof="0" dirty="0"/>
              <a:t>Future Payments Scheme</a:t>
            </a:r>
            <a:r>
              <a:rPr lang="en-GB" sz="1300" noProof="0" dirty="0"/>
              <a:t> can serve a key national interest in financial stability during an unpredictable transition period for banking and payments industries globally. </a:t>
            </a:r>
          </a:p>
          <a:p>
            <a:pPr lvl="0">
              <a:buSzPct val="100000"/>
            </a:pPr>
            <a:endParaRPr lang="en-GB" sz="1600" noProof="0" dirty="0"/>
          </a:p>
        </p:txBody>
      </p:sp>
      <p:cxnSp>
        <p:nvCxnSpPr>
          <p:cNvPr id="7" name="Straight Connector 6">
            <a:extLst>
              <a:ext uri="{FF2B5EF4-FFF2-40B4-BE49-F238E27FC236}">
                <a16:creationId xmlns:a16="http://schemas.microsoft.com/office/drawing/2014/main" id="{189D0724-8EAB-AC3D-672F-4B938DE6F5C4}"/>
              </a:ext>
            </a:extLst>
          </p:cNvPr>
          <p:cNvCxnSpPr>
            <a:cxnSpLocks/>
          </p:cNvCxnSpPr>
          <p:nvPr/>
        </p:nvCxnSpPr>
        <p:spPr>
          <a:xfrm>
            <a:off x="7816720" y="558335"/>
            <a:ext cx="0" cy="2521749"/>
          </a:xfrm>
          <a:prstGeom prst="line">
            <a:avLst/>
          </a:prstGeom>
          <a:ln w="6350">
            <a:solidFill>
              <a:srgbClr val="35115F"/>
            </a:solidFill>
          </a:ln>
        </p:spPr>
        <p:style>
          <a:lnRef idx="2">
            <a:schemeClr val="accent1"/>
          </a:lnRef>
          <a:fillRef idx="0">
            <a:schemeClr val="accent1"/>
          </a:fillRef>
          <a:effectRef idx="1">
            <a:schemeClr val="accent1"/>
          </a:effectRef>
          <a:fontRef idx="minor">
            <a:schemeClr val="tx1"/>
          </a:fontRef>
        </p:style>
      </p:cxnSp>
      <p:sp>
        <p:nvSpPr>
          <p:cNvPr id="23" name="Rectangle 22">
            <a:extLst>
              <a:ext uri="{FF2B5EF4-FFF2-40B4-BE49-F238E27FC236}">
                <a16:creationId xmlns:a16="http://schemas.microsoft.com/office/drawing/2014/main" id="{8D079701-56ED-6033-0C8B-E5B9837AE1CD}"/>
              </a:ext>
            </a:extLst>
          </p:cNvPr>
          <p:cNvSpPr/>
          <p:nvPr/>
        </p:nvSpPr>
        <p:spPr>
          <a:xfrm>
            <a:off x="7885329" y="3555417"/>
            <a:ext cx="4146252" cy="294589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144000" tIns="72000" rIns="251999" rtlCol="0" anchor="t"/>
          <a:lstStyle/>
          <a:p>
            <a:r>
              <a:rPr lang="en-GB" sz="1050" noProof="0" dirty="0">
                <a:solidFill>
                  <a:srgbClr val="35115F"/>
                </a:solidFill>
              </a:rPr>
              <a:t>RITS was launched in 1998, but for two decades RTGS was limited to wholesale payments; </a:t>
            </a:r>
            <a:r>
              <a:rPr lang="en-GB" sz="1050" noProof="0" dirty="0" err="1">
                <a:solidFill>
                  <a:srgbClr val="35115F"/>
                </a:solidFill>
              </a:rPr>
              <a:t>Austraclear</a:t>
            </a:r>
            <a:r>
              <a:rPr lang="en-GB" sz="1050" noProof="0" dirty="0">
                <a:solidFill>
                  <a:srgbClr val="35115F"/>
                </a:solidFill>
              </a:rPr>
              <a:t> transactions and transfers made under the SWIFT </a:t>
            </a:r>
            <a:r>
              <a:rPr lang="en-GB" sz="1050" b="1" dirty="0">
                <a:solidFill>
                  <a:srgbClr val="35115F"/>
                </a:solidFill>
              </a:rPr>
              <a:t>High Value Clearing System </a:t>
            </a:r>
            <a:r>
              <a:rPr lang="en-GB" sz="1050" dirty="0">
                <a:solidFill>
                  <a:srgbClr val="35115F"/>
                </a:solidFill>
              </a:rPr>
              <a:t>managed by APCA (now </a:t>
            </a:r>
            <a:r>
              <a:rPr lang="en-GB" sz="1050" dirty="0" err="1">
                <a:solidFill>
                  <a:srgbClr val="35115F"/>
                </a:solidFill>
              </a:rPr>
              <a:t>AusPayNet</a:t>
            </a:r>
            <a:r>
              <a:rPr lang="en-GB" sz="1050" dirty="0">
                <a:solidFill>
                  <a:srgbClr val="35115F"/>
                </a:solidFill>
              </a:rPr>
              <a:t>). </a:t>
            </a:r>
            <a:r>
              <a:rPr lang="en-GB" sz="1050" noProof="0" dirty="0">
                <a:solidFill>
                  <a:srgbClr val="35115F"/>
                </a:solidFill>
              </a:rPr>
              <a:t>With the </a:t>
            </a:r>
            <a:r>
              <a:rPr lang="en-GB" sz="1050" b="1" noProof="0" dirty="0">
                <a:solidFill>
                  <a:srgbClr val="35115F"/>
                </a:solidFill>
              </a:rPr>
              <a:t>NPP</a:t>
            </a:r>
            <a:r>
              <a:rPr lang="en-GB" sz="1050" noProof="0" dirty="0">
                <a:solidFill>
                  <a:srgbClr val="35115F"/>
                </a:solidFill>
              </a:rPr>
              <a:t> in 2018, domestic retail payments also became real-time, facilitated by the FSS and its </a:t>
            </a:r>
            <a:r>
              <a:rPr lang="en-GB" sz="1050" b="1" noProof="0" dirty="0">
                <a:solidFill>
                  <a:srgbClr val="35115F"/>
                </a:solidFill>
              </a:rPr>
              <a:t>ISO 20022</a:t>
            </a:r>
            <a:r>
              <a:rPr lang="en-GB" sz="1050" noProof="0" dirty="0">
                <a:solidFill>
                  <a:srgbClr val="35115F"/>
                </a:solidFill>
              </a:rPr>
              <a:t> messaging standard (the NPP Basic Infrastructure is designed, built &amp; operated by SWIFT).</a:t>
            </a:r>
          </a:p>
          <a:p>
            <a:endParaRPr lang="en-GB" sz="700" dirty="0">
              <a:solidFill>
                <a:srgbClr val="35115F"/>
              </a:solidFill>
            </a:endParaRPr>
          </a:p>
          <a:p>
            <a:r>
              <a:rPr lang="en-GB" sz="1050" dirty="0">
                <a:solidFill>
                  <a:srgbClr val="35115F"/>
                </a:solidFill>
              </a:rPr>
              <a:t>The 120-character ABA file format still used for </a:t>
            </a:r>
            <a:r>
              <a:rPr lang="en-GB" sz="1050" b="1" dirty="0">
                <a:solidFill>
                  <a:srgbClr val="35115F"/>
                </a:solidFill>
              </a:rPr>
              <a:t>direct-entry </a:t>
            </a:r>
            <a:r>
              <a:rPr lang="en-GB" sz="1050" dirty="0">
                <a:solidFill>
                  <a:srgbClr val="35115F"/>
                </a:solidFill>
              </a:rPr>
              <a:t>electronic payments emerged from 1970s punch-card technology. Deferred batch clearing was managed via various interbank agreements before APCA established a common framework in 1994 (BECS). Household internet access led to the industry launch of </a:t>
            </a:r>
            <a:r>
              <a:rPr lang="en-GB" sz="1050" b="1" dirty="0">
                <a:solidFill>
                  <a:srgbClr val="35115F"/>
                </a:solidFill>
              </a:rPr>
              <a:t>BPAY</a:t>
            </a:r>
            <a:r>
              <a:rPr lang="en-GB" sz="1050" dirty="0">
                <a:solidFill>
                  <a:srgbClr val="35115F"/>
                </a:solidFill>
              </a:rPr>
              <a:t> as a retail payments scheme (employing BECS) in 1997. </a:t>
            </a:r>
            <a:r>
              <a:rPr lang="en-GB" sz="1050" b="1" dirty="0" err="1">
                <a:solidFill>
                  <a:srgbClr val="35115F"/>
                </a:solidFill>
              </a:rPr>
              <a:t>Eftpos</a:t>
            </a:r>
            <a:r>
              <a:rPr lang="en-GB" sz="1050" dirty="0">
                <a:solidFill>
                  <a:srgbClr val="35115F"/>
                </a:solidFill>
              </a:rPr>
              <a:t> (first introduced with magnetic strip &amp; PIN in the 1980s) was reformed into a multilateral card scheme in 2009, partly to better respond to market competition driven by innovations such as contactless and EMV. </a:t>
            </a:r>
          </a:p>
          <a:p>
            <a:endParaRPr lang="en-GB" sz="1050" noProof="0" dirty="0">
              <a:solidFill>
                <a:srgbClr val="35115F"/>
              </a:solidFill>
            </a:endParaRPr>
          </a:p>
        </p:txBody>
      </p:sp>
      <p:cxnSp>
        <p:nvCxnSpPr>
          <p:cNvPr id="9" name="Straight Connector 8">
            <a:extLst>
              <a:ext uri="{FF2B5EF4-FFF2-40B4-BE49-F238E27FC236}">
                <a16:creationId xmlns:a16="http://schemas.microsoft.com/office/drawing/2014/main" id="{0D34FC86-2A49-B1EE-9851-FFA1FC92F721}"/>
              </a:ext>
            </a:extLst>
          </p:cNvPr>
          <p:cNvCxnSpPr>
            <a:cxnSpLocks/>
          </p:cNvCxnSpPr>
          <p:nvPr/>
        </p:nvCxnSpPr>
        <p:spPr>
          <a:xfrm flipH="1">
            <a:off x="7946505" y="3485781"/>
            <a:ext cx="3879680" cy="0"/>
          </a:xfrm>
          <a:prstGeom prst="line">
            <a:avLst/>
          </a:prstGeom>
          <a:ln w="6350">
            <a:solidFill>
              <a:srgbClr val="35115F"/>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607944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6446C-B49C-D7AB-A574-3CED770EE1B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E8053F2-9537-1F50-EF8F-8DFD37765401}"/>
              </a:ext>
            </a:extLst>
          </p:cNvPr>
          <p:cNvSpPr/>
          <p:nvPr/>
        </p:nvSpPr>
        <p:spPr>
          <a:xfrm>
            <a:off x="504001" y="414747"/>
            <a:ext cx="5990698" cy="59092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Ins="216000" rtlCol="0" anchor="t"/>
          <a:lstStyle/>
          <a:p>
            <a:r>
              <a:rPr lang="en-GB" sz="2400" b="1" noProof="0" dirty="0">
                <a:solidFill>
                  <a:srgbClr val="592880"/>
                </a:solidFill>
                <a:latin typeface="+mj-lt"/>
              </a:rPr>
              <a:t>Financial Market Infrastructures</a:t>
            </a:r>
          </a:p>
          <a:p>
            <a:endParaRPr lang="en-GB" sz="900" noProof="0" dirty="0">
              <a:solidFill>
                <a:srgbClr val="2E0D2A"/>
              </a:solidFill>
            </a:endParaRPr>
          </a:p>
          <a:p>
            <a:r>
              <a:rPr lang="en-GB" sz="1150" noProof="0" dirty="0">
                <a:solidFill>
                  <a:srgbClr val="2E0D2A"/>
                </a:solidFill>
              </a:rPr>
              <a:t>The RBA recognises two FMIs as </a:t>
            </a:r>
            <a:r>
              <a:rPr lang="en-GB" sz="1150" b="1" noProof="0" dirty="0">
                <a:solidFill>
                  <a:schemeClr val="tx1"/>
                </a:solidFill>
              </a:rPr>
              <a:t>Systemically</a:t>
            </a:r>
            <a:r>
              <a:rPr lang="en-GB" sz="1150" b="1" noProof="0" dirty="0">
                <a:solidFill>
                  <a:srgbClr val="2E0D2A"/>
                </a:solidFill>
              </a:rPr>
              <a:t> Important Payment Systems </a:t>
            </a:r>
            <a:r>
              <a:rPr lang="en-GB" sz="1150" noProof="0" dirty="0">
                <a:solidFill>
                  <a:srgbClr val="2E0D2A"/>
                </a:solidFill>
              </a:rPr>
              <a:t>(SIPS) for Australia:</a:t>
            </a:r>
          </a:p>
          <a:p>
            <a:pPr marL="285750" indent="-285750">
              <a:buFont typeface="Arial" panose="020B0604020202020204" pitchFamily="34" charset="0"/>
              <a:buChar char="•"/>
            </a:pPr>
            <a:r>
              <a:rPr lang="en-GB" sz="1150" b="1" noProof="0" dirty="0">
                <a:solidFill>
                  <a:schemeClr val="tx1"/>
                </a:solidFill>
              </a:rPr>
              <a:t>RITS: </a:t>
            </a:r>
            <a:r>
              <a:rPr lang="en-GB" sz="1150" noProof="0" dirty="0">
                <a:solidFill>
                  <a:schemeClr val="tx1"/>
                </a:solidFill>
              </a:rPr>
              <a:t>RBA’s internal ESA transfer system for domestic interbank payments</a:t>
            </a:r>
          </a:p>
          <a:p>
            <a:pPr marL="285750" indent="-285750">
              <a:buFont typeface="Arial" panose="020B0604020202020204" pitchFamily="34" charset="0"/>
              <a:buChar char="•"/>
            </a:pPr>
            <a:r>
              <a:rPr lang="en-GB" sz="1150" b="1" noProof="0" dirty="0">
                <a:solidFill>
                  <a:schemeClr val="tx1"/>
                </a:solidFill>
              </a:rPr>
              <a:t>CLS: </a:t>
            </a:r>
            <a:r>
              <a:rPr lang="en-GB" sz="1150" noProof="0" dirty="0">
                <a:solidFill>
                  <a:schemeClr val="tx1"/>
                </a:solidFill>
              </a:rPr>
              <a:t>an international institution operating </a:t>
            </a:r>
            <a:r>
              <a:rPr lang="en-GB" sz="1150" b="1" noProof="0" dirty="0">
                <a:solidFill>
                  <a:schemeClr val="tx1"/>
                </a:solidFill>
              </a:rPr>
              <a:t>multicurrency PvP FX settlement</a:t>
            </a:r>
            <a:r>
              <a:rPr lang="en-GB" sz="1150" noProof="0" dirty="0">
                <a:solidFill>
                  <a:schemeClr val="tx1"/>
                </a:solidFill>
              </a:rPr>
              <a:t> for wholesale spot FX transactions (responsible for over half of global FX transactions)</a:t>
            </a:r>
          </a:p>
          <a:p>
            <a:r>
              <a:rPr lang="en-GB" sz="1150" noProof="0" dirty="0">
                <a:solidFill>
                  <a:srgbClr val="2E0D2A"/>
                </a:solidFill>
              </a:rPr>
              <a:t>The RBA also supervises other FMIs operating in Australia, assessing compliance with </a:t>
            </a:r>
            <a:r>
              <a:rPr lang="en-GB" sz="1150" b="1" noProof="0" dirty="0">
                <a:solidFill>
                  <a:srgbClr val="2E0D2A"/>
                </a:solidFill>
              </a:rPr>
              <a:t>Financial Stability Standards </a:t>
            </a:r>
            <a:r>
              <a:rPr lang="en-GB" sz="1150" noProof="0" dirty="0">
                <a:solidFill>
                  <a:srgbClr val="2E0D2A"/>
                </a:solidFill>
              </a:rPr>
              <a:t>based on the international </a:t>
            </a:r>
            <a:r>
              <a:rPr lang="en-GB" sz="1150" b="1" noProof="0" dirty="0">
                <a:solidFill>
                  <a:srgbClr val="2E0D2A"/>
                </a:solidFill>
              </a:rPr>
              <a:t>CPMI-IOSCO</a:t>
            </a:r>
            <a:r>
              <a:rPr lang="en-GB" sz="1150" noProof="0" dirty="0">
                <a:solidFill>
                  <a:srgbClr val="2E0D2A"/>
                </a:solidFill>
              </a:rPr>
              <a:t> </a:t>
            </a:r>
            <a:r>
              <a:rPr lang="en-GB" sz="1150" b="1" noProof="0" dirty="0">
                <a:solidFill>
                  <a:srgbClr val="2E0D2A"/>
                </a:solidFill>
              </a:rPr>
              <a:t>PFMIs</a:t>
            </a:r>
            <a:r>
              <a:rPr lang="en-GB" sz="1150" noProof="0" dirty="0">
                <a:solidFill>
                  <a:srgbClr val="2E0D2A"/>
                </a:solidFill>
              </a:rPr>
              <a:t>.</a:t>
            </a:r>
            <a:r>
              <a:rPr lang="en-GB" sz="1150" b="1" noProof="0" dirty="0">
                <a:solidFill>
                  <a:srgbClr val="2E0D2A"/>
                </a:solidFill>
              </a:rPr>
              <a:t> </a:t>
            </a:r>
          </a:p>
          <a:p>
            <a:pPr marL="285750" indent="-285750">
              <a:buFont typeface="Courier New" panose="02070309020205020404" pitchFamily="49" charset="0"/>
              <a:buChar char="o"/>
            </a:pPr>
            <a:r>
              <a:rPr lang="en-GB" sz="1150" b="1" noProof="0" dirty="0">
                <a:solidFill>
                  <a:srgbClr val="800000"/>
                </a:solidFill>
              </a:rPr>
              <a:t>SSFs – Securities Settlement Facilities </a:t>
            </a:r>
            <a:r>
              <a:rPr lang="en-GB" sz="1150" i="1" noProof="0" dirty="0">
                <a:solidFill>
                  <a:srgbClr val="800000"/>
                </a:solidFill>
              </a:rPr>
              <a:t>(delivery of asset on payment)</a:t>
            </a:r>
          </a:p>
          <a:p>
            <a:pPr marL="742950" lvl="1" indent="-285750">
              <a:buFont typeface="Arial" panose="020B0604020202020204" pitchFamily="34" charset="0"/>
              <a:buChar char="•"/>
            </a:pPr>
            <a:r>
              <a:rPr lang="en-GB" sz="1150" b="1" noProof="0" dirty="0" err="1">
                <a:solidFill>
                  <a:srgbClr val="0432FF"/>
                </a:solidFill>
              </a:rPr>
              <a:t>Austraclear</a:t>
            </a:r>
            <a:r>
              <a:rPr lang="en-GB" sz="1150" b="1" noProof="0" dirty="0">
                <a:solidFill>
                  <a:srgbClr val="0432FF"/>
                </a:solidFill>
              </a:rPr>
              <a:t>:</a:t>
            </a:r>
            <a:r>
              <a:rPr lang="en-GB" sz="1150" noProof="0" dirty="0">
                <a:solidFill>
                  <a:srgbClr val="0432FF"/>
                </a:solidFill>
              </a:rPr>
              <a:t> </a:t>
            </a:r>
            <a:r>
              <a:rPr lang="en-GB" sz="1150" noProof="0" dirty="0">
                <a:solidFill>
                  <a:srgbClr val="2E0D2A"/>
                </a:solidFill>
              </a:rPr>
              <a:t>wholesale OTC debt (government bonds and repo) </a:t>
            </a:r>
          </a:p>
          <a:p>
            <a:pPr marL="742950" lvl="1" indent="-285750">
              <a:buFont typeface="Arial" panose="020B0604020202020204" pitchFamily="34" charset="0"/>
              <a:buChar char="•"/>
            </a:pPr>
            <a:r>
              <a:rPr lang="en-GB" sz="1150" b="1" noProof="0" dirty="0">
                <a:solidFill>
                  <a:srgbClr val="0432FF"/>
                </a:solidFill>
              </a:rPr>
              <a:t>ASX Settlement: </a:t>
            </a:r>
            <a:r>
              <a:rPr lang="en-GB" sz="1150" noProof="0" dirty="0">
                <a:solidFill>
                  <a:srgbClr val="2E0D2A"/>
                </a:solidFill>
              </a:rPr>
              <a:t>exchange-traded equities &amp; debt products (CHESS)</a:t>
            </a:r>
          </a:p>
          <a:p>
            <a:pPr marL="742950" lvl="1" indent="-285750">
              <a:buFont typeface="Arial" panose="020B0604020202020204" pitchFamily="34" charset="0"/>
              <a:buChar char="•"/>
            </a:pPr>
            <a:r>
              <a:rPr lang="en-GB" sz="1150" b="1" noProof="0" dirty="0">
                <a:solidFill>
                  <a:srgbClr val="2E0D2A"/>
                </a:solidFill>
              </a:rPr>
              <a:t>Euroclear </a:t>
            </a:r>
            <a:r>
              <a:rPr lang="en-GB" sz="1150" noProof="0" dirty="0">
                <a:solidFill>
                  <a:srgbClr val="2E0D2A"/>
                </a:solidFill>
              </a:rPr>
              <a:t>(Belgium)</a:t>
            </a:r>
            <a:r>
              <a:rPr lang="en-GB" sz="1150" b="1" noProof="0" dirty="0">
                <a:solidFill>
                  <a:srgbClr val="2E0D2A"/>
                </a:solidFill>
              </a:rPr>
              <a:t>: </a:t>
            </a:r>
            <a:r>
              <a:rPr lang="en-GB" sz="1150" noProof="0" dirty="0">
                <a:solidFill>
                  <a:srgbClr val="2E0D2A"/>
                </a:solidFill>
              </a:rPr>
              <a:t>debt and equity securities, government bonds and repo</a:t>
            </a:r>
            <a:endParaRPr lang="en-GB" sz="1150" b="1" noProof="0" dirty="0">
              <a:solidFill>
                <a:srgbClr val="2E0D2A"/>
              </a:solidFill>
            </a:endParaRPr>
          </a:p>
          <a:p>
            <a:pPr marL="742950" lvl="1" indent="-285750">
              <a:buFont typeface="Arial" panose="020B0604020202020204" pitchFamily="34" charset="0"/>
              <a:buChar char="•"/>
            </a:pPr>
            <a:r>
              <a:rPr lang="en-GB" sz="1150" b="1" noProof="0" dirty="0">
                <a:solidFill>
                  <a:srgbClr val="2E0D2A"/>
                </a:solidFill>
              </a:rPr>
              <a:t>Clearstream </a:t>
            </a:r>
            <a:r>
              <a:rPr lang="en-GB" sz="1150" noProof="0" dirty="0">
                <a:solidFill>
                  <a:srgbClr val="2E0D2A"/>
                </a:solidFill>
              </a:rPr>
              <a:t>(Luxembourg)</a:t>
            </a:r>
            <a:r>
              <a:rPr lang="en-GB" sz="1150" b="1" noProof="0" dirty="0">
                <a:solidFill>
                  <a:srgbClr val="2E0D2A"/>
                </a:solidFill>
              </a:rPr>
              <a:t>:</a:t>
            </a:r>
            <a:r>
              <a:rPr lang="en-GB" sz="1150" noProof="0" dirty="0">
                <a:solidFill>
                  <a:srgbClr val="2E0D2A"/>
                </a:solidFill>
              </a:rPr>
              <a:t> debt and equity securities, government bonds and repo</a:t>
            </a:r>
          </a:p>
          <a:p>
            <a:pPr marL="285750" indent="-285750">
              <a:buFont typeface="Courier New" panose="02070309020205020404" pitchFamily="49" charset="0"/>
              <a:buChar char="o"/>
            </a:pPr>
            <a:r>
              <a:rPr lang="en-GB" sz="1150" b="1" noProof="0" dirty="0">
                <a:solidFill>
                  <a:srgbClr val="800000"/>
                </a:solidFill>
              </a:rPr>
              <a:t>CCPs – Central Counterparties </a:t>
            </a:r>
            <a:r>
              <a:rPr lang="en-GB" sz="1150" i="1" noProof="0" dirty="0">
                <a:solidFill>
                  <a:srgbClr val="800000"/>
                </a:solidFill>
              </a:rPr>
              <a:t>(clearing)</a:t>
            </a:r>
          </a:p>
          <a:p>
            <a:pPr marL="742950" lvl="1" indent="-285750">
              <a:buFont typeface="Arial" panose="020B0604020202020204" pitchFamily="34" charset="0"/>
              <a:buChar char="•"/>
            </a:pPr>
            <a:r>
              <a:rPr lang="en-GB" sz="1150" b="1" noProof="0" dirty="0">
                <a:solidFill>
                  <a:srgbClr val="0432FF"/>
                </a:solidFill>
              </a:rPr>
              <a:t>ASX Clear:</a:t>
            </a:r>
            <a:r>
              <a:rPr lang="en-GB" sz="1150" b="1" noProof="0" dirty="0">
                <a:solidFill>
                  <a:srgbClr val="0070C0"/>
                </a:solidFill>
              </a:rPr>
              <a:t> </a:t>
            </a:r>
            <a:r>
              <a:rPr lang="en-GB" sz="1150" noProof="0" dirty="0">
                <a:solidFill>
                  <a:srgbClr val="2E0D2A"/>
                </a:solidFill>
              </a:rPr>
              <a:t>equities &amp; debt products, exchange-traded &amp; OTC</a:t>
            </a:r>
          </a:p>
          <a:p>
            <a:pPr marL="742950" lvl="1" indent="-285750">
              <a:buFont typeface="Arial" panose="020B0604020202020204" pitchFamily="34" charset="0"/>
              <a:buChar char="•"/>
            </a:pPr>
            <a:r>
              <a:rPr lang="en-GB" sz="1150" b="1" noProof="0" dirty="0">
                <a:solidFill>
                  <a:srgbClr val="0432FF"/>
                </a:solidFill>
              </a:rPr>
              <a:t>ASX Clear (Futures):</a:t>
            </a:r>
            <a:r>
              <a:rPr lang="en-GB" sz="1150" noProof="0" dirty="0">
                <a:solidFill>
                  <a:srgbClr val="2E0D2A"/>
                </a:solidFill>
              </a:rPr>
              <a:t> exchange-traded </a:t>
            </a:r>
            <a:r>
              <a:rPr lang="en-GB" sz="1150" noProof="0" dirty="0" err="1">
                <a:solidFill>
                  <a:srgbClr val="2E0D2A"/>
                </a:solidFill>
              </a:rPr>
              <a:t>equitiy</a:t>
            </a:r>
            <a:r>
              <a:rPr lang="en-GB" sz="1150" noProof="0" dirty="0">
                <a:solidFill>
                  <a:srgbClr val="2E0D2A"/>
                </a:solidFill>
              </a:rPr>
              <a:t> and debt products</a:t>
            </a:r>
          </a:p>
          <a:p>
            <a:pPr marL="742950" lvl="1" indent="-285750">
              <a:buFont typeface="Arial" panose="020B0604020202020204" pitchFamily="34" charset="0"/>
              <a:buChar char="•"/>
            </a:pPr>
            <a:r>
              <a:rPr lang="en-GB" sz="1150" b="1" noProof="0" dirty="0">
                <a:solidFill>
                  <a:srgbClr val="2E0D2A"/>
                </a:solidFill>
              </a:rPr>
              <a:t>LCH </a:t>
            </a:r>
            <a:r>
              <a:rPr lang="en-GB" sz="1150" noProof="0" dirty="0">
                <a:solidFill>
                  <a:srgbClr val="2E0D2A"/>
                </a:solidFill>
              </a:rPr>
              <a:t>(UK)</a:t>
            </a:r>
            <a:r>
              <a:rPr lang="en-GB" sz="1150" b="1" noProof="0" dirty="0">
                <a:solidFill>
                  <a:srgbClr val="2E0D2A"/>
                </a:solidFill>
              </a:rPr>
              <a:t>: </a:t>
            </a:r>
            <a:r>
              <a:rPr lang="en-GB" sz="1150" noProof="0" dirty="0">
                <a:solidFill>
                  <a:srgbClr val="2E0D2A"/>
                </a:solidFill>
              </a:rPr>
              <a:t>OTC interest rate &amp; inflation rate derivatives</a:t>
            </a:r>
            <a:endParaRPr lang="en-GB" sz="1150" b="1" noProof="0" dirty="0">
              <a:solidFill>
                <a:srgbClr val="2E0D2A"/>
              </a:solidFill>
            </a:endParaRPr>
          </a:p>
          <a:p>
            <a:pPr marL="742950" lvl="1" indent="-285750">
              <a:buFont typeface="Arial" panose="020B0604020202020204" pitchFamily="34" charset="0"/>
              <a:buChar char="•"/>
            </a:pPr>
            <a:r>
              <a:rPr lang="en-GB" sz="1150" b="1" noProof="0" dirty="0">
                <a:solidFill>
                  <a:srgbClr val="2E0D2A"/>
                </a:solidFill>
              </a:rPr>
              <a:t>CME </a:t>
            </a:r>
            <a:r>
              <a:rPr lang="en-GB" sz="1150" noProof="0" dirty="0">
                <a:solidFill>
                  <a:srgbClr val="2E0D2A"/>
                </a:solidFill>
              </a:rPr>
              <a:t>(US)</a:t>
            </a:r>
            <a:r>
              <a:rPr lang="en-GB" sz="1150" b="1" noProof="0" dirty="0">
                <a:solidFill>
                  <a:srgbClr val="2E0D2A"/>
                </a:solidFill>
              </a:rPr>
              <a:t>:</a:t>
            </a:r>
            <a:r>
              <a:rPr lang="en-GB" sz="1150" noProof="0" dirty="0">
                <a:solidFill>
                  <a:srgbClr val="2E0D2A"/>
                </a:solidFill>
              </a:rPr>
              <a:t> interest-rate, commodity and energy derivatives </a:t>
            </a:r>
          </a:p>
          <a:p>
            <a:r>
              <a:rPr lang="en-GB" sz="1150" noProof="0" dirty="0">
                <a:solidFill>
                  <a:srgbClr val="2E0D2A"/>
                </a:solidFill>
              </a:rPr>
              <a:t>The four </a:t>
            </a:r>
            <a:r>
              <a:rPr lang="en-GB" sz="1150" noProof="0" dirty="0">
                <a:solidFill>
                  <a:srgbClr val="0432FF"/>
                </a:solidFill>
              </a:rPr>
              <a:t>Australia-based FMIs </a:t>
            </a:r>
            <a:r>
              <a:rPr lang="en-GB" sz="1150" noProof="0" dirty="0">
                <a:solidFill>
                  <a:srgbClr val="2E0D2A"/>
                </a:solidFill>
              </a:rPr>
              <a:t>are all </a:t>
            </a:r>
            <a:r>
              <a:rPr lang="en-GB" sz="1150" b="1" noProof="0" dirty="0">
                <a:solidFill>
                  <a:srgbClr val="2E0D2A"/>
                </a:solidFill>
              </a:rPr>
              <a:t>ASX Group</a:t>
            </a:r>
            <a:r>
              <a:rPr lang="en-GB" sz="1150" noProof="0" dirty="0">
                <a:solidFill>
                  <a:srgbClr val="2E0D2A"/>
                </a:solidFill>
              </a:rPr>
              <a:t> entities.</a:t>
            </a:r>
          </a:p>
          <a:p>
            <a:endParaRPr lang="en-GB" sz="1250" noProof="0" dirty="0">
              <a:solidFill>
                <a:srgbClr val="2E0D2A"/>
              </a:solidFill>
            </a:endParaRPr>
          </a:p>
          <a:p>
            <a:pPr marL="742950" lvl="1" indent="-285750">
              <a:buFont typeface="Arial" panose="020B0604020202020204" pitchFamily="34" charset="0"/>
              <a:buChar char="•"/>
            </a:pPr>
            <a:endParaRPr lang="en-GB" sz="1250" noProof="0" dirty="0">
              <a:solidFill>
                <a:srgbClr val="2E0D2A"/>
              </a:solidFill>
            </a:endParaRPr>
          </a:p>
        </p:txBody>
      </p:sp>
      <p:sp>
        <p:nvSpPr>
          <p:cNvPr id="7" name="Rectangle 6">
            <a:extLst>
              <a:ext uri="{FF2B5EF4-FFF2-40B4-BE49-F238E27FC236}">
                <a16:creationId xmlns:a16="http://schemas.microsoft.com/office/drawing/2014/main" id="{F3EE9E9D-21C9-EA7C-E5C4-2B51DF03EE64}"/>
              </a:ext>
            </a:extLst>
          </p:cNvPr>
          <p:cNvSpPr/>
          <p:nvPr/>
        </p:nvSpPr>
        <p:spPr>
          <a:xfrm>
            <a:off x="6533535" y="431997"/>
            <a:ext cx="5136603" cy="3093523"/>
          </a:xfrm>
          <a:prstGeom prst="rect">
            <a:avLst/>
          </a:prstGeom>
          <a:solidFill>
            <a:schemeClr val="bg1">
              <a:lumMod val="95000"/>
            </a:schemeClr>
          </a:solidFill>
          <a:ln w="3175">
            <a:solidFill>
              <a:srgbClr val="592880"/>
            </a:solidFill>
          </a:ln>
        </p:spPr>
        <p:style>
          <a:lnRef idx="2">
            <a:schemeClr val="accent1">
              <a:shade val="15000"/>
            </a:schemeClr>
          </a:lnRef>
          <a:fillRef idx="1">
            <a:schemeClr val="accent1"/>
          </a:fillRef>
          <a:effectRef idx="0">
            <a:schemeClr val="accent1"/>
          </a:effectRef>
          <a:fontRef idx="minor">
            <a:schemeClr val="lt1"/>
          </a:fontRef>
        </p:style>
        <p:txBody>
          <a:bodyPr lIns="144000" tIns="108000" rIns="144000" rtlCol="0" anchor="t"/>
          <a:lstStyle/>
          <a:p>
            <a:r>
              <a:rPr lang="en-GB" sz="1400" b="1" noProof="0" dirty="0">
                <a:solidFill>
                  <a:srgbClr val="592880"/>
                </a:solidFill>
                <a:latin typeface="+mj-lt"/>
              </a:rPr>
              <a:t>Wholesale &amp; Retail Money</a:t>
            </a:r>
          </a:p>
          <a:p>
            <a:endParaRPr lang="en-GB" sz="700" noProof="0" dirty="0">
              <a:solidFill>
                <a:srgbClr val="2E0D2A"/>
              </a:solidFill>
            </a:endParaRPr>
          </a:p>
          <a:p>
            <a:r>
              <a:rPr lang="en-GB" sz="1150" noProof="0" dirty="0">
                <a:solidFill>
                  <a:srgbClr val="2E0D2A"/>
                </a:solidFill>
              </a:rPr>
              <a:t>Millions of </a:t>
            </a:r>
            <a:r>
              <a:rPr lang="en-GB" sz="1150" b="1" noProof="0" dirty="0">
                <a:solidFill>
                  <a:srgbClr val="2E0D2A"/>
                </a:solidFill>
              </a:rPr>
              <a:t>retail </a:t>
            </a:r>
            <a:r>
              <a:rPr lang="en-GB" sz="1150" noProof="0" dirty="0">
                <a:solidFill>
                  <a:srgbClr val="2E0D2A"/>
                </a:solidFill>
              </a:rPr>
              <a:t>transactions processed daily by RITS</a:t>
            </a:r>
            <a:r>
              <a:rPr lang="en-GB" sz="1150" b="1" noProof="0" dirty="0">
                <a:solidFill>
                  <a:srgbClr val="2E0D2A"/>
                </a:solidFill>
              </a:rPr>
              <a:t> </a:t>
            </a:r>
            <a:r>
              <a:rPr lang="en-GB" sz="1150" noProof="0" dirty="0">
                <a:solidFill>
                  <a:srgbClr val="2E0D2A"/>
                </a:solidFill>
              </a:rPr>
              <a:t>collectively account for </a:t>
            </a:r>
            <a:r>
              <a:rPr lang="en-GB" sz="1150" b="1" noProof="0" dirty="0">
                <a:solidFill>
                  <a:srgbClr val="2E0D2A"/>
                </a:solidFill>
              </a:rPr>
              <a:t>less than 5%</a:t>
            </a:r>
            <a:r>
              <a:rPr lang="en-GB" sz="1150" noProof="0" dirty="0">
                <a:solidFill>
                  <a:srgbClr val="2E0D2A"/>
                </a:solidFill>
              </a:rPr>
              <a:t> of average daily </a:t>
            </a:r>
            <a:r>
              <a:rPr lang="en-GB" sz="1150" i="1" noProof="0" dirty="0">
                <a:solidFill>
                  <a:srgbClr val="2E0D2A"/>
                </a:solidFill>
              </a:rPr>
              <a:t>value</a:t>
            </a:r>
            <a:r>
              <a:rPr lang="en-GB" sz="1150" noProof="0" dirty="0">
                <a:solidFill>
                  <a:srgbClr val="2E0D2A"/>
                </a:solidFill>
              </a:rPr>
              <a:t> transacted. The other ~95% comes from high-value, low-volume </a:t>
            </a:r>
            <a:r>
              <a:rPr lang="en-GB" sz="1150" b="1" noProof="0" dirty="0">
                <a:solidFill>
                  <a:srgbClr val="2E0D2A"/>
                </a:solidFill>
              </a:rPr>
              <a:t>wholesale</a:t>
            </a:r>
            <a:r>
              <a:rPr lang="en-GB" sz="1150" noProof="0" dirty="0">
                <a:solidFill>
                  <a:srgbClr val="2E0D2A"/>
                </a:solidFill>
              </a:rPr>
              <a:t> payments, generally associated with institutional securities (DvP) and FX (PvP) markets. </a:t>
            </a:r>
            <a:r>
              <a:rPr lang="en-GB" sz="1150" b="1" noProof="0" dirty="0">
                <a:solidFill>
                  <a:srgbClr val="2E0D2A"/>
                </a:solidFill>
              </a:rPr>
              <a:t>RTGS </a:t>
            </a:r>
            <a:r>
              <a:rPr lang="en-GB" sz="1150" noProof="0" dirty="0">
                <a:solidFill>
                  <a:srgbClr val="2E0D2A"/>
                </a:solidFill>
              </a:rPr>
              <a:t>was previously reserved for wholesale transactions but was extended to retail with the launch of the </a:t>
            </a:r>
            <a:r>
              <a:rPr lang="en-GB" sz="1150" b="1" noProof="0" dirty="0">
                <a:solidFill>
                  <a:srgbClr val="2E0D2A"/>
                </a:solidFill>
              </a:rPr>
              <a:t>FSS</a:t>
            </a:r>
            <a:r>
              <a:rPr lang="en-GB" sz="1150" noProof="0" dirty="0">
                <a:solidFill>
                  <a:srgbClr val="2E0D2A"/>
                </a:solidFill>
              </a:rPr>
              <a:t> in 2018 (enabling the NPP).</a:t>
            </a:r>
          </a:p>
          <a:p>
            <a:endParaRPr lang="en-GB" sz="700" noProof="0" dirty="0">
              <a:solidFill>
                <a:srgbClr val="2E0D2A"/>
              </a:solidFill>
            </a:endParaRPr>
          </a:p>
          <a:p>
            <a:r>
              <a:rPr lang="en-GB" sz="1150" noProof="0" dirty="0">
                <a:solidFill>
                  <a:srgbClr val="2E0D2A"/>
                </a:solidFill>
              </a:rPr>
              <a:t>Central banks distinguish retail and wholesale CBDCs. The RBA has limited Project Acacia’s scope to </a:t>
            </a:r>
            <a:r>
              <a:rPr lang="en-GB" sz="1150" b="1" noProof="0" dirty="0">
                <a:solidFill>
                  <a:srgbClr val="2E0D2A"/>
                </a:solidFill>
              </a:rPr>
              <a:t>wCBDC</a:t>
            </a:r>
            <a:r>
              <a:rPr lang="en-GB" sz="1150" noProof="0" dirty="0">
                <a:solidFill>
                  <a:srgbClr val="2E0D2A"/>
                </a:solidFill>
              </a:rPr>
              <a:t>, arguing that a tokenised form of physical currency is unlikely to improve efficiency of domestic retail payments (which are now instant), but could introduce financial stability risks with a new non-physical public money alternative to bank deposits. By contrast, the RBA has noted various inefficiencies in Australia’s wholesale market infrastructure and has suggested that the introduction of wCBDC could help modernise processes relating to clearing &amp; settlement.</a:t>
            </a:r>
          </a:p>
        </p:txBody>
      </p:sp>
      <p:sp>
        <p:nvSpPr>
          <p:cNvPr id="16" name="Rectangle 15">
            <a:extLst>
              <a:ext uri="{FF2B5EF4-FFF2-40B4-BE49-F238E27FC236}">
                <a16:creationId xmlns:a16="http://schemas.microsoft.com/office/drawing/2014/main" id="{ED8A8B28-A144-527D-F33D-DF79DAF2C200}"/>
              </a:ext>
            </a:extLst>
          </p:cNvPr>
          <p:cNvSpPr/>
          <p:nvPr/>
        </p:nvSpPr>
        <p:spPr>
          <a:xfrm>
            <a:off x="5679440" y="3655373"/>
            <a:ext cx="5990698" cy="2827777"/>
          </a:xfrm>
          <a:prstGeom prst="rect">
            <a:avLst/>
          </a:prstGeom>
          <a:solidFill>
            <a:schemeClr val="tx2">
              <a:lumMod val="10000"/>
              <a:lumOff val="90000"/>
              <a:alpha val="80000"/>
            </a:schemeClr>
          </a:solidFill>
          <a:ln w="9525">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lIns="144000" tIns="72000" rIns="144000" rtlCol="0" anchor="t"/>
          <a:lstStyle/>
          <a:p>
            <a:r>
              <a:rPr lang="en-GB" sz="1600" b="1" noProof="0" dirty="0">
                <a:solidFill>
                  <a:schemeClr val="tx2">
                    <a:lumMod val="90000"/>
                    <a:lumOff val="10000"/>
                  </a:schemeClr>
                </a:solidFill>
                <a:latin typeface="+mj-lt"/>
              </a:rPr>
              <a:t>ASX Group</a:t>
            </a:r>
            <a:r>
              <a:rPr lang="en-GB" sz="1600" b="1" noProof="0" dirty="0">
                <a:solidFill>
                  <a:schemeClr val="tx2">
                    <a:lumMod val="90000"/>
                    <a:lumOff val="10000"/>
                  </a:schemeClr>
                </a:solidFill>
              </a:rPr>
              <a:t> </a:t>
            </a:r>
            <a:r>
              <a:rPr lang="en-GB" sz="1050" noProof="0" dirty="0">
                <a:solidFill>
                  <a:schemeClr val="tx1"/>
                </a:solidFill>
              </a:rPr>
              <a:t>owns and operates </a:t>
            </a:r>
            <a:r>
              <a:rPr lang="en-GB" sz="1050" noProof="0" dirty="0">
                <a:solidFill>
                  <a:srgbClr val="2E0D2A"/>
                </a:solidFill>
              </a:rPr>
              <a:t>monopoly infrastructure for Australia’s core domestic markets. Transactions depending on the SSF </a:t>
            </a:r>
            <a:r>
              <a:rPr lang="en-GB" sz="1050" b="1" noProof="0" dirty="0" err="1">
                <a:solidFill>
                  <a:srgbClr val="2E0D2A"/>
                </a:solidFill>
              </a:rPr>
              <a:t>Austraclear</a:t>
            </a:r>
            <a:r>
              <a:rPr lang="en-GB" sz="1050" b="1" noProof="0" dirty="0">
                <a:solidFill>
                  <a:srgbClr val="2E0D2A"/>
                </a:solidFill>
              </a:rPr>
              <a:t> </a:t>
            </a:r>
            <a:r>
              <a:rPr lang="en-GB" sz="1050" noProof="0" dirty="0">
                <a:solidFill>
                  <a:srgbClr val="2E0D2A"/>
                </a:solidFill>
              </a:rPr>
              <a:t>(the AGS CSD) are used to fund the federal government and implement monetary policy, </a:t>
            </a:r>
            <a:r>
              <a:rPr lang="en-GB" sz="1050" noProof="0" dirty="0" err="1">
                <a:solidFill>
                  <a:srgbClr val="2E0D2A"/>
                </a:solidFill>
              </a:rPr>
              <a:t>Australclear</a:t>
            </a:r>
            <a:r>
              <a:rPr lang="en-GB" sz="1050" noProof="0" dirty="0">
                <a:solidFill>
                  <a:srgbClr val="2E0D2A"/>
                </a:solidFill>
              </a:rPr>
              <a:t> connects directly to RITS for RTGS &amp; DvP RTGS during business hours. </a:t>
            </a:r>
            <a:r>
              <a:rPr lang="en-GB" sz="1050" b="1" noProof="0" dirty="0">
                <a:solidFill>
                  <a:srgbClr val="2E0D2A"/>
                </a:solidFill>
              </a:rPr>
              <a:t>ASX Settlement </a:t>
            </a:r>
            <a:r>
              <a:rPr lang="en-GB" sz="1050" dirty="0">
                <a:solidFill>
                  <a:srgbClr val="2E0D2A"/>
                </a:solidFill>
              </a:rPr>
              <a:t>(the other major Australian SSF) operates</a:t>
            </a:r>
            <a:r>
              <a:rPr lang="en-GB" sz="1050" noProof="0" dirty="0">
                <a:solidFill>
                  <a:srgbClr val="2E0D2A"/>
                </a:solidFill>
              </a:rPr>
              <a:t> the </a:t>
            </a:r>
            <a:r>
              <a:rPr lang="en-GB" sz="1050" b="1" noProof="0" dirty="0">
                <a:solidFill>
                  <a:srgbClr val="2E0D2A"/>
                </a:solidFill>
              </a:rPr>
              <a:t>CHESS</a:t>
            </a:r>
            <a:r>
              <a:rPr lang="en-GB" sz="1050" noProof="0" dirty="0">
                <a:solidFill>
                  <a:srgbClr val="2E0D2A"/>
                </a:solidFill>
              </a:rPr>
              <a:t> system for equities, which settles DvP on a </a:t>
            </a:r>
            <a:r>
              <a:rPr lang="en-GB" sz="1050" b="1" noProof="0" dirty="0">
                <a:solidFill>
                  <a:srgbClr val="2E0D2A"/>
                </a:solidFill>
              </a:rPr>
              <a:t>T+2 </a:t>
            </a:r>
            <a:r>
              <a:rPr lang="en-GB" sz="1050" noProof="0" dirty="0">
                <a:solidFill>
                  <a:srgbClr val="2E0D2A"/>
                </a:solidFill>
              </a:rPr>
              <a:t>net</a:t>
            </a:r>
            <a:r>
              <a:rPr lang="en-GB" sz="1050" b="1" noProof="0" dirty="0">
                <a:solidFill>
                  <a:srgbClr val="2E0D2A"/>
                </a:solidFill>
              </a:rPr>
              <a:t> </a:t>
            </a:r>
            <a:r>
              <a:rPr lang="en-GB" sz="1050" noProof="0" dirty="0">
                <a:solidFill>
                  <a:srgbClr val="2E0D2A"/>
                </a:solidFill>
              </a:rPr>
              <a:t>basis – ASX Settlement submits these netted payments to RITS as </a:t>
            </a:r>
            <a:r>
              <a:rPr lang="en-GB" sz="1050" b="1" noProof="0" dirty="0">
                <a:solidFill>
                  <a:srgbClr val="2E0D2A"/>
                </a:solidFill>
              </a:rPr>
              <a:t>batch administrator</a:t>
            </a:r>
            <a:r>
              <a:rPr lang="en-GB" sz="1050" noProof="0" dirty="0">
                <a:solidFill>
                  <a:srgbClr val="2E0D2A"/>
                </a:solidFill>
              </a:rPr>
              <a:t>. RTGS for equities is technically supported by CHESS but has never been in use. ASX Clear is the equities CCP that novates trades &amp; submits settlement to CHESS. ASX Clear Futures is the CCP for futures &amp; options (interest-rate, equity-index, energy/commodity) traded on the ASX platforms,  </a:t>
            </a:r>
            <a:r>
              <a:rPr lang="en-GB" sz="1050" dirty="0">
                <a:solidFill>
                  <a:srgbClr val="2E0D2A"/>
                </a:solidFill>
              </a:rPr>
              <a:t>as well as</a:t>
            </a:r>
            <a:r>
              <a:rPr lang="en-GB" sz="1050" noProof="0" dirty="0">
                <a:solidFill>
                  <a:srgbClr val="2E0D2A"/>
                </a:solidFill>
              </a:rPr>
              <a:t> some OTC derivatives. </a:t>
            </a:r>
          </a:p>
          <a:p>
            <a:endParaRPr lang="en-GB" sz="1050" noProof="0" dirty="0">
              <a:solidFill>
                <a:srgbClr val="2E0D2A"/>
              </a:solidFill>
            </a:endParaRPr>
          </a:p>
          <a:p>
            <a:r>
              <a:rPr lang="en-GB" sz="1050" noProof="0" dirty="0">
                <a:solidFill>
                  <a:srgbClr val="2E0D2A"/>
                </a:solidFill>
              </a:rPr>
              <a:t>ASX Group led an unsuccessful attempt to develop a token-based platform from 2016 to 2022 (hiring </a:t>
            </a:r>
            <a:r>
              <a:rPr lang="en-GB" sz="1050" b="1" noProof="0" dirty="0">
                <a:solidFill>
                  <a:srgbClr val="2E0D2A"/>
                </a:solidFill>
              </a:rPr>
              <a:t>Digital Asset</a:t>
            </a:r>
            <a:r>
              <a:rPr lang="en-GB" sz="1050" noProof="0" dirty="0">
                <a:solidFill>
                  <a:srgbClr val="2E0D2A"/>
                </a:solidFill>
              </a:rPr>
              <a:t>, creator of the </a:t>
            </a:r>
            <a:r>
              <a:rPr lang="en-GB" sz="1050" b="1" noProof="0" dirty="0">
                <a:solidFill>
                  <a:srgbClr val="2E0D2A"/>
                </a:solidFill>
              </a:rPr>
              <a:t>Canton Network</a:t>
            </a:r>
            <a:r>
              <a:rPr lang="en-GB" sz="1050" noProof="0" dirty="0">
                <a:solidFill>
                  <a:srgbClr val="2E0D2A"/>
                </a:solidFill>
              </a:rPr>
              <a:t>), eventually abandoning the project after spending A$250 million and misleading regulators on the state of progress. The project’s failure means that the aging CHESS system will continue operating for a number of years longer than intended (a non-DLT replacement is planned). In 2024, CHESS suffered a significant operational incident (following a previous one in 2020) drawing unusually  strong rebuke from regulators. </a:t>
            </a:r>
          </a:p>
        </p:txBody>
      </p:sp>
      <p:sp>
        <p:nvSpPr>
          <p:cNvPr id="17" name="Rectangle 16">
            <a:extLst>
              <a:ext uri="{FF2B5EF4-FFF2-40B4-BE49-F238E27FC236}">
                <a16:creationId xmlns:a16="http://schemas.microsoft.com/office/drawing/2014/main" id="{5B4B1A95-112D-6B15-01F2-662F988B9B03}"/>
              </a:ext>
            </a:extLst>
          </p:cNvPr>
          <p:cNvSpPr/>
          <p:nvPr/>
        </p:nvSpPr>
        <p:spPr>
          <a:xfrm>
            <a:off x="503999" y="4408973"/>
            <a:ext cx="5035409" cy="2091430"/>
          </a:xfrm>
          <a:prstGeom prst="rect">
            <a:avLst/>
          </a:prstGeom>
          <a:solidFill>
            <a:srgbClr val="FFC000">
              <a:alpha val="25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144000" tIns="36000" rIns="144000" rtlCol="0" anchor="t"/>
          <a:lstStyle/>
          <a:p>
            <a:r>
              <a:rPr lang="en-GB" sz="1150" b="1" noProof="0" dirty="0">
                <a:solidFill>
                  <a:schemeClr val="tx1"/>
                </a:solidFill>
              </a:rPr>
              <a:t>The PFMIs </a:t>
            </a:r>
            <a:r>
              <a:rPr lang="en-GB" sz="1150" noProof="0" dirty="0">
                <a:solidFill>
                  <a:schemeClr val="tx1"/>
                </a:solidFill>
              </a:rPr>
              <a:t>are international regulatory standards published in 2012 to guide supervision of </a:t>
            </a:r>
            <a:r>
              <a:rPr lang="en-GB" sz="1150" b="1" noProof="0" dirty="0">
                <a:solidFill>
                  <a:schemeClr val="tx1"/>
                </a:solidFill>
              </a:rPr>
              <a:t>payment systems, CSDs, SSFs, CCPs and trade repositories. </a:t>
            </a:r>
            <a:r>
              <a:rPr lang="en-GB" sz="1150" noProof="0" dirty="0">
                <a:solidFill>
                  <a:schemeClr val="tx1"/>
                </a:solidFill>
              </a:rPr>
              <a:t>The Principles arose out of the international policy response to the 2008 financial crisis and cover several broad categories of risk: </a:t>
            </a:r>
            <a:r>
              <a:rPr lang="en-GB" sz="1150" b="1" i="1" noProof="0" dirty="0">
                <a:solidFill>
                  <a:schemeClr val="tx1"/>
                </a:solidFill>
              </a:rPr>
              <a:t>Legal, Credit, Liquidity, Business, Custody &amp; Investment, and Operational.</a:t>
            </a:r>
          </a:p>
          <a:p>
            <a:endParaRPr lang="en-GB" sz="500" noProof="0" dirty="0">
              <a:solidFill>
                <a:schemeClr val="tx1"/>
              </a:solidFill>
            </a:endParaRPr>
          </a:p>
          <a:p>
            <a:r>
              <a:rPr lang="en-GB" sz="1150" dirty="0">
                <a:solidFill>
                  <a:schemeClr val="tx1"/>
                </a:solidFill>
              </a:rPr>
              <a:t>A consequence of the financial crisis was a G20-led international policy initiative to mandate the centralised clearing of OTC derivatives. Contracts novated by CCP are collateralised with holdings of </a:t>
            </a:r>
            <a:r>
              <a:rPr lang="en-GB" sz="1150" b="1" dirty="0">
                <a:solidFill>
                  <a:schemeClr val="tx1"/>
                </a:solidFill>
              </a:rPr>
              <a:t>initial margin </a:t>
            </a:r>
            <a:r>
              <a:rPr lang="en-GB" sz="1150" dirty="0">
                <a:solidFill>
                  <a:schemeClr val="tx1"/>
                </a:solidFill>
              </a:rPr>
              <a:t>(HQLA) set to cover </a:t>
            </a:r>
            <a:r>
              <a:rPr lang="en-GB" sz="1150" i="1" dirty="0">
                <a:solidFill>
                  <a:schemeClr val="tx1"/>
                </a:solidFill>
              </a:rPr>
              <a:t>extreme-but-plausible </a:t>
            </a:r>
            <a:r>
              <a:rPr lang="en-GB" sz="1150" dirty="0">
                <a:solidFill>
                  <a:schemeClr val="tx1"/>
                </a:solidFill>
              </a:rPr>
              <a:t>stress scenarios, and </a:t>
            </a:r>
            <a:r>
              <a:rPr lang="en-GB" sz="1150" b="1" dirty="0">
                <a:solidFill>
                  <a:schemeClr val="tx1"/>
                </a:solidFill>
              </a:rPr>
              <a:t>variation margin, </a:t>
            </a:r>
            <a:r>
              <a:rPr lang="en-GB" sz="1150" dirty="0">
                <a:solidFill>
                  <a:schemeClr val="tx1"/>
                </a:solidFill>
              </a:rPr>
              <a:t>to be paid with central bank money “where practical &amp; available”.</a:t>
            </a:r>
            <a:endParaRPr lang="en-GB" sz="1150" noProof="0" dirty="0">
              <a:solidFill>
                <a:schemeClr val="tx1"/>
              </a:solidFill>
            </a:endParaRPr>
          </a:p>
        </p:txBody>
      </p:sp>
    </p:spTree>
    <p:extLst>
      <p:ext uri="{BB962C8B-B14F-4D97-AF65-F5344CB8AC3E}">
        <p14:creationId xmlns:p14="http://schemas.microsoft.com/office/powerpoint/2010/main" val="8773564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6446C-B49C-D7AB-A574-3CED770EE1B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E8053F2-9537-1F50-EF8F-8DFD37765401}"/>
              </a:ext>
            </a:extLst>
          </p:cNvPr>
          <p:cNvSpPr/>
          <p:nvPr/>
        </p:nvSpPr>
        <p:spPr>
          <a:xfrm>
            <a:off x="532575" y="405222"/>
            <a:ext cx="5411025" cy="52240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Ins="216000" rtlCol="0" anchor="t"/>
          <a:lstStyle/>
          <a:p>
            <a:r>
              <a:rPr lang="en-GB" sz="2400" b="1" noProof="0" dirty="0">
                <a:solidFill>
                  <a:srgbClr val="592880"/>
                </a:solidFill>
                <a:latin typeface="+mj-lt"/>
              </a:rPr>
              <a:t>Liquidity Issues for Token Interchange</a:t>
            </a:r>
          </a:p>
          <a:p>
            <a:endParaRPr lang="en-GB" sz="1600" noProof="0" dirty="0">
              <a:solidFill>
                <a:srgbClr val="2E0D2A"/>
              </a:solidFill>
            </a:endParaRPr>
          </a:p>
          <a:p>
            <a:r>
              <a:rPr lang="en-GB" sz="1300" noProof="0" dirty="0">
                <a:solidFill>
                  <a:srgbClr val="2E0D2A"/>
                </a:solidFill>
              </a:rPr>
              <a:t>The essential elements of a Future Payment Scheme are broadly outlined in three AP+ ‘use case’ submissions accepted by the Reserve Bank for Phase 2 (‘Experiment’) of Project Acacia:</a:t>
            </a:r>
          </a:p>
          <a:p>
            <a:endParaRPr lang="en-GB" sz="1300" noProof="0" dirty="0">
              <a:solidFill>
                <a:srgbClr val="2E0D2A"/>
              </a:solidFill>
            </a:endParaRPr>
          </a:p>
          <a:p>
            <a:pPr marL="228600" indent="-228600">
              <a:buFont typeface="+mj-lt"/>
              <a:buAutoNum type="arabicPeriod"/>
            </a:pPr>
            <a:r>
              <a:rPr lang="en-GB" sz="1300" b="1" noProof="0" dirty="0">
                <a:solidFill>
                  <a:srgbClr val="2E0D2A"/>
                </a:solidFill>
              </a:rPr>
              <a:t>NPP-Token Integration (Coin to Account / Account to Coin). </a:t>
            </a:r>
            <a:r>
              <a:rPr lang="en-GB" sz="1300" noProof="0" dirty="0">
                <a:solidFill>
                  <a:srgbClr val="2E0D2A"/>
                </a:solidFill>
              </a:rPr>
              <a:t>Bi-directional transfer of value between tokens and fiat using ISO20022 and EVM standards. </a:t>
            </a:r>
            <a:r>
              <a:rPr lang="en-GB" sz="1300" dirty="0">
                <a:solidFill>
                  <a:srgbClr val="2E0D2A"/>
                </a:solidFill>
              </a:rPr>
              <a:t>H</a:t>
            </a:r>
            <a:r>
              <a:rPr lang="en-GB" sz="1300" noProof="0" dirty="0">
                <a:solidFill>
                  <a:srgbClr val="2E0D2A"/>
                </a:solidFill>
              </a:rPr>
              <a:t>ow the NPP can be utilised to support digital asset settlement through the intermediation of ESA holders and the participation of SWIFT.</a:t>
            </a:r>
          </a:p>
          <a:p>
            <a:pPr marL="228600" indent="-228600">
              <a:buFont typeface="+mj-lt"/>
              <a:buAutoNum type="arabicPeriod"/>
            </a:pPr>
            <a:endParaRPr lang="en-GB" sz="1300" noProof="0" dirty="0">
              <a:solidFill>
                <a:srgbClr val="2E0D2A"/>
              </a:solidFill>
            </a:endParaRPr>
          </a:p>
          <a:p>
            <a:pPr marL="228600" indent="-228600">
              <a:buFont typeface="+mj-lt"/>
              <a:buAutoNum type="arabicPeriod"/>
            </a:pPr>
            <a:r>
              <a:rPr lang="en-GB" sz="1300" b="1" noProof="0" dirty="0">
                <a:solidFill>
                  <a:srgbClr val="2E0D2A"/>
                </a:solidFill>
              </a:rPr>
              <a:t>Token Interchange. </a:t>
            </a:r>
            <a:r>
              <a:rPr lang="en-GB" sz="1300" noProof="0" dirty="0">
                <a:solidFill>
                  <a:srgbClr val="2E0D2A"/>
                </a:solidFill>
              </a:rPr>
              <a:t>Neutral operator of a permissioned public ledger-based platform for Scheme members to atomically swap stablecoins and deposit tokens. The interchange will utilise an EVM-compatible tokenised mirror representation of Central Bank Money (“M0”) as cross-asset ‘hub token’ for settlement, employing smart contracts for token swapping. The interchange operates on a permissioned instance of Hedera </a:t>
            </a:r>
            <a:r>
              <a:rPr lang="en-GB" sz="1300" noProof="0" dirty="0" err="1">
                <a:solidFill>
                  <a:srgbClr val="2E0D2A"/>
                </a:solidFill>
              </a:rPr>
              <a:t>Hashgraph</a:t>
            </a:r>
            <a:r>
              <a:rPr lang="en-GB" sz="1300" noProof="0" dirty="0">
                <a:solidFill>
                  <a:srgbClr val="2E0D2A"/>
                </a:solidFill>
              </a:rPr>
              <a:t> and incorporates an inter-ledger bridge to Ethereum. </a:t>
            </a:r>
          </a:p>
          <a:p>
            <a:pPr marL="228600" indent="-228600">
              <a:buFont typeface="+mj-lt"/>
              <a:buAutoNum type="arabicPeriod"/>
            </a:pPr>
            <a:endParaRPr lang="en-GB" sz="1300" dirty="0">
              <a:solidFill>
                <a:srgbClr val="2E0D2A"/>
              </a:solidFill>
            </a:endParaRPr>
          </a:p>
          <a:p>
            <a:pPr marL="228600" indent="-228600">
              <a:buFont typeface="+mj-lt"/>
              <a:buAutoNum type="arabicPeriod"/>
            </a:pPr>
            <a:r>
              <a:rPr lang="en-GB" sz="1300" b="1" noProof="0" dirty="0">
                <a:solidFill>
                  <a:srgbClr val="2E0D2A"/>
                </a:solidFill>
              </a:rPr>
              <a:t>Settlement Coordinator Services. </a:t>
            </a:r>
            <a:r>
              <a:rPr lang="en-GB" sz="1300" noProof="0" dirty="0">
                <a:solidFill>
                  <a:srgbClr val="2E0D2A"/>
                </a:solidFill>
              </a:rPr>
              <a:t>Supporting services for NPP-token integration and token interchange, Another Project Acacia lead entity has since become the lead entity for this use case, with the experiment proposing to tokenise tradeable Certificates of Deposits and Annuities for Australian money markets, settling with a privately issued stablecoin.</a:t>
            </a:r>
          </a:p>
          <a:p>
            <a:r>
              <a:rPr lang="en-GB" sz="1200" b="1" noProof="0" dirty="0">
                <a:solidFill>
                  <a:srgbClr val="2E0D2A"/>
                </a:solidFill>
              </a:rPr>
              <a:t>  </a:t>
            </a:r>
            <a:endParaRPr lang="en-GB" sz="1100" noProof="0" dirty="0">
              <a:solidFill>
                <a:srgbClr val="2E0D2A"/>
              </a:solidFill>
            </a:endParaRPr>
          </a:p>
          <a:p>
            <a:endParaRPr lang="en-GB" sz="1100" noProof="0" dirty="0">
              <a:solidFill>
                <a:srgbClr val="2E0D2A"/>
              </a:solidFill>
            </a:endParaRPr>
          </a:p>
          <a:p>
            <a:pPr marL="742950" lvl="1" indent="-285750">
              <a:buFont typeface="Arial" panose="020B0604020202020204" pitchFamily="34" charset="0"/>
              <a:buChar char="•"/>
            </a:pPr>
            <a:endParaRPr lang="en-GB" sz="1250" noProof="0" dirty="0">
              <a:solidFill>
                <a:srgbClr val="2E0D2A"/>
              </a:solidFill>
            </a:endParaRPr>
          </a:p>
        </p:txBody>
      </p:sp>
      <p:sp>
        <p:nvSpPr>
          <p:cNvPr id="4" name="TextBox 3">
            <a:extLst>
              <a:ext uri="{FF2B5EF4-FFF2-40B4-BE49-F238E27FC236}">
                <a16:creationId xmlns:a16="http://schemas.microsoft.com/office/drawing/2014/main" id="{D88E37A6-56F4-7A8D-F6D6-32A0DE718473}"/>
              </a:ext>
            </a:extLst>
          </p:cNvPr>
          <p:cNvSpPr txBox="1"/>
          <p:nvPr/>
        </p:nvSpPr>
        <p:spPr>
          <a:xfrm>
            <a:off x="5943595" y="2220876"/>
            <a:ext cx="5715001" cy="1685077"/>
          </a:xfrm>
          <a:prstGeom prst="rect">
            <a:avLst/>
          </a:prstGeom>
          <a:solidFill>
            <a:srgbClr val="FFC000">
              <a:alpha val="30000"/>
            </a:srgbClr>
          </a:solidFill>
          <a:ln w="3175">
            <a:solidFill>
              <a:schemeClr val="accent2">
                <a:lumMod val="50000"/>
              </a:schemeClr>
            </a:solidFill>
          </a:ln>
        </p:spPr>
        <p:txBody>
          <a:bodyPr wrap="square" lIns="180000" rIns="180000">
            <a:spAutoFit/>
          </a:bodyPr>
          <a:lstStyle/>
          <a:p>
            <a:pPr algn="just"/>
            <a:r>
              <a:rPr lang="en-AU" sz="1200" b="1" i="1" dirty="0">
                <a:solidFill>
                  <a:srgbClr val="000000"/>
                </a:solidFill>
                <a:effectLst/>
                <a:latin typeface="+mj-lt"/>
                <a:ea typeface="Times New Roman" panose="02020603050405020304" pitchFamily="18" charset="0"/>
              </a:rPr>
              <a:t>How will the emerging digital token economy affect the management of institutional liquidity?</a:t>
            </a:r>
          </a:p>
          <a:p>
            <a:pPr algn="just"/>
            <a:endParaRPr lang="en-AU" sz="200" dirty="0">
              <a:effectLst/>
              <a:latin typeface="+mj-lt"/>
              <a:ea typeface="Times New Roman" panose="02020603050405020304" pitchFamily="18" charset="0"/>
            </a:endParaRPr>
          </a:p>
          <a:p>
            <a:pPr marL="342900" lvl="0" indent="-342900" algn="just">
              <a:buFont typeface="Symbol" pitchFamily="2" charset="2"/>
              <a:buChar char=""/>
            </a:pPr>
            <a:r>
              <a:rPr lang="en-AU" sz="1050" dirty="0">
                <a:solidFill>
                  <a:srgbClr val="000000"/>
                </a:solidFill>
                <a:effectLst/>
                <a:latin typeface="Aptos" panose="020B0004020202020204" pitchFamily="34" charset="0"/>
                <a:ea typeface="Times New Roman" panose="02020603050405020304" pitchFamily="18" charset="0"/>
              </a:rPr>
              <a:t>What are the liquidity requirements of digital token interchange systems? </a:t>
            </a:r>
            <a:endParaRPr lang="en-AU" sz="1200" dirty="0">
              <a:effectLst/>
              <a:latin typeface="Aptos" panose="020B0004020202020204" pitchFamily="34" charset="0"/>
              <a:ea typeface="Times New Roman" panose="02020603050405020304" pitchFamily="18" charset="0"/>
            </a:endParaRPr>
          </a:p>
          <a:p>
            <a:pPr marL="342900" lvl="0" indent="-342900" algn="just">
              <a:buFont typeface="Symbol" pitchFamily="2" charset="2"/>
              <a:buChar char=""/>
            </a:pPr>
            <a:r>
              <a:rPr lang="en-AU" sz="1050" dirty="0">
                <a:solidFill>
                  <a:srgbClr val="000000"/>
                </a:solidFill>
                <a:effectLst/>
                <a:latin typeface="Aptos" panose="020B0004020202020204" pitchFamily="34" charset="0"/>
                <a:ea typeface="Times New Roman" panose="02020603050405020304" pitchFamily="18" charset="0"/>
              </a:rPr>
              <a:t>How do these requirements affect integration with existing financial market infrastructures?</a:t>
            </a:r>
            <a:endParaRPr lang="en-AU" sz="1200" dirty="0">
              <a:effectLst/>
              <a:latin typeface="Aptos" panose="020B0004020202020204" pitchFamily="34" charset="0"/>
              <a:ea typeface="Times New Roman" panose="02020603050405020304" pitchFamily="18" charset="0"/>
            </a:endParaRPr>
          </a:p>
          <a:p>
            <a:pPr marL="342900" lvl="0" indent="-342900" algn="just">
              <a:buFont typeface="Symbol" pitchFamily="2" charset="2"/>
              <a:buChar char=""/>
            </a:pPr>
            <a:r>
              <a:rPr lang="en-AU" sz="1050" dirty="0">
                <a:solidFill>
                  <a:srgbClr val="000000"/>
                </a:solidFill>
                <a:effectLst/>
                <a:latin typeface="Aptos" panose="020B0004020202020204" pitchFamily="34" charset="0"/>
                <a:ea typeface="Times New Roman" panose="02020603050405020304" pitchFamily="18" charset="0"/>
              </a:rPr>
              <a:t>How can institutional </a:t>
            </a:r>
            <a:r>
              <a:rPr lang="en-AU" sz="1050" i="1" dirty="0">
                <a:solidFill>
                  <a:srgbClr val="000000"/>
                </a:solidFill>
                <a:effectLst/>
                <a:latin typeface="Aptos" panose="020B0004020202020204" pitchFamily="34" charset="0"/>
                <a:ea typeface="Times New Roman" panose="02020603050405020304" pitchFamily="18" charset="0"/>
              </a:rPr>
              <a:t>schemes</a:t>
            </a:r>
            <a:r>
              <a:rPr lang="en-AU" sz="1050" dirty="0">
                <a:solidFill>
                  <a:srgbClr val="000000"/>
                </a:solidFill>
                <a:effectLst/>
                <a:latin typeface="Aptos" panose="020B0004020202020204" pitchFamily="34" charset="0"/>
                <a:ea typeface="Times New Roman" panose="02020603050405020304" pitchFamily="18" charset="0"/>
              </a:rPr>
              <a:t> support resilient and efficient systems for digital token interchange?</a:t>
            </a:r>
            <a:endParaRPr lang="en-AU" sz="1200" dirty="0">
              <a:effectLst/>
              <a:latin typeface="Aptos" panose="020B0004020202020204" pitchFamily="34" charset="0"/>
              <a:ea typeface="Times New Roman" panose="02020603050405020304" pitchFamily="18" charset="0"/>
            </a:endParaRPr>
          </a:p>
          <a:p>
            <a:pPr marL="342900" lvl="0" indent="-342900" algn="just">
              <a:buFont typeface="Symbol" pitchFamily="2" charset="2"/>
              <a:buChar char=""/>
            </a:pPr>
            <a:r>
              <a:rPr lang="en-AU" sz="1050" dirty="0">
                <a:solidFill>
                  <a:srgbClr val="000000"/>
                </a:solidFill>
                <a:effectLst/>
                <a:latin typeface="Aptos" panose="020B0004020202020204" pitchFamily="34" charset="0"/>
                <a:ea typeface="Times New Roman" panose="02020603050405020304" pitchFamily="18" charset="0"/>
              </a:rPr>
              <a:t>To what extent does the programmability of tokenised money and assets allow </a:t>
            </a:r>
            <a:r>
              <a:rPr lang="en-AU" sz="1050" i="1" dirty="0">
                <a:solidFill>
                  <a:srgbClr val="000000"/>
                </a:solidFill>
                <a:effectLst/>
                <a:latin typeface="Aptos" panose="020B0004020202020204" pitchFamily="34" charset="0"/>
                <a:ea typeface="Times New Roman" panose="02020603050405020304" pitchFamily="18" charset="0"/>
              </a:rPr>
              <a:t>schemes</a:t>
            </a:r>
            <a:r>
              <a:rPr lang="en-AU" sz="1050" dirty="0">
                <a:solidFill>
                  <a:srgbClr val="000000"/>
                </a:solidFill>
                <a:effectLst/>
                <a:latin typeface="Aptos" panose="020B0004020202020204" pitchFamily="34" charset="0"/>
                <a:ea typeface="Times New Roman" panose="02020603050405020304" pitchFamily="18" charset="0"/>
              </a:rPr>
              <a:t> to be implemented </a:t>
            </a:r>
            <a:r>
              <a:rPr lang="en-AU" sz="1050" i="1" dirty="0">
                <a:solidFill>
                  <a:srgbClr val="000000"/>
                </a:solidFill>
                <a:effectLst/>
                <a:latin typeface="Aptos" panose="020B0004020202020204" pitchFamily="34" charset="0"/>
                <a:ea typeface="Times New Roman" panose="02020603050405020304" pitchFamily="18" charset="0"/>
              </a:rPr>
              <a:t>as code</a:t>
            </a:r>
            <a:r>
              <a:rPr lang="en-AU" sz="1050" dirty="0">
                <a:solidFill>
                  <a:srgbClr val="000000"/>
                </a:solidFill>
                <a:effectLst/>
                <a:latin typeface="Aptos" panose="020B0004020202020204" pitchFamily="34" charset="0"/>
                <a:ea typeface="Times New Roman" panose="02020603050405020304" pitchFamily="18" charset="0"/>
              </a:rPr>
              <a:t>?</a:t>
            </a:r>
            <a:endParaRPr lang="en-AU" sz="1200" dirty="0">
              <a:effectLst/>
              <a:latin typeface="Aptos" panose="020B0004020202020204" pitchFamily="34" charset="0"/>
              <a:ea typeface="Times New Roman" panose="02020603050405020304" pitchFamily="18" charset="0"/>
            </a:endParaRPr>
          </a:p>
        </p:txBody>
      </p:sp>
      <p:sp>
        <p:nvSpPr>
          <p:cNvPr id="5" name="TextBox 4">
            <a:extLst>
              <a:ext uri="{FF2B5EF4-FFF2-40B4-BE49-F238E27FC236}">
                <a16:creationId xmlns:a16="http://schemas.microsoft.com/office/drawing/2014/main" id="{7E0125C5-7BD6-8FCE-04B6-D55A2C459D88}"/>
              </a:ext>
            </a:extLst>
          </p:cNvPr>
          <p:cNvSpPr txBox="1"/>
          <p:nvPr/>
        </p:nvSpPr>
        <p:spPr>
          <a:xfrm>
            <a:off x="5943596" y="404756"/>
            <a:ext cx="5715001" cy="1647938"/>
          </a:xfrm>
          <a:prstGeom prst="rect">
            <a:avLst/>
          </a:prstGeom>
          <a:solidFill>
            <a:schemeClr val="accent3">
              <a:lumMod val="60000"/>
              <a:lumOff val="40000"/>
              <a:alpha val="30000"/>
            </a:schemeClr>
          </a:solidFill>
          <a:ln w="3175">
            <a:solidFill>
              <a:schemeClr val="accent2">
                <a:lumMod val="50000"/>
              </a:schemeClr>
            </a:solidFill>
          </a:ln>
        </p:spPr>
        <p:txBody>
          <a:bodyPr wrap="square" lIns="180000" tIns="108000" rIns="180000">
            <a:spAutoFit/>
          </a:bodyPr>
          <a:lstStyle/>
          <a:p>
            <a:pPr rtl="0">
              <a:spcBef>
                <a:spcPts val="0"/>
              </a:spcBef>
              <a:spcAft>
                <a:spcPts val="0"/>
              </a:spcAft>
            </a:pPr>
            <a:r>
              <a:rPr lang="en-AU" sz="1200" b="1" i="0" u="none" strike="noStrike" dirty="0">
                <a:solidFill>
                  <a:srgbClr val="0D3512"/>
                </a:solidFill>
                <a:effectLst/>
                <a:latin typeface="+mj-lt"/>
              </a:rPr>
              <a:t>Project Acacia Consultation Paper Models</a:t>
            </a:r>
            <a:endParaRPr lang="en-AU" sz="800" dirty="0">
              <a:effectLst/>
              <a:latin typeface="+mj-lt"/>
            </a:endParaRPr>
          </a:p>
          <a:p>
            <a:pPr marL="12700" indent="-12700" rtl="0">
              <a:spcBef>
                <a:spcPts val="0"/>
              </a:spcBef>
              <a:spcAft>
                <a:spcPts val="0"/>
              </a:spcAft>
            </a:pPr>
            <a:endParaRPr lang="en-AU" sz="500" dirty="0">
              <a:effectLst/>
            </a:endParaRPr>
          </a:p>
          <a:p>
            <a:pPr marL="228600" indent="-228600" rtl="0">
              <a:spcBef>
                <a:spcPts val="0"/>
              </a:spcBef>
              <a:spcAft>
                <a:spcPts val="0"/>
              </a:spcAft>
              <a:buFont typeface="+mj-lt"/>
              <a:buAutoNum type="alphaUcPeriod"/>
            </a:pPr>
            <a:r>
              <a:rPr lang="en-AU" sz="900" b="0" i="0" u="none" strike="noStrike" dirty="0">
                <a:solidFill>
                  <a:srgbClr val="0D3512"/>
                </a:solidFill>
                <a:effectLst/>
                <a:latin typeface="Arial" panose="020B0604020202020204" pitchFamily="34" charset="0"/>
              </a:rPr>
              <a:t>Settlement coordinator between tokenised asset market and </a:t>
            </a:r>
            <a:r>
              <a:rPr lang="en-AU" sz="900" b="1" i="0" u="none" strike="noStrike" dirty="0">
                <a:solidFill>
                  <a:srgbClr val="0D3512"/>
                </a:solidFill>
                <a:effectLst/>
                <a:latin typeface="Arial" panose="020B0604020202020204" pitchFamily="34" charset="0"/>
              </a:rPr>
              <a:t>RITS </a:t>
            </a:r>
            <a:r>
              <a:rPr lang="en-AU" sz="900" b="0" i="0" u="none" strike="noStrike" dirty="0">
                <a:solidFill>
                  <a:srgbClr val="0D3512"/>
                </a:solidFill>
                <a:effectLst/>
                <a:latin typeface="Arial" panose="020B0604020202020204" pitchFamily="34" charset="0"/>
              </a:rPr>
              <a:t>(ES balances)</a:t>
            </a:r>
            <a:endParaRPr lang="en-AU" sz="400" dirty="0">
              <a:effectLst/>
            </a:endParaRPr>
          </a:p>
          <a:p>
            <a:pPr marL="228600" indent="-228600" rtl="0">
              <a:spcBef>
                <a:spcPts val="0"/>
              </a:spcBef>
              <a:spcAft>
                <a:spcPts val="0"/>
              </a:spcAft>
              <a:buFont typeface="+mj-lt"/>
              <a:buAutoNum type="alphaUcPeriod"/>
            </a:pPr>
            <a:endParaRPr lang="en-AU" sz="400" dirty="0">
              <a:effectLst/>
            </a:endParaRPr>
          </a:p>
          <a:p>
            <a:pPr marL="228600" indent="-228600" rtl="0">
              <a:spcBef>
                <a:spcPts val="0"/>
              </a:spcBef>
              <a:spcAft>
                <a:spcPts val="0"/>
              </a:spcAft>
              <a:buFont typeface="+mj-lt"/>
              <a:buAutoNum type="alphaUcPeriod"/>
            </a:pPr>
            <a:r>
              <a:rPr lang="en-AU" sz="900" b="0" i="0" u="none" strike="noStrike" dirty="0">
                <a:solidFill>
                  <a:srgbClr val="0D3512"/>
                </a:solidFill>
                <a:effectLst/>
                <a:latin typeface="Arial" panose="020B0604020202020204" pitchFamily="34" charset="0"/>
              </a:rPr>
              <a:t>Atomic settlement in asset markets using </a:t>
            </a:r>
            <a:r>
              <a:rPr lang="en-AU" sz="900" b="1" i="0" u="none" strike="noStrike" dirty="0">
                <a:solidFill>
                  <a:srgbClr val="0D3512"/>
                </a:solidFill>
                <a:effectLst/>
                <a:latin typeface="Arial" panose="020B0604020202020204" pitchFamily="34" charset="0"/>
              </a:rPr>
              <a:t>tokenised public money </a:t>
            </a:r>
            <a:r>
              <a:rPr lang="en-AU" sz="900" b="0" i="0" u="none" strike="noStrike" dirty="0">
                <a:solidFill>
                  <a:srgbClr val="0D3512"/>
                </a:solidFill>
                <a:effectLst/>
                <a:latin typeface="Arial" panose="020B0604020202020204" pitchFamily="34" charset="0"/>
              </a:rPr>
              <a:t>(CBDC)</a:t>
            </a:r>
            <a:endParaRPr lang="en-AU" sz="400" dirty="0">
              <a:effectLst/>
            </a:endParaRPr>
          </a:p>
          <a:p>
            <a:pPr marL="228600" indent="-228600" rtl="0">
              <a:spcBef>
                <a:spcPts val="0"/>
              </a:spcBef>
              <a:spcAft>
                <a:spcPts val="0"/>
              </a:spcAft>
              <a:buFont typeface="+mj-lt"/>
              <a:buAutoNum type="alphaUcPeriod"/>
            </a:pPr>
            <a:endParaRPr lang="en-AU" sz="400" dirty="0">
              <a:effectLst/>
            </a:endParaRPr>
          </a:p>
          <a:p>
            <a:pPr marL="228600" indent="-228600" rtl="0">
              <a:spcBef>
                <a:spcPts val="0"/>
              </a:spcBef>
              <a:spcAft>
                <a:spcPts val="0"/>
              </a:spcAft>
              <a:buFont typeface="+mj-lt"/>
              <a:buAutoNum type="alphaUcPeriod"/>
            </a:pPr>
            <a:r>
              <a:rPr lang="en-AU" sz="900" b="0" i="0" u="none" strike="noStrike" dirty="0">
                <a:solidFill>
                  <a:srgbClr val="0D3512"/>
                </a:solidFill>
                <a:effectLst/>
                <a:latin typeface="Arial" panose="020B0604020202020204" pitchFamily="34" charset="0"/>
              </a:rPr>
              <a:t>Atomic settlement in asset markets using </a:t>
            </a:r>
            <a:r>
              <a:rPr lang="en-AU" sz="900" b="1" i="0" u="none" strike="noStrike" dirty="0">
                <a:solidFill>
                  <a:srgbClr val="0D3512"/>
                </a:solidFill>
                <a:effectLst/>
                <a:latin typeface="Arial" panose="020B0604020202020204" pitchFamily="34" charset="0"/>
              </a:rPr>
              <a:t>tokenised private money </a:t>
            </a:r>
            <a:r>
              <a:rPr lang="en-AU" sz="900" b="0" i="0" u="none" strike="noStrike" dirty="0">
                <a:solidFill>
                  <a:srgbClr val="0D3512"/>
                </a:solidFill>
                <a:effectLst/>
                <a:latin typeface="Arial" panose="020B0604020202020204" pitchFamily="34" charset="0"/>
              </a:rPr>
              <a:t>(deposit tokens), settlement coordinator between private money tokens and </a:t>
            </a:r>
            <a:r>
              <a:rPr lang="en-AU" sz="900" b="1" i="0" u="none" strike="noStrike" dirty="0">
                <a:solidFill>
                  <a:srgbClr val="0D3512"/>
                </a:solidFill>
                <a:effectLst/>
                <a:latin typeface="Arial" panose="020B0604020202020204" pitchFamily="34" charset="0"/>
              </a:rPr>
              <a:t>RITS</a:t>
            </a:r>
            <a:r>
              <a:rPr lang="en-AU" sz="900" b="0" i="0" u="none" strike="noStrike" dirty="0">
                <a:solidFill>
                  <a:srgbClr val="0D3512"/>
                </a:solidFill>
                <a:effectLst/>
                <a:latin typeface="Arial" panose="020B0604020202020204" pitchFamily="34" charset="0"/>
              </a:rPr>
              <a:t> (ES balances)</a:t>
            </a:r>
            <a:endParaRPr lang="en-AU" sz="400" dirty="0"/>
          </a:p>
          <a:p>
            <a:pPr marL="228600" indent="-228600" rtl="0">
              <a:spcBef>
                <a:spcPts val="0"/>
              </a:spcBef>
              <a:spcAft>
                <a:spcPts val="0"/>
              </a:spcAft>
              <a:buFont typeface="+mj-lt"/>
              <a:buAutoNum type="alphaUcPeriod"/>
            </a:pPr>
            <a:r>
              <a:rPr lang="en-AU" sz="900" b="0" i="0" u="none" strike="noStrike" dirty="0">
                <a:solidFill>
                  <a:srgbClr val="0D3512"/>
                </a:solidFill>
                <a:effectLst/>
                <a:latin typeface="Arial" panose="020B0604020202020204" pitchFamily="34" charset="0"/>
              </a:rPr>
              <a:t>Atomic settlement in asset markets using </a:t>
            </a:r>
            <a:r>
              <a:rPr lang="en-AU" sz="900" b="1" i="0" u="none" strike="noStrike" dirty="0">
                <a:solidFill>
                  <a:srgbClr val="0D3512"/>
                </a:solidFill>
                <a:effectLst/>
                <a:latin typeface="Arial" panose="020B0604020202020204" pitchFamily="34" charset="0"/>
              </a:rPr>
              <a:t>tokenised private money </a:t>
            </a:r>
            <a:r>
              <a:rPr lang="en-AU" sz="900" b="0" i="0" u="none" strike="noStrike" dirty="0">
                <a:solidFill>
                  <a:srgbClr val="0D3512"/>
                </a:solidFill>
                <a:effectLst/>
                <a:latin typeface="Arial" panose="020B0604020202020204" pitchFamily="34" charset="0"/>
              </a:rPr>
              <a:t>(deposit tokens), token interchange of private monies </a:t>
            </a:r>
            <a:r>
              <a:rPr lang="en-AU" sz="900" b="1" i="1" u="none" strike="noStrike" dirty="0">
                <a:solidFill>
                  <a:srgbClr val="0D3512"/>
                </a:solidFill>
                <a:effectLst/>
                <a:latin typeface="Arial" panose="020B0604020202020204" pitchFamily="34" charset="0"/>
              </a:rPr>
              <a:t>without</a:t>
            </a:r>
            <a:r>
              <a:rPr lang="en-AU" sz="900" b="0" i="1" u="none" strike="noStrike" dirty="0">
                <a:solidFill>
                  <a:srgbClr val="0D3512"/>
                </a:solidFill>
                <a:effectLst/>
                <a:latin typeface="Arial" panose="020B0604020202020204" pitchFamily="34" charset="0"/>
              </a:rPr>
              <a:t> </a:t>
            </a:r>
            <a:r>
              <a:rPr lang="en-AU" sz="900" b="0" i="0" u="none" strike="noStrike" dirty="0">
                <a:solidFill>
                  <a:srgbClr val="0D3512"/>
                </a:solidFill>
                <a:effectLst/>
                <a:latin typeface="Arial" panose="020B0604020202020204" pitchFamily="34" charset="0"/>
              </a:rPr>
              <a:t>a common settlement asset</a:t>
            </a:r>
            <a:endParaRPr lang="en-AU" sz="400" dirty="0">
              <a:effectLst/>
            </a:endParaRPr>
          </a:p>
          <a:p>
            <a:pPr marL="228600" indent="-228600" rtl="0">
              <a:spcBef>
                <a:spcPts val="0"/>
              </a:spcBef>
              <a:spcAft>
                <a:spcPts val="0"/>
              </a:spcAft>
              <a:buFont typeface="+mj-lt"/>
              <a:buAutoNum type="alphaUcPeriod"/>
            </a:pPr>
            <a:r>
              <a:rPr lang="en-AU" sz="900" b="0" i="0" u="none" strike="noStrike" dirty="0">
                <a:solidFill>
                  <a:srgbClr val="0D3512"/>
                </a:solidFill>
                <a:effectLst/>
                <a:latin typeface="Arial" panose="020B0604020202020204" pitchFamily="34" charset="0"/>
              </a:rPr>
              <a:t>Atomic settlement in asset markets using </a:t>
            </a:r>
            <a:r>
              <a:rPr lang="en-AU" sz="900" b="1" i="0" u="none" strike="noStrike" dirty="0">
                <a:solidFill>
                  <a:srgbClr val="0D3512"/>
                </a:solidFill>
                <a:effectLst/>
                <a:latin typeface="Arial" panose="020B0604020202020204" pitchFamily="34" charset="0"/>
              </a:rPr>
              <a:t>tokenised private money </a:t>
            </a:r>
            <a:r>
              <a:rPr lang="en-AU" sz="900" b="0" i="0" u="none" strike="noStrike" dirty="0">
                <a:solidFill>
                  <a:srgbClr val="0D3512"/>
                </a:solidFill>
                <a:effectLst/>
                <a:latin typeface="Arial" panose="020B0604020202020204" pitchFamily="34" charset="0"/>
              </a:rPr>
              <a:t>(deposit tokens), token interchange of private monies </a:t>
            </a:r>
            <a:r>
              <a:rPr lang="en-AU" sz="900" b="1" i="1" u="none" strike="noStrike" dirty="0">
                <a:solidFill>
                  <a:srgbClr val="0D3512"/>
                </a:solidFill>
                <a:effectLst/>
                <a:latin typeface="Arial" panose="020B0604020202020204" pitchFamily="34" charset="0"/>
              </a:rPr>
              <a:t>with </a:t>
            </a:r>
            <a:r>
              <a:rPr lang="en-AU" sz="900" b="0" i="0" u="none" strike="noStrike" dirty="0">
                <a:solidFill>
                  <a:srgbClr val="0D3512"/>
                </a:solidFill>
                <a:effectLst/>
                <a:latin typeface="Arial" panose="020B0604020202020204" pitchFamily="34" charset="0"/>
              </a:rPr>
              <a:t>common ‘public money’ settlement asset (RBDC / CBDC)</a:t>
            </a:r>
            <a:endParaRPr lang="en-AU" sz="400" dirty="0">
              <a:effectLst/>
            </a:endParaRPr>
          </a:p>
        </p:txBody>
      </p:sp>
      <p:sp>
        <p:nvSpPr>
          <p:cNvPr id="6" name="TextBox 5">
            <a:extLst>
              <a:ext uri="{FF2B5EF4-FFF2-40B4-BE49-F238E27FC236}">
                <a16:creationId xmlns:a16="http://schemas.microsoft.com/office/drawing/2014/main" id="{D28ED09A-2952-E1AA-56AF-287C638609E9}"/>
              </a:ext>
            </a:extLst>
          </p:cNvPr>
          <p:cNvSpPr txBox="1"/>
          <p:nvPr/>
        </p:nvSpPr>
        <p:spPr>
          <a:xfrm>
            <a:off x="5943597" y="4027423"/>
            <a:ext cx="5715001" cy="2495656"/>
          </a:xfrm>
          <a:prstGeom prst="rect">
            <a:avLst/>
          </a:prstGeom>
          <a:solidFill>
            <a:srgbClr val="7030A0">
              <a:alpha val="10000"/>
            </a:srgbClr>
          </a:solidFill>
          <a:ln w="3175">
            <a:solidFill>
              <a:srgbClr val="7030A0"/>
            </a:solidFill>
          </a:ln>
        </p:spPr>
        <p:txBody>
          <a:bodyPr wrap="square" lIns="180000" tIns="108000" rIns="180000" bIns="108000">
            <a:spAutoFit/>
          </a:bodyPr>
          <a:lstStyle/>
          <a:p>
            <a:pPr algn="just"/>
            <a:r>
              <a:rPr lang="en-AU" sz="1400" b="1" dirty="0">
                <a:solidFill>
                  <a:srgbClr val="35115F"/>
                </a:solidFill>
                <a:effectLst/>
                <a:latin typeface="Aptos" panose="020B0004020202020204" pitchFamily="34" charset="0"/>
                <a:ea typeface="Times New Roman" panose="02020603050405020304" pitchFamily="18" charset="0"/>
              </a:rPr>
              <a:t>Project Components</a:t>
            </a:r>
          </a:p>
          <a:p>
            <a:pPr algn="just"/>
            <a:endParaRPr lang="en-AU" sz="1050" b="1" i="1" dirty="0">
              <a:solidFill>
                <a:srgbClr val="000000"/>
              </a:solidFill>
              <a:effectLst/>
              <a:latin typeface="Aptos" panose="020B0004020202020204" pitchFamily="34" charset="0"/>
              <a:ea typeface="Times New Roman" panose="02020603050405020304" pitchFamily="18" charset="0"/>
            </a:endParaRPr>
          </a:p>
          <a:p>
            <a:pPr algn="just"/>
            <a:r>
              <a:rPr lang="en-AU" sz="950" dirty="0">
                <a:solidFill>
                  <a:srgbClr val="000000"/>
                </a:solidFill>
                <a:effectLst/>
                <a:latin typeface="Aptos" panose="020B0004020202020204" pitchFamily="34" charset="0"/>
                <a:ea typeface="Times New Roman" panose="02020603050405020304" pitchFamily="18" charset="0"/>
              </a:rPr>
              <a:t>Review of institutional liquidity management, tokenisation-related initiatives by systemically important financial institutions, cross-disciplinary academic literature.</a:t>
            </a:r>
          </a:p>
          <a:p>
            <a:pPr algn="just"/>
            <a:endParaRPr lang="en-AU" sz="950" dirty="0">
              <a:solidFill>
                <a:srgbClr val="000000"/>
              </a:solidFill>
              <a:effectLst/>
              <a:latin typeface="Aptos" panose="020B0004020202020204" pitchFamily="34" charset="0"/>
              <a:ea typeface="Times New Roman" panose="02020603050405020304" pitchFamily="18" charset="0"/>
            </a:endParaRPr>
          </a:p>
          <a:p>
            <a:pPr algn="just"/>
            <a:r>
              <a:rPr lang="en-AU" sz="950" dirty="0">
                <a:solidFill>
                  <a:srgbClr val="000000"/>
                </a:solidFill>
                <a:effectLst/>
                <a:latin typeface="Aptos" panose="020B0004020202020204" pitchFamily="34" charset="0"/>
                <a:ea typeface="Times New Roman" panose="02020603050405020304" pitchFamily="18" charset="0"/>
              </a:rPr>
              <a:t>Evaluation of the impact of stablecoins (and their regulatory collateral requirements) on domestic and cross-border money markets. Scheme options for assessing operational liquidity requirements for token-fiat conversion. Evaluation of hub-token architectures and the use of common settlement assets for multilateral token exchange. Comparison of distributed ledgers and synchronisation mechanisms.</a:t>
            </a:r>
          </a:p>
          <a:p>
            <a:pPr algn="just"/>
            <a:endParaRPr lang="en-AU" sz="950" dirty="0">
              <a:solidFill>
                <a:srgbClr val="000000"/>
              </a:solidFill>
              <a:effectLst/>
              <a:latin typeface="Aptos" panose="020B0004020202020204" pitchFamily="34" charset="0"/>
              <a:ea typeface="Times New Roman" panose="02020603050405020304" pitchFamily="18" charset="0"/>
            </a:endParaRPr>
          </a:p>
          <a:p>
            <a:pPr algn="just"/>
            <a:r>
              <a:rPr lang="en-AU" sz="950" dirty="0">
                <a:solidFill>
                  <a:srgbClr val="000000"/>
                </a:solidFill>
                <a:effectLst/>
                <a:latin typeface="Aptos" panose="020B0004020202020204" pitchFamily="34" charset="0"/>
                <a:ea typeface="Times New Roman" panose="02020603050405020304" pitchFamily="18" charset="0"/>
              </a:rPr>
              <a:t>Simulation of the impact of money tokenisation on systemic liquidity and financial intermediation using networks of agents.  Simulations and adaption of financial stress-testing methodologies to multi-chain, multi-asset arrangements for programmable tokens and automated markets. Technical and operational Scheme design recommendations that effectively address failure scenarios and support monetary policy objectives.</a:t>
            </a:r>
          </a:p>
        </p:txBody>
      </p:sp>
    </p:spTree>
    <p:extLst>
      <p:ext uri="{BB962C8B-B14F-4D97-AF65-F5344CB8AC3E}">
        <p14:creationId xmlns:p14="http://schemas.microsoft.com/office/powerpoint/2010/main" val="37151677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BDCD0C3-FE9B-6748-9253-8C5EFF13833E}">
  <we:reference id="6a7bd4f3-0563-43af-8c08-79110eebdff6" version="1.1.4.0" store="EXCatalog" storeType="EXCatalog"/>
  <we:alternateReferences>
    <we:reference id="WA104381155" version="1.1.4.0" store="en-AU"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63053</TotalTime>
  <Words>2973</Words>
  <Application>Microsoft Macintosh PowerPoint</Application>
  <PresentationFormat>Widescreen</PresentationFormat>
  <Paragraphs>195</Paragraphs>
  <Slides>9</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Aptos</vt:lpstr>
      <vt:lpstr>Aptos Display</vt:lpstr>
      <vt:lpstr>Arial</vt:lpstr>
      <vt:lpstr>Courier New</vt:lpstr>
      <vt:lpstr>Dubai</vt:lpstr>
      <vt:lpstr>Symbol</vt:lpstr>
      <vt:lpstr>System Font Regular</vt:lpstr>
      <vt:lpstr>Office Theme</vt:lpstr>
      <vt:lpstr>AP+ Industry Project  Background   October 2025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Gerard Kelly</dc:creator>
  <cp:lastModifiedBy>Gerard Kelly</cp:lastModifiedBy>
  <cp:revision>78</cp:revision>
  <dcterms:created xsi:type="dcterms:W3CDTF">2025-09-03T07:02:52Z</dcterms:created>
  <dcterms:modified xsi:type="dcterms:W3CDTF">2025-10-22T03:34:42Z</dcterms:modified>
</cp:coreProperties>
</file>