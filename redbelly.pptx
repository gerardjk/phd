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0C"/>
    <a:srgbClr val="FF9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386"/>
    <p:restoredTop sz="96362"/>
  </p:normalViewPr>
  <p:slideViewPr>
    <p:cSldViewPr snapToGrid="0">
      <p:cViewPr>
        <p:scale>
          <a:sx n="120" d="100"/>
          <a:sy n="120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F5FA41-0652-D344-B75E-4156A2E48DA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ABAFF-4D04-2E4A-9B63-11D5ECFEF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9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1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9437D0-974D-4A46-AE16-AE7B99CBF61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22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7243-D0E6-4035-6AE8-1ED3A647B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E9C98-D386-BB5D-E885-E9B986E52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194EC-AD6F-6934-DAF2-BC4A4082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B59AD-D386-88D0-7306-9DA008C4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2B5A8-D1A2-DA45-A225-E72E94C8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D8E4-8A41-0267-F9FB-F2EA331F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EB17B-6397-22FF-808F-3330D8DC3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89D06-ECC2-B0E7-6B21-A5F1B338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9D92-0B82-6CDA-6B3F-0D62911C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2B04C-BD90-E7F0-2870-3F82B47D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7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522C-F54B-48D6-15F3-BC7A113E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8647B-85ED-6ECA-883D-30579E2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286C-A37A-4EA8-46E4-66BACE67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D1F6-4719-CFC6-0428-92DDE1D0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53B30-BB99-09EF-C86C-D95B9967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6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065C-F650-59EE-6077-E56ECFFB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2CA7-329F-CA5A-E9E3-E9BC88FE9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F2F99-4068-8586-A08F-3BE477E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ABF76-6632-7D25-B101-298B5F21B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F4928-CBB6-DAF4-8C55-A7C00A2D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4E409-F318-8E4A-85CC-B596A85A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2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C936-52EC-0453-BD44-8E386ADA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B4165-A300-C765-E307-43C1F188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C78E6E-DEB6-E24D-D25C-1B6D72986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B7EFD7-D5A3-9D4B-B575-3A4769996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81FB0-BF46-4B51-FF4E-6ADCEB1AC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71E96-AC6D-9074-58BC-35707F3F4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8F837-4EC5-724D-377C-1ABE393A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F9C4E0-45E9-A2DC-4133-C2E29FD8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6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27F5-E17D-6154-D1EF-52D915945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F05C4-EB64-CEF6-CB1B-920D055C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3BB85-ACA0-D5C7-6A72-FF8EA35CC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59F4F-C7A6-34DC-176B-E52E6E7A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7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2D441-C298-39B9-712C-462868D6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86374-D354-0E4B-75D1-B1FF92F6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E8B29-0323-CFFB-1BBE-36D6B0DFF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416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FD5D-ED9A-0039-FAE0-4CB6AB92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353F8-A3C4-F154-3A76-9A54ACE9A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89D4F-C534-8C03-6A77-625F306A8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8CE3F-512F-DEF5-AB80-18116E17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1B241-F378-4FF6-D850-F04C4E460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197C5-86E9-282D-B8B0-177ECE51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504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4B38-0133-F021-9E02-4D94637D1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B6218-9C0F-D292-5783-32213E9815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8D3061-E1B6-C930-29FB-291F96ADA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23C4E-410A-89B7-3A56-00B842A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79846-884B-1374-4DC4-AD57358B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6035D-E2AE-3967-96F4-D21E83B14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AA8C-9A6A-5B3B-A671-0ECB2668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0B9929-065E-A4AC-C810-906E24C7E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E089E-C325-D77B-AD01-EA83D0C9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BB5C-D0A7-9040-8E5E-3827906E4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DBCA-C599-DCE4-EA0E-100D9AA4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5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81ADF-D782-B23C-96DD-081A2503D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07B73-CB0D-6B6A-4618-2F148CFB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4A156-D153-3BF0-5A25-87EF539A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D6890-F5B4-192D-5E75-E72DCA213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5C4E-5044-72A9-F717-60B21F7C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5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14ED88-34F6-90A2-CF1D-AB45BDE0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3146-A602-A67C-CF25-8253443A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9A03-8A2F-9316-5E9C-FEA9D0AF8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42293-8F64-D342-92D5-AC86B6D95DD6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2EBD-4C8C-A427-49AF-B24984E1F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FB300-F4F9-8D26-38FC-FDB9E320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C566A-EC7F-1249-AB1B-2F1346C445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3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884" y="330401"/>
            <a:ext cx="10784227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Connecting unbanked &amp; </a:t>
            </a:r>
            <a:r>
              <a:rPr lang="en-US" sz="3200" b="1" i="1" dirty="0"/>
              <a:t>underbanked</a:t>
            </a:r>
            <a:r>
              <a:rPr lang="en-US" sz="3200" b="1" dirty="0"/>
              <a:t> to stable digital money &amp; global assets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08EB3-6797-4A04-632C-BA438B79C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458" y="1553515"/>
            <a:ext cx="3702160" cy="72363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1800" dirty="0">
                <a:solidFill>
                  <a:srgbClr val="C00000"/>
                </a:solidFill>
              </a:rPr>
              <a:t>X billion (% with ID) = Y</a:t>
            </a:r>
          </a:p>
          <a:p>
            <a:pPr algn="ctr"/>
            <a:r>
              <a:rPr lang="en-US" sz="1400" i="1" dirty="0">
                <a:solidFill>
                  <a:srgbClr val="C00000"/>
                </a:solidFill>
              </a:rPr>
              <a:t>The “underbanked” with verified ID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1734D-E9C0-30E9-ECAA-B001E4FCC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384" y="1459876"/>
            <a:ext cx="5139976" cy="1768857"/>
          </a:xfrm>
          <a:solidFill>
            <a:schemeClr val="tx1"/>
          </a:solidFill>
          <a:ln w="244475"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2000" i="1" dirty="0" err="1">
                <a:solidFill>
                  <a:schemeClr val="bg1"/>
                </a:solidFill>
              </a:rPr>
              <a:t>Tokenised</a:t>
            </a:r>
            <a:r>
              <a:rPr lang="en-US" sz="2000" i="1" dirty="0">
                <a:solidFill>
                  <a:schemeClr val="bg1"/>
                </a:solidFill>
              </a:rPr>
              <a:t> Money Market Fund = yield-bearing stablecoin = secured “deposit” token = collateral as settlement asset</a:t>
            </a:r>
          </a:p>
          <a:p>
            <a:pPr algn="ctr"/>
            <a:r>
              <a:rPr lang="en-US" sz="2000" i="1" dirty="0">
                <a:solidFill>
                  <a:srgbClr val="FF454B"/>
                </a:solidFill>
              </a:rPr>
              <a:t>REPO-NATIVE MONEY</a:t>
            </a:r>
          </a:p>
          <a:p>
            <a:pPr algn="ctr"/>
            <a:r>
              <a:rPr lang="en-US" sz="1900" b="0" i="1" dirty="0">
                <a:solidFill>
                  <a:schemeClr val="bg1"/>
                </a:solidFill>
              </a:rPr>
              <a:t>give retail access to the equivalent of secure wholesale savings instruments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532E1-5E57-2DE7-CEEC-AA876DDB0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05914" y="3531359"/>
            <a:ext cx="4651628" cy="2995448"/>
          </a:xfrm>
          <a:ln w="19050"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i="1" dirty="0"/>
              <a:t>With RTGS </a:t>
            </a:r>
            <a:r>
              <a:rPr lang="en-US" sz="1700" b="1" i="1" u="sng" dirty="0">
                <a:solidFill>
                  <a:srgbClr val="C00000"/>
                </a:solidFill>
              </a:rPr>
              <a:t>ramps</a:t>
            </a:r>
            <a:r>
              <a:rPr lang="en-US" sz="1700" i="1" dirty="0"/>
              <a:t> (&amp; legal finality), payments, savings &amp;  investment can all migrate to a… </a:t>
            </a:r>
          </a:p>
          <a:p>
            <a:pPr marL="0" indent="0" algn="ctr">
              <a:buNone/>
            </a:pPr>
            <a:r>
              <a:rPr lang="en-US" sz="1900" b="1" i="1" dirty="0">
                <a:solidFill>
                  <a:srgbClr val="C00000"/>
                </a:solidFill>
              </a:rPr>
              <a:t>UNIFIED LEDGER </a:t>
            </a:r>
            <a:endParaRPr lang="en-US" sz="600" b="1" dirty="0"/>
          </a:p>
          <a:p>
            <a:pPr marL="0" indent="0">
              <a:buNone/>
            </a:pPr>
            <a:r>
              <a:rPr lang="en-US" sz="1900" b="1" dirty="0"/>
              <a:t>“Savings stablecoins” replace retail bank deposits: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secured, yield bearing</a:t>
            </a:r>
          </a:p>
          <a:p>
            <a:pPr marL="0" indent="0">
              <a:buNone/>
            </a:pPr>
            <a:r>
              <a:rPr lang="en-US" sz="1900" b="1" dirty="0"/>
              <a:t>Non-yield bearing “payment stablecoin(s)” replace RTGS: </a:t>
            </a:r>
          </a:p>
          <a:p>
            <a:r>
              <a:rPr lang="en-US" sz="1900" b="1" dirty="0">
                <a:solidFill>
                  <a:srgbClr val="C00000"/>
                </a:solidFill>
              </a:rPr>
              <a:t>HQLA1-secured, non-yield bearing</a:t>
            </a:r>
            <a:endParaRPr lang="en-US" sz="600" b="1" dirty="0"/>
          </a:p>
          <a:p>
            <a:pPr marL="0" indent="0">
              <a:buNone/>
            </a:pPr>
            <a:r>
              <a:rPr lang="en-US" sz="1800" dirty="0"/>
              <a:t>A better way to “bank” !!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4A93F-0198-5D03-10B5-DCF00B71F162}"/>
              </a:ext>
            </a:extLst>
          </p:cNvPr>
          <p:cNvSpPr txBox="1"/>
          <p:nvPr/>
        </p:nvSpPr>
        <p:spPr>
          <a:xfrm>
            <a:off x="634458" y="2344305"/>
            <a:ext cx="5649384" cy="418576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None/>
            </a:pPr>
            <a:r>
              <a:rPr lang="en-US" sz="1600" b="1" dirty="0"/>
              <a:t>How can they access stable digital money &amp; </a:t>
            </a:r>
            <a:r>
              <a:rPr lang="en-GB" sz="1600" b="1" dirty="0">
                <a:effectLst/>
                <a:ea typeface="IBM Plex Sans Light" panose="020F0302020204030204" pitchFamily="34" charset="0"/>
                <a:cs typeface="IBM Plex Sans Light" panose="020F0302020204030204" pitchFamily="34" charset="0"/>
              </a:rPr>
              <a:t>participate safely and legally in the US $300 trillion global asset pool?</a:t>
            </a:r>
            <a:r>
              <a:rPr lang="en-AU" sz="1600" b="1" dirty="0">
                <a:effectLst/>
              </a:rPr>
              <a:t> </a:t>
            </a: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who are they? where are they? </a:t>
            </a:r>
            <a:endParaRPr lang="en-AU" sz="1400" b="1" i="1" dirty="0">
              <a:solidFill>
                <a:srgbClr val="C00000"/>
              </a:solidFill>
            </a:endParaRPr>
          </a:p>
          <a:p>
            <a:pPr lvl="1"/>
            <a:r>
              <a:rPr lang="en-AU" sz="1400" i="1" dirty="0">
                <a:solidFill>
                  <a:srgbClr val="C00000"/>
                </a:solidFill>
              </a:rPr>
              <a:t>Anyone with suboptimal banking but WITH ID</a:t>
            </a:r>
          </a:p>
          <a:p>
            <a:pPr marL="0" indent="0">
              <a:buNone/>
            </a:pPr>
            <a:r>
              <a:rPr lang="en-AU" sz="1600" b="1" i="1" dirty="0"/>
              <a:t>Includes every wealth profile in every country</a:t>
            </a:r>
          </a:p>
          <a:p>
            <a:pPr marL="0" indent="0">
              <a:buNone/>
            </a:pPr>
            <a:r>
              <a:rPr lang="en-AU" sz="1200" i="1" dirty="0">
                <a:solidFill>
                  <a:srgbClr val="C00000"/>
                </a:solidFill>
              </a:rPr>
              <a:t>Just imagine…</a:t>
            </a:r>
            <a:endParaRPr lang="en-AU" sz="200" b="1" i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“BANKLESS” RETAIL PAYMENTS &amp; SAVINGS </a:t>
            </a:r>
          </a:p>
          <a:p>
            <a:r>
              <a:rPr lang="en-US" sz="1700" i="1" dirty="0">
                <a:solidFill>
                  <a:srgbClr val="C00000"/>
                </a:solidFill>
              </a:rPr>
              <a:t>Do we need banks? </a:t>
            </a:r>
          </a:p>
          <a:p>
            <a:pPr marL="0" indent="0">
              <a:buNone/>
            </a:pPr>
            <a:r>
              <a:rPr lang="en-US" sz="1700" dirty="0"/>
              <a:t>What if you could just use </a:t>
            </a:r>
            <a:r>
              <a:rPr lang="en-US" sz="1700" b="1" dirty="0"/>
              <a:t>"The Internet"</a:t>
            </a:r>
            <a:r>
              <a:rPr lang="en-US" sz="1700" dirty="0"/>
              <a:t> for payments &amp; savings? (And investment?)</a:t>
            </a:r>
          </a:p>
          <a:p>
            <a:pPr marL="0" indent="0">
              <a:spcBef>
                <a:spcPts val="0"/>
              </a:spcBef>
              <a:buNone/>
            </a:pPr>
            <a:endParaRPr lang="en-US" sz="105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Isn't that just like PayPal? </a:t>
            </a:r>
            <a:r>
              <a:rPr lang="en-US" sz="1300" i="1" dirty="0" err="1">
                <a:solidFill>
                  <a:srgbClr val="C00000"/>
                </a:solidFill>
              </a:rPr>
              <a:t>Mpesa</a:t>
            </a:r>
            <a:r>
              <a:rPr lang="en-US" sz="1300" i="1" dirty="0">
                <a:solidFill>
                  <a:srgbClr val="C00000"/>
                </a:solidFill>
              </a:rPr>
              <a:t>, </a:t>
            </a:r>
            <a:r>
              <a:rPr lang="en-US" sz="1300" i="1" dirty="0" err="1">
                <a:solidFill>
                  <a:srgbClr val="C00000"/>
                </a:solidFill>
              </a:rPr>
              <a:t>AliPay</a:t>
            </a:r>
            <a:r>
              <a:rPr lang="en-US" sz="1300" i="1" dirty="0">
                <a:solidFill>
                  <a:srgbClr val="C00000"/>
                </a:solidFill>
              </a:rPr>
              <a:t>, Facebook Libra?…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No – they are application layers over bank deposits.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b="1" i="1" dirty="0">
                <a:solidFill>
                  <a:srgbClr val="C00000"/>
                </a:solidFill>
              </a:rPr>
              <a:t>This is a substitute for bank deposits.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00" i="1" dirty="0">
                <a:solidFill>
                  <a:srgbClr val="C00000"/>
                </a:solidFill>
              </a:rPr>
              <a:t>A bank deposit is an unsecured liability.</a:t>
            </a:r>
          </a:p>
          <a:p>
            <a:pPr marL="0" indent="0">
              <a:spcBef>
                <a:spcPts val="0"/>
              </a:spcBef>
              <a:buNone/>
            </a:pPr>
            <a:endParaRPr lang="en-US" sz="1050" i="1" dirty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700" i="1" dirty="0"/>
              <a:t>This is a yield-bearing money token maintained on DLT and </a:t>
            </a:r>
            <a:r>
              <a:rPr lang="en-US" sz="1700" b="1" i="1" dirty="0"/>
              <a:t>secured by assets on the same ledger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0640096-6557-1A69-72BC-D61C6DCA5D6C}"/>
              </a:ext>
            </a:extLst>
          </p:cNvPr>
          <p:cNvSpPr txBox="1">
            <a:spLocks/>
          </p:cNvSpPr>
          <p:nvPr/>
        </p:nvSpPr>
        <p:spPr>
          <a:xfrm>
            <a:off x="4251557" y="1540683"/>
            <a:ext cx="1759382" cy="6546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1" dirty="0"/>
              <a:t>Can Redbelly bring ID to people without ID? Not really</a:t>
            </a:r>
          </a:p>
        </p:txBody>
      </p:sp>
    </p:spTree>
    <p:extLst>
      <p:ext uri="{BB962C8B-B14F-4D97-AF65-F5344CB8AC3E}">
        <p14:creationId xmlns:p14="http://schemas.microsoft.com/office/powerpoint/2010/main" val="389043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F825508-13E5-445B-8373-9F7A7D61C35B}"/>
              </a:ext>
            </a:extLst>
          </p:cNvPr>
          <p:cNvSpPr/>
          <p:nvPr/>
        </p:nvSpPr>
        <p:spPr>
          <a:xfrm>
            <a:off x="6268295" y="432228"/>
            <a:ext cx="5364886" cy="3669696"/>
          </a:xfrm>
          <a:prstGeom prst="rect">
            <a:avLst/>
          </a:prstGeom>
          <a:solidFill>
            <a:schemeClr val="bg1">
              <a:alpha val="0"/>
            </a:schemeClr>
          </a:solidFill>
          <a:ln w="44450">
            <a:solidFill>
              <a:srgbClr val="FF0000">
                <a:alpha val="6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B1F0D-FCB6-FEC8-0BD3-112E7424D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724" y="353311"/>
            <a:ext cx="3491285" cy="480934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How does it work?</a:t>
            </a:r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CC204D15-F75D-3C50-7FC1-1F910DAF048B}"/>
              </a:ext>
            </a:extLst>
          </p:cNvPr>
          <p:cNvSpPr/>
          <p:nvPr/>
        </p:nvSpPr>
        <p:spPr>
          <a:xfrm>
            <a:off x="8095522" y="627479"/>
            <a:ext cx="939113" cy="951470"/>
          </a:xfrm>
          <a:prstGeom prst="cube">
            <a:avLst/>
          </a:prstGeom>
          <a:solidFill>
            <a:schemeClr val="tx1">
              <a:alpha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4A050F1-F380-C75E-F437-93B09D585456}"/>
              </a:ext>
            </a:extLst>
          </p:cNvPr>
          <p:cNvSpPr txBox="1">
            <a:spLocks/>
          </p:cNvSpPr>
          <p:nvPr/>
        </p:nvSpPr>
        <p:spPr>
          <a:xfrm>
            <a:off x="7946407" y="1608703"/>
            <a:ext cx="1491126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/>
              <a:t>e.g. BLACKROCK + SECURITIZE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3304871-FDF2-463B-7559-DFFFF443BCDB}"/>
              </a:ext>
            </a:extLst>
          </p:cNvPr>
          <p:cNvSpPr txBox="1">
            <a:spLocks/>
          </p:cNvSpPr>
          <p:nvPr/>
        </p:nvSpPr>
        <p:spPr>
          <a:xfrm>
            <a:off x="5334249" y="227514"/>
            <a:ext cx="1778513" cy="978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dirty="0"/>
              <a:t>BIG INVESTORS </a:t>
            </a:r>
            <a:r>
              <a:rPr lang="en-US" sz="1500" dirty="0"/>
              <a:t>invest by minting RWAT to white-listed vault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A5D964-AC68-5814-C5B1-B762F4F4804B}"/>
              </a:ext>
            </a:extLst>
          </p:cNvPr>
          <p:cNvSpPr/>
          <p:nvPr/>
        </p:nvSpPr>
        <p:spPr>
          <a:xfrm>
            <a:off x="10056161" y="378412"/>
            <a:ext cx="1440000" cy="144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6EA14A4-E6E8-945A-728A-795224BC8E7C}"/>
              </a:ext>
            </a:extLst>
          </p:cNvPr>
          <p:cNvSpPr/>
          <p:nvPr/>
        </p:nvSpPr>
        <p:spPr>
          <a:xfrm>
            <a:off x="667987" y="250055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4733A5-CFCF-0DD8-E4E1-0ADAED624434}"/>
              </a:ext>
            </a:extLst>
          </p:cNvPr>
          <p:cNvSpPr/>
          <p:nvPr/>
        </p:nvSpPr>
        <p:spPr>
          <a:xfrm>
            <a:off x="1967897" y="2481597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A7D063A-3E9E-10F4-43AF-34FD9EE76403}"/>
              </a:ext>
            </a:extLst>
          </p:cNvPr>
          <p:cNvSpPr txBox="1">
            <a:spLocks/>
          </p:cNvSpPr>
          <p:nvPr/>
        </p:nvSpPr>
        <p:spPr>
          <a:xfrm>
            <a:off x="1151950" y="5913631"/>
            <a:ext cx="1628320" cy="540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EB9755-C9B2-6278-CCA2-30F7DF1003DF}"/>
              </a:ext>
            </a:extLst>
          </p:cNvPr>
          <p:cNvSpPr txBox="1"/>
          <p:nvPr/>
        </p:nvSpPr>
        <p:spPr>
          <a:xfrm>
            <a:off x="6917282" y="778103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$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4510F8C-4B4B-865B-B8A3-8DF78796BD05}"/>
              </a:ext>
            </a:extLst>
          </p:cNvPr>
          <p:cNvSpPr txBox="1">
            <a:spLocks/>
          </p:cNvSpPr>
          <p:nvPr/>
        </p:nvSpPr>
        <p:spPr>
          <a:xfrm>
            <a:off x="6851442" y="1312356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B050"/>
                </a:solidFill>
              </a:rPr>
              <a:t>FIAT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34C0DA6-36E7-FEEB-714E-CA5CE6442C9F}"/>
              </a:ext>
            </a:extLst>
          </p:cNvPr>
          <p:cNvSpPr txBox="1">
            <a:spLocks/>
          </p:cNvSpPr>
          <p:nvPr/>
        </p:nvSpPr>
        <p:spPr>
          <a:xfrm>
            <a:off x="10374139" y="1891244"/>
            <a:ext cx="814664" cy="361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VAULT</a:t>
            </a:r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CAC7D81A-6DDE-C28E-2C2D-28B68049EBC4}"/>
              </a:ext>
            </a:extLst>
          </p:cNvPr>
          <p:cNvSpPr>
            <a:spLocks noChangeAspect="1"/>
          </p:cNvSpPr>
          <p:nvPr/>
        </p:nvSpPr>
        <p:spPr>
          <a:xfrm>
            <a:off x="10358246" y="7016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be 29">
            <a:extLst>
              <a:ext uri="{FF2B5EF4-FFF2-40B4-BE49-F238E27FC236}">
                <a16:creationId xmlns:a16="http://schemas.microsoft.com/office/drawing/2014/main" id="{ADB29ACC-3CE0-D31A-D8C0-717CBB34E5B7}"/>
              </a:ext>
            </a:extLst>
          </p:cNvPr>
          <p:cNvSpPr>
            <a:spLocks noChangeAspect="1"/>
          </p:cNvSpPr>
          <p:nvPr/>
        </p:nvSpPr>
        <p:spPr>
          <a:xfrm>
            <a:off x="10510646" y="8540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B84855A2-DFA2-D5D9-EB25-71127BCBAD12}"/>
              </a:ext>
            </a:extLst>
          </p:cNvPr>
          <p:cNvSpPr>
            <a:spLocks noChangeAspect="1"/>
          </p:cNvSpPr>
          <p:nvPr/>
        </p:nvSpPr>
        <p:spPr>
          <a:xfrm>
            <a:off x="10663046" y="1006466"/>
            <a:ext cx="540000" cy="547103"/>
          </a:xfrm>
          <a:prstGeom prst="cube">
            <a:avLst/>
          </a:prstGeom>
          <a:solidFill>
            <a:srgbClr val="C0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4C8D9F-8987-CA3D-E327-4B154CB9C03F}"/>
              </a:ext>
            </a:extLst>
          </p:cNvPr>
          <p:cNvCxnSpPr>
            <a:cxnSpLocks/>
          </p:cNvCxnSpPr>
          <p:nvPr/>
        </p:nvCxnSpPr>
        <p:spPr>
          <a:xfrm>
            <a:off x="7448191" y="1190844"/>
            <a:ext cx="540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7437B2BA-FDED-09D9-2ED4-C2DDAE74385B}"/>
              </a:ext>
            </a:extLst>
          </p:cNvPr>
          <p:cNvSpPr txBox="1">
            <a:spLocks/>
          </p:cNvSpPr>
          <p:nvPr/>
        </p:nvSpPr>
        <p:spPr>
          <a:xfrm>
            <a:off x="6774512" y="2486933"/>
            <a:ext cx="3323618" cy="3499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>
                <a:solidFill>
                  <a:srgbClr val="C00000"/>
                </a:solidFill>
              </a:rPr>
              <a:t>Secured yield-bearing share token  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F3634FD0-9E0B-227F-04B2-ECC1EF69E22B}"/>
              </a:ext>
            </a:extLst>
          </p:cNvPr>
          <p:cNvSpPr txBox="1">
            <a:spLocks/>
          </p:cNvSpPr>
          <p:nvPr/>
        </p:nvSpPr>
        <p:spPr>
          <a:xfrm>
            <a:off x="7386533" y="776371"/>
            <a:ext cx="792635" cy="3090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  <a:endParaRPr lang="en-US" sz="1400" b="1" i="1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481FC4-CF09-3691-EEB7-8E734845114A}"/>
              </a:ext>
            </a:extLst>
          </p:cNvPr>
          <p:cNvCxnSpPr>
            <a:cxnSpLocks/>
          </p:cNvCxnSpPr>
          <p:nvPr/>
        </p:nvCxnSpPr>
        <p:spPr>
          <a:xfrm>
            <a:off x="9221850" y="1190746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itle 1">
            <a:extLst>
              <a:ext uri="{FF2B5EF4-FFF2-40B4-BE49-F238E27FC236}">
                <a16:creationId xmlns:a16="http://schemas.microsoft.com/office/drawing/2014/main" id="{A94F1D40-31FF-563D-EB23-5C665D26FE3B}"/>
              </a:ext>
            </a:extLst>
          </p:cNvPr>
          <p:cNvSpPr txBox="1">
            <a:spLocks/>
          </p:cNvSpPr>
          <p:nvPr/>
        </p:nvSpPr>
        <p:spPr>
          <a:xfrm>
            <a:off x="8955946" y="621022"/>
            <a:ext cx="1118217" cy="609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i="1" dirty="0">
                <a:solidFill>
                  <a:srgbClr val="0070C0"/>
                </a:solidFill>
              </a:rPr>
              <a:t>mint</a:t>
            </a:r>
          </a:p>
          <a:p>
            <a:pPr algn="ctr"/>
            <a:r>
              <a:rPr lang="en-US" sz="1400" i="1" dirty="0">
                <a:solidFill>
                  <a:srgbClr val="0070C0"/>
                </a:solidFill>
              </a:rPr>
              <a:t>e.g. </a:t>
            </a:r>
            <a:r>
              <a:rPr lang="en-US" sz="1400" b="1" i="1" dirty="0">
                <a:solidFill>
                  <a:srgbClr val="0070C0"/>
                </a:solidFill>
              </a:rPr>
              <a:t>BUIDL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1015CEE-53BE-0864-FCFC-2DFAFD5D91E3}"/>
              </a:ext>
            </a:extLst>
          </p:cNvPr>
          <p:cNvSpPr>
            <a:spLocks noChangeAspect="1"/>
          </p:cNvSpPr>
          <p:nvPr/>
        </p:nvSpPr>
        <p:spPr>
          <a:xfrm>
            <a:off x="7078722" y="1925920"/>
            <a:ext cx="504000" cy="504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2FB5B5C-7DF4-8650-B9A0-39FE977A67A3}"/>
              </a:ext>
            </a:extLst>
          </p:cNvPr>
          <p:cNvSpPr/>
          <p:nvPr/>
        </p:nvSpPr>
        <p:spPr>
          <a:xfrm>
            <a:off x="6507339" y="3067269"/>
            <a:ext cx="1778513" cy="820671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98002B-2B17-7F81-E2D9-13B776093DBD}"/>
              </a:ext>
            </a:extLst>
          </p:cNvPr>
          <p:cNvCxnSpPr>
            <a:cxnSpLocks/>
          </p:cNvCxnSpPr>
          <p:nvPr/>
        </p:nvCxnSpPr>
        <p:spPr>
          <a:xfrm rot="10800000" flipV="1">
            <a:off x="7672448" y="1577791"/>
            <a:ext cx="2540859" cy="596617"/>
          </a:xfrm>
          <a:prstGeom prst="bentConnector3">
            <a:avLst>
              <a:gd name="adj1" fmla="val -667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3D838016-8151-A6A8-497A-BA32FAA22C75}"/>
              </a:ext>
            </a:extLst>
          </p:cNvPr>
          <p:cNvCxnSpPr>
            <a:cxnSpLocks/>
          </p:cNvCxnSpPr>
          <p:nvPr/>
        </p:nvCxnSpPr>
        <p:spPr>
          <a:xfrm rot="5400000">
            <a:off x="6261955" y="2536809"/>
            <a:ext cx="1013934" cy="227751"/>
          </a:xfrm>
          <a:prstGeom prst="bentConnector3">
            <a:avLst>
              <a:gd name="adj1" fmla="val 1280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itle 1">
            <a:extLst>
              <a:ext uri="{FF2B5EF4-FFF2-40B4-BE49-F238E27FC236}">
                <a16:creationId xmlns:a16="http://schemas.microsoft.com/office/drawing/2014/main" id="{69F23344-1B24-2776-00FA-946C6F915EE1}"/>
              </a:ext>
            </a:extLst>
          </p:cNvPr>
          <p:cNvSpPr txBox="1">
            <a:spLocks/>
          </p:cNvSpPr>
          <p:nvPr/>
        </p:nvSpPr>
        <p:spPr>
          <a:xfrm>
            <a:off x="10376208" y="2197681"/>
            <a:ext cx="1177137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i="1" dirty="0"/>
              <a:t>ERC4626  </a:t>
            </a:r>
          </a:p>
          <a:p>
            <a:r>
              <a:rPr lang="en-US" sz="1800" i="1" dirty="0"/>
              <a:t>ERC7540</a:t>
            </a: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72DAC5DE-D5D8-C940-6199-6B719D29FEBB}"/>
              </a:ext>
            </a:extLst>
          </p:cNvPr>
          <p:cNvSpPr txBox="1">
            <a:spLocks/>
          </p:cNvSpPr>
          <p:nvPr/>
        </p:nvSpPr>
        <p:spPr>
          <a:xfrm>
            <a:off x="8017270" y="2842607"/>
            <a:ext cx="2196036" cy="3326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/>
              <a:t>LIQUIDITY POOL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54B264F-039B-4214-213E-9A150EB2135C}"/>
              </a:ext>
            </a:extLst>
          </p:cNvPr>
          <p:cNvSpPr>
            <a:spLocks noChangeAspect="1"/>
          </p:cNvSpPr>
          <p:nvPr/>
        </p:nvSpPr>
        <p:spPr>
          <a:xfrm>
            <a:off x="6805234" y="3225604"/>
            <a:ext cx="504000" cy="504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DBC6C94-24E5-72F4-578B-43106CB9B0FF}"/>
              </a:ext>
            </a:extLst>
          </p:cNvPr>
          <p:cNvSpPr>
            <a:spLocks noChangeAspect="1"/>
          </p:cNvSpPr>
          <p:nvPr/>
        </p:nvSpPr>
        <p:spPr>
          <a:xfrm>
            <a:off x="7465493" y="3230529"/>
            <a:ext cx="504000" cy="504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2B238902-385B-6957-CA72-3847A6770C56}"/>
              </a:ext>
            </a:extLst>
          </p:cNvPr>
          <p:cNvSpPr txBox="1">
            <a:spLocks/>
          </p:cNvSpPr>
          <p:nvPr/>
        </p:nvSpPr>
        <p:spPr>
          <a:xfrm>
            <a:off x="8353763" y="3146386"/>
            <a:ext cx="3372439" cy="7713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i="1" dirty="0">
                <a:solidFill>
                  <a:srgbClr val="0070C0"/>
                </a:solidFill>
              </a:rPr>
              <a:t>pair “savings stablecoin” with non-yield bearing “payments stablecoin”</a:t>
            </a:r>
          </a:p>
          <a:p>
            <a:r>
              <a:rPr lang="en-US" sz="1600" b="1" i="1" dirty="0">
                <a:solidFill>
                  <a:srgbClr val="0070C0"/>
                </a:solidFill>
              </a:rPr>
              <a:t>INTERCHANGE ASSET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90C96339-E925-89FA-8292-A0C4A9C6A72D}"/>
              </a:ext>
            </a:extLst>
          </p:cNvPr>
          <p:cNvSpPr txBox="1">
            <a:spLocks/>
          </p:cNvSpPr>
          <p:nvPr/>
        </p:nvSpPr>
        <p:spPr>
          <a:xfrm>
            <a:off x="489625" y="978077"/>
            <a:ext cx="5156834" cy="843279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i="1" dirty="0">
                <a:solidFill>
                  <a:srgbClr val="C00000"/>
                </a:solidFill>
              </a:rPr>
              <a:t>Every yield-bearing savings stablecoin represents</a:t>
            </a:r>
          </a:p>
          <a:p>
            <a:r>
              <a:rPr lang="en-US" sz="1800" i="1" dirty="0">
                <a:solidFill>
                  <a:srgbClr val="C00000"/>
                </a:solidFill>
              </a:rPr>
              <a:t> </a:t>
            </a:r>
            <a:r>
              <a:rPr lang="en-US" sz="1800" b="1" i="1" dirty="0">
                <a:solidFill>
                  <a:srgbClr val="C00000"/>
                </a:solidFill>
              </a:rPr>
              <a:t>a share in a VAULT of (yield-bearing) RWAT (TMMF)</a:t>
            </a:r>
          </a:p>
          <a:p>
            <a:r>
              <a:rPr lang="en-US" sz="1800" b="1" i="1" dirty="0"/>
              <a:t>An ALTERNATIVE to bank deposits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2CE1033-F6C1-C07B-24A6-39B239C71BE8}"/>
              </a:ext>
            </a:extLst>
          </p:cNvPr>
          <p:cNvSpPr>
            <a:spLocks noChangeAspect="1"/>
          </p:cNvSpPr>
          <p:nvPr/>
        </p:nvSpPr>
        <p:spPr>
          <a:xfrm>
            <a:off x="770164" y="387240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EB8AF355-8923-BEC1-4FD4-4E2625C059A6}"/>
              </a:ext>
            </a:extLst>
          </p:cNvPr>
          <p:cNvSpPr>
            <a:spLocks noChangeAspect="1"/>
          </p:cNvSpPr>
          <p:nvPr/>
        </p:nvSpPr>
        <p:spPr>
          <a:xfrm rot="19285994">
            <a:off x="1651569" y="4523658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52FA606-C353-FA87-E5D2-831B9CD28B3B}"/>
              </a:ext>
            </a:extLst>
          </p:cNvPr>
          <p:cNvSpPr>
            <a:spLocks noChangeAspect="1"/>
          </p:cNvSpPr>
          <p:nvPr/>
        </p:nvSpPr>
        <p:spPr>
          <a:xfrm>
            <a:off x="3924183" y="3875365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CC75F9B-DD69-8B79-75CB-39C85015279F}"/>
              </a:ext>
            </a:extLst>
          </p:cNvPr>
          <p:cNvSpPr>
            <a:spLocks noChangeAspect="1"/>
          </p:cNvSpPr>
          <p:nvPr/>
        </p:nvSpPr>
        <p:spPr>
          <a:xfrm rot="-19260000">
            <a:off x="3082604" y="4503420"/>
            <a:ext cx="1404311" cy="648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C7CFA45C-2603-8039-4DDF-16E5879286C3}"/>
              </a:ext>
            </a:extLst>
          </p:cNvPr>
          <p:cNvSpPr/>
          <p:nvPr/>
        </p:nvSpPr>
        <p:spPr>
          <a:xfrm>
            <a:off x="3263109" y="2490596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75EC31E-FB7E-013A-8040-5EC43066D3FD}"/>
              </a:ext>
            </a:extLst>
          </p:cNvPr>
          <p:cNvSpPr/>
          <p:nvPr/>
        </p:nvSpPr>
        <p:spPr>
          <a:xfrm>
            <a:off x="4558321" y="2504461"/>
            <a:ext cx="1080000" cy="108000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84A4D6E-C2CF-84A4-BCF4-FAD3230B7546}"/>
              </a:ext>
            </a:extLst>
          </p:cNvPr>
          <p:cNvCxnSpPr>
            <a:cxnSpLocks/>
          </p:cNvCxnSpPr>
          <p:nvPr/>
        </p:nvCxnSpPr>
        <p:spPr>
          <a:xfrm flipH="1">
            <a:off x="896032" y="2162649"/>
            <a:ext cx="4328157" cy="0"/>
          </a:xfrm>
          <a:prstGeom prst="straightConnector1">
            <a:avLst/>
          </a:prstGeom>
          <a:ln w="31750">
            <a:gradFill>
              <a:gsLst>
                <a:gs pos="100000">
                  <a:srgbClr val="FF4D0C"/>
                </a:gs>
                <a:gs pos="0">
                  <a:srgbClr val="FF9C00"/>
                </a:gs>
              </a:gsLst>
              <a:lin ang="0" scaled="0"/>
            </a:gradFill>
            <a:headEnd type="triangl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C1EC2DD-1560-A165-61B6-19A9AA13D3C8}"/>
              </a:ext>
            </a:extLst>
          </p:cNvPr>
          <p:cNvSpPr txBox="1"/>
          <p:nvPr/>
        </p:nvSpPr>
        <p:spPr>
          <a:xfrm>
            <a:off x="15995" y="1838034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lower yield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D75071-48AE-1DCC-F5DB-11D26ED0D7F2}"/>
              </a:ext>
            </a:extLst>
          </p:cNvPr>
          <p:cNvSpPr txBox="1"/>
          <p:nvPr/>
        </p:nvSpPr>
        <p:spPr>
          <a:xfrm>
            <a:off x="5062324" y="1838770"/>
            <a:ext cx="103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9C00"/>
                </a:solidFill>
              </a:rPr>
              <a:t>higher yield</a:t>
            </a:r>
          </a:p>
        </p:txBody>
      </p:sp>
      <p:sp>
        <p:nvSpPr>
          <p:cNvPr id="81" name="Cube 80">
            <a:extLst>
              <a:ext uri="{FF2B5EF4-FFF2-40B4-BE49-F238E27FC236}">
                <a16:creationId xmlns:a16="http://schemas.microsoft.com/office/drawing/2014/main" id="{07D8CE1C-233D-6D32-B38B-20A753253242}"/>
              </a:ext>
            </a:extLst>
          </p:cNvPr>
          <p:cNvSpPr>
            <a:spLocks noChangeAspect="1"/>
          </p:cNvSpPr>
          <p:nvPr/>
        </p:nvSpPr>
        <p:spPr>
          <a:xfrm>
            <a:off x="840545" y="26657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be 83">
            <a:extLst>
              <a:ext uri="{FF2B5EF4-FFF2-40B4-BE49-F238E27FC236}">
                <a16:creationId xmlns:a16="http://schemas.microsoft.com/office/drawing/2014/main" id="{C079A54D-D7C0-8635-A0B9-E2F3D788959C}"/>
              </a:ext>
            </a:extLst>
          </p:cNvPr>
          <p:cNvSpPr>
            <a:spLocks noChangeAspect="1"/>
          </p:cNvSpPr>
          <p:nvPr/>
        </p:nvSpPr>
        <p:spPr>
          <a:xfrm>
            <a:off x="992945" y="28181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ube 84">
            <a:extLst>
              <a:ext uri="{FF2B5EF4-FFF2-40B4-BE49-F238E27FC236}">
                <a16:creationId xmlns:a16="http://schemas.microsoft.com/office/drawing/2014/main" id="{1ABDB793-E532-ADBA-E31A-0718DBA8A56C}"/>
              </a:ext>
            </a:extLst>
          </p:cNvPr>
          <p:cNvSpPr>
            <a:spLocks noChangeAspect="1"/>
          </p:cNvSpPr>
          <p:nvPr/>
        </p:nvSpPr>
        <p:spPr>
          <a:xfrm>
            <a:off x="1145345" y="2970511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ED8314FB-12A5-1357-91A8-9C4E5518FD90}"/>
              </a:ext>
            </a:extLst>
          </p:cNvPr>
          <p:cNvSpPr>
            <a:spLocks noChangeAspect="1"/>
          </p:cNvSpPr>
          <p:nvPr/>
        </p:nvSpPr>
        <p:spPr>
          <a:xfrm>
            <a:off x="1549987" y="398040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03B3114E-41DF-681A-47B5-0854ECDC3392}"/>
              </a:ext>
            </a:extLst>
          </p:cNvPr>
          <p:cNvSpPr>
            <a:spLocks noChangeAspect="1"/>
          </p:cNvSpPr>
          <p:nvPr/>
        </p:nvSpPr>
        <p:spPr>
          <a:xfrm>
            <a:off x="2376368" y="4454080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023D999B-7CA6-D31E-2FA5-B3D5D20E2C9C}"/>
              </a:ext>
            </a:extLst>
          </p:cNvPr>
          <p:cNvSpPr>
            <a:spLocks noChangeAspect="1"/>
          </p:cNvSpPr>
          <p:nvPr/>
        </p:nvSpPr>
        <p:spPr>
          <a:xfrm>
            <a:off x="3332767" y="4436446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F6295594-878A-AC34-1354-4AF29E386B30}"/>
              </a:ext>
            </a:extLst>
          </p:cNvPr>
          <p:cNvSpPr>
            <a:spLocks noChangeAspect="1"/>
          </p:cNvSpPr>
          <p:nvPr/>
        </p:nvSpPr>
        <p:spPr>
          <a:xfrm>
            <a:off x="4710049" y="4000765"/>
            <a:ext cx="396000" cy="396000"/>
          </a:xfrm>
          <a:prstGeom prst="ellipse">
            <a:avLst/>
          </a:prstGeom>
          <a:solidFill>
            <a:srgbClr val="FF9C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3002140B-5922-B1FE-8863-2BF43C22C9C3}"/>
              </a:ext>
            </a:extLst>
          </p:cNvPr>
          <p:cNvSpPr>
            <a:spLocks noChangeAspect="1"/>
          </p:cNvSpPr>
          <p:nvPr/>
        </p:nvSpPr>
        <p:spPr>
          <a:xfrm>
            <a:off x="980278" y="3980400"/>
            <a:ext cx="396000" cy="396000"/>
          </a:xfrm>
          <a:prstGeom prst="ellipse">
            <a:avLst/>
          </a:prstGeom>
          <a:solidFill>
            <a:srgbClr val="FF454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92" name="Cube 91">
            <a:extLst>
              <a:ext uri="{FF2B5EF4-FFF2-40B4-BE49-F238E27FC236}">
                <a16:creationId xmlns:a16="http://schemas.microsoft.com/office/drawing/2014/main" id="{A42EBE0F-D831-152E-78A9-25D3E0841344}"/>
              </a:ext>
            </a:extLst>
          </p:cNvPr>
          <p:cNvSpPr>
            <a:spLocks noChangeAspect="1"/>
          </p:cNvSpPr>
          <p:nvPr/>
        </p:nvSpPr>
        <p:spPr>
          <a:xfrm>
            <a:off x="2176755" y="26291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ube 92">
            <a:extLst>
              <a:ext uri="{FF2B5EF4-FFF2-40B4-BE49-F238E27FC236}">
                <a16:creationId xmlns:a16="http://schemas.microsoft.com/office/drawing/2014/main" id="{65D13465-A40A-9EFB-201D-8BF44EEA79F4}"/>
              </a:ext>
            </a:extLst>
          </p:cNvPr>
          <p:cNvSpPr>
            <a:spLocks noChangeAspect="1"/>
          </p:cNvSpPr>
          <p:nvPr/>
        </p:nvSpPr>
        <p:spPr>
          <a:xfrm>
            <a:off x="2329155" y="27815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ube 93">
            <a:extLst>
              <a:ext uri="{FF2B5EF4-FFF2-40B4-BE49-F238E27FC236}">
                <a16:creationId xmlns:a16="http://schemas.microsoft.com/office/drawing/2014/main" id="{9856DFF1-3CF8-DE6E-75EB-E4E0A03A21A4}"/>
              </a:ext>
            </a:extLst>
          </p:cNvPr>
          <p:cNvSpPr>
            <a:spLocks noChangeAspect="1"/>
          </p:cNvSpPr>
          <p:nvPr/>
        </p:nvSpPr>
        <p:spPr>
          <a:xfrm>
            <a:off x="2481555" y="29339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ube 94">
            <a:extLst>
              <a:ext uri="{FF2B5EF4-FFF2-40B4-BE49-F238E27FC236}">
                <a16:creationId xmlns:a16="http://schemas.microsoft.com/office/drawing/2014/main" id="{EC041B17-E963-E43A-CB25-B3CD0D11526D}"/>
              </a:ext>
            </a:extLst>
          </p:cNvPr>
          <p:cNvSpPr>
            <a:spLocks noChangeAspect="1"/>
          </p:cNvSpPr>
          <p:nvPr/>
        </p:nvSpPr>
        <p:spPr>
          <a:xfrm>
            <a:off x="3477135" y="2629149"/>
            <a:ext cx="426390" cy="432000"/>
          </a:xfrm>
          <a:prstGeom prst="cube">
            <a:avLst/>
          </a:prstGeom>
          <a:solidFill>
            <a:srgbClr val="FF00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ube 95">
            <a:extLst>
              <a:ext uri="{FF2B5EF4-FFF2-40B4-BE49-F238E27FC236}">
                <a16:creationId xmlns:a16="http://schemas.microsoft.com/office/drawing/2014/main" id="{B86B1449-DDFE-A701-FBB5-E92DF8284EE1}"/>
              </a:ext>
            </a:extLst>
          </p:cNvPr>
          <p:cNvSpPr>
            <a:spLocks noChangeAspect="1"/>
          </p:cNvSpPr>
          <p:nvPr/>
        </p:nvSpPr>
        <p:spPr>
          <a:xfrm>
            <a:off x="3629535" y="27815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ube 96">
            <a:extLst>
              <a:ext uri="{FF2B5EF4-FFF2-40B4-BE49-F238E27FC236}">
                <a16:creationId xmlns:a16="http://schemas.microsoft.com/office/drawing/2014/main" id="{3B4DF355-3294-9130-1C56-87C072382F9A}"/>
              </a:ext>
            </a:extLst>
          </p:cNvPr>
          <p:cNvSpPr>
            <a:spLocks noChangeAspect="1"/>
          </p:cNvSpPr>
          <p:nvPr/>
        </p:nvSpPr>
        <p:spPr>
          <a:xfrm>
            <a:off x="3781935" y="2933949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Cube 97">
            <a:extLst>
              <a:ext uri="{FF2B5EF4-FFF2-40B4-BE49-F238E27FC236}">
                <a16:creationId xmlns:a16="http://schemas.microsoft.com/office/drawing/2014/main" id="{48421E62-0E92-D3FD-173F-4C1AB0D7133E}"/>
              </a:ext>
            </a:extLst>
          </p:cNvPr>
          <p:cNvSpPr>
            <a:spLocks noChangeAspect="1"/>
          </p:cNvSpPr>
          <p:nvPr/>
        </p:nvSpPr>
        <p:spPr>
          <a:xfrm>
            <a:off x="4775911" y="26429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Cube 98">
            <a:extLst>
              <a:ext uri="{FF2B5EF4-FFF2-40B4-BE49-F238E27FC236}">
                <a16:creationId xmlns:a16="http://schemas.microsoft.com/office/drawing/2014/main" id="{1EEED6D5-3676-EF10-7566-62D66D91C4A7}"/>
              </a:ext>
            </a:extLst>
          </p:cNvPr>
          <p:cNvSpPr>
            <a:spLocks noChangeAspect="1"/>
          </p:cNvSpPr>
          <p:nvPr/>
        </p:nvSpPr>
        <p:spPr>
          <a:xfrm>
            <a:off x="4928311" y="27953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Cube 99">
            <a:extLst>
              <a:ext uri="{FF2B5EF4-FFF2-40B4-BE49-F238E27FC236}">
                <a16:creationId xmlns:a16="http://schemas.microsoft.com/office/drawing/2014/main" id="{BFF71207-3E38-A833-04FC-B188789EF17D}"/>
              </a:ext>
            </a:extLst>
          </p:cNvPr>
          <p:cNvSpPr>
            <a:spLocks noChangeAspect="1"/>
          </p:cNvSpPr>
          <p:nvPr/>
        </p:nvSpPr>
        <p:spPr>
          <a:xfrm>
            <a:off x="5080711" y="2947765"/>
            <a:ext cx="426390" cy="432000"/>
          </a:xfrm>
          <a:prstGeom prst="cube">
            <a:avLst/>
          </a:prstGeom>
          <a:solidFill>
            <a:srgbClr val="FF9C00">
              <a:alpha val="6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E3B60C87-09B7-472C-FA7D-B9023AC96EE2}"/>
              </a:ext>
            </a:extLst>
          </p:cNvPr>
          <p:cNvSpPr>
            <a:spLocks noChangeAspect="1"/>
          </p:cNvSpPr>
          <p:nvPr/>
        </p:nvSpPr>
        <p:spPr>
          <a:xfrm>
            <a:off x="4147144" y="4008424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2" name="Title 1">
            <a:extLst>
              <a:ext uri="{FF2B5EF4-FFF2-40B4-BE49-F238E27FC236}">
                <a16:creationId xmlns:a16="http://schemas.microsoft.com/office/drawing/2014/main" id="{CCD244D6-74B2-F172-1D07-5244AFA1111E}"/>
              </a:ext>
            </a:extLst>
          </p:cNvPr>
          <p:cNvSpPr txBox="1">
            <a:spLocks/>
          </p:cNvSpPr>
          <p:nvPr/>
        </p:nvSpPr>
        <p:spPr>
          <a:xfrm>
            <a:off x="2121127" y="3601007"/>
            <a:ext cx="1858808" cy="676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i="1" dirty="0">
                <a:solidFill>
                  <a:srgbClr val="0070C0"/>
                </a:solidFill>
              </a:rPr>
              <a:t>Common zero-yield interchange asset for payments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75C246E-A5A3-4E52-A8CB-5479447D09C8}"/>
              </a:ext>
            </a:extLst>
          </p:cNvPr>
          <p:cNvSpPr>
            <a:spLocks noChangeAspect="1"/>
          </p:cNvSpPr>
          <p:nvPr/>
        </p:nvSpPr>
        <p:spPr>
          <a:xfrm>
            <a:off x="1922853" y="4827421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F369F927-1F80-DAE9-15A2-A2DFF4E40BBD}"/>
              </a:ext>
            </a:extLst>
          </p:cNvPr>
          <p:cNvSpPr>
            <a:spLocks noChangeAspect="1"/>
          </p:cNvSpPr>
          <p:nvPr/>
        </p:nvSpPr>
        <p:spPr>
          <a:xfrm>
            <a:off x="3827529" y="4830516"/>
            <a:ext cx="396000" cy="396000"/>
          </a:xfrm>
          <a:prstGeom prst="ellipse">
            <a:avLst/>
          </a:prstGeom>
          <a:solidFill>
            <a:srgbClr val="FF7F2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06" name="Title 1">
            <a:extLst>
              <a:ext uri="{FF2B5EF4-FFF2-40B4-BE49-F238E27FC236}">
                <a16:creationId xmlns:a16="http://schemas.microsoft.com/office/drawing/2014/main" id="{2B6DCB37-8DE2-4926-4934-7E46A2B971D2}"/>
              </a:ext>
            </a:extLst>
          </p:cNvPr>
          <p:cNvSpPr txBox="1">
            <a:spLocks/>
          </p:cNvSpPr>
          <p:nvPr/>
        </p:nvSpPr>
        <p:spPr>
          <a:xfrm>
            <a:off x="305376" y="5773434"/>
            <a:ext cx="3176376" cy="70103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dirty="0"/>
              <a:t>SMALL INVESTORS / SAVERS </a:t>
            </a:r>
          </a:p>
          <a:p>
            <a:r>
              <a:rPr lang="en-US" sz="1600" dirty="0"/>
              <a:t>invest by acquiring interchange asset &amp; choosing Savings Stablecoin  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8B5DC02-FA65-F9CF-72A7-A1E6DDB112CB}"/>
              </a:ext>
            </a:extLst>
          </p:cNvPr>
          <p:cNvSpPr txBox="1"/>
          <p:nvPr/>
        </p:nvSpPr>
        <p:spPr>
          <a:xfrm>
            <a:off x="3692972" y="5639392"/>
            <a:ext cx="4077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$</a:t>
            </a:r>
          </a:p>
        </p:txBody>
      </p:sp>
      <p:sp>
        <p:nvSpPr>
          <p:cNvPr id="109" name="Title 1">
            <a:extLst>
              <a:ext uri="{FF2B5EF4-FFF2-40B4-BE49-F238E27FC236}">
                <a16:creationId xmlns:a16="http://schemas.microsoft.com/office/drawing/2014/main" id="{8B774A3F-32E5-55AF-A28A-2410B818E3DA}"/>
              </a:ext>
            </a:extLst>
          </p:cNvPr>
          <p:cNvSpPr txBox="1">
            <a:spLocks/>
          </p:cNvSpPr>
          <p:nvPr/>
        </p:nvSpPr>
        <p:spPr>
          <a:xfrm>
            <a:off x="3627132" y="6173645"/>
            <a:ext cx="613434" cy="476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00B050"/>
                </a:solidFill>
              </a:rPr>
              <a:t>FIAT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79DB2699-A102-E1DC-FA42-81F65ADB425D}"/>
              </a:ext>
            </a:extLst>
          </p:cNvPr>
          <p:cNvCxnSpPr>
            <a:cxnSpLocks/>
          </p:cNvCxnSpPr>
          <p:nvPr/>
        </p:nvCxnSpPr>
        <p:spPr>
          <a:xfrm>
            <a:off x="4260783" y="6243809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itle 1">
            <a:extLst>
              <a:ext uri="{FF2B5EF4-FFF2-40B4-BE49-F238E27FC236}">
                <a16:creationId xmlns:a16="http://schemas.microsoft.com/office/drawing/2014/main" id="{1D9BB59E-7A11-E5CB-D8A1-25877E180812}"/>
              </a:ext>
            </a:extLst>
          </p:cNvPr>
          <p:cNvSpPr txBox="1">
            <a:spLocks/>
          </p:cNvSpPr>
          <p:nvPr/>
        </p:nvSpPr>
        <p:spPr>
          <a:xfrm>
            <a:off x="4206040" y="5675760"/>
            <a:ext cx="837804" cy="575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invest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9AF37A1-4B8F-DFA4-B52B-8842D7D3988B}"/>
              </a:ext>
            </a:extLst>
          </p:cNvPr>
          <p:cNvCxnSpPr>
            <a:cxnSpLocks/>
          </p:cNvCxnSpPr>
          <p:nvPr/>
        </p:nvCxnSpPr>
        <p:spPr>
          <a:xfrm>
            <a:off x="5437964" y="6257879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itle 1">
            <a:extLst>
              <a:ext uri="{FF2B5EF4-FFF2-40B4-BE49-F238E27FC236}">
                <a16:creationId xmlns:a16="http://schemas.microsoft.com/office/drawing/2014/main" id="{AAE93A59-7B9D-54A5-AAB9-F4129CDD9156}"/>
              </a:ext>
            </a:extLst>
          </p:cNvPr>
          <p:cNvSpPr txBox="1">
            <a:spLocks/>
          </p:cNvSpPr>
          <p:nvPr/>
        </p:nvSpPr>
        <p:spPr>
          <a:xfrm>
            <a:off x="5401601" y="5804179"/>
            <a:ext cx="79263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C0C2B0B4-DE7B-0E63-70F7-255FF2EC626C}"/>
              </a:ext>
            </a:extLst>
          </p:cNvPr>
          <p:cNvSpPr>
            <a:spLocks noChangeAspect="1"/>
          </p:cNvSpPr>
          <p:nvPr/>
        </p:nvSpPr>
        <p:spPr>
          <a:xfrm rot="16200000">
            <a:off x="5853583" y="5913953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B540ED1-27E2-BA52-BE17-1CF9B96D35C8}"/>
              </a:ext>
            </a:extLst>
          </p:cNvPr>
          <p:cNvCxnSpPr>
            <a:cxnSpLocks/>
          </p:cNvCxnSpPr>
          <p:nvPr/>
        </p:nvCxnSpPr>
        <p:spPr>
          <a:xfrm>
            <a:off x="6728137" y="6238497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212C0AB8-81FE-1EAE-D16B-0BE22220D22F}"/>
              </a:ext>
            </a:extLst>
          </p:cNvPr>
          <p:cNvSpPr>
            <a:spLocks noChangeAspect="1"/>
          </p:cNvSpPr>
          <p:nvPr/>
        </p:nvSpPr>
        <p:spPr>
          <a:xfrm>
            <a:off x="7319661" y="5907157"/>
            <a:ext cx="396000" cy="396000"/>
          </a:xfrm>
          <a:prstGeom prst="ellipse">
            <a:avLst/>
          </a:prstGeom>
          <a:solidFill>
            <a:srgbClr val="FF4D0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2D4F1CD2-CE59-B463-BDCB-9559C2EE559B}"/>
              </a:ext>
            </a:extLst>
          </p:cNvPr>
          <p:cNvSpPr>
            <a:spLocks noChangeAspect="1"/>
          </p:cNvSpPr>
          <p:nvPr/>
        </p:nvSpPr>
        <p:spPr>
          <a:xfrm>
            <a:off x="6215256" y="6195828"/>
            <a:ext cx="216000" cy="216000"/>
          </a:xfrm>
          <a:prstGeom prst="ellipse">
            <a:avLst/>
          </a:prstGeom>
          <a:solidFill>
            <a:srgbClr val="FF4D0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6FBFD5-A39A-F66C-BA1B-285F769A4301}"/>
              </a:ext>
            </a:extLst>
          </p:cNvPr>
          <p:cNvSpPr txBox="1">
            <a:spLocks/>
          </p:cNvSpPr>
          <p:nvPr/>
        </p:nvSpPr>
        <p:spPr>
          <a:xfrm>
            <a:off x="6619602" y="5807681"/>
            <a:ext cx="665651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1" dirty="0">
                <a:solidFill>
                  <a:srgbClr val="0070C0"/>
                </a:solidFill>
              </a:rPr>
              <a:t>SAVE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42421E-AD73-264A-E907-CFC3C6D53790}"/>
              </a:ext>
            </a:extLst>
          </p:cNvPr>
          <p:cNvSpPr>
            <a:spLocks noChangeAspect="1"/>
          </p:cNvSpPr>
          <p:nvPr/>
        </p:nvSpPr>
        <p:spPr>
          <a:xfrm>
            <a:off x="4933383" y="5893279"/>
            <a:ext cx="396000" cy="396000"/>
          </a:xfrm>
          <a:prstGeom prst="ellipse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>
                <a:solidFill>
                  <a:schemeClr val="bg1"/>
                </a:solidFill>
              </a:rPr>
              <a:t>$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7C8F86-7E60-EA23-79F7-C4F59AC8767F}"/>
              </a:ext>
            </a:extLst>
          </p:cNvPr>
          <p:cNvSpPr>
            <a:spLocks noChangeAspect="1"/>
          </p:cNvSpPr>
          <p:nvPr/>
        </p:nvSpPr>
        <p:spPr>
          <a:xfrm>
            <a:off x="6220007" y="5834166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2F7833-62DB-771A-A61B-CF3E6388D51B}"/>
              </a:ext>
            </a:extLst>
          </p:cNvPr>
          <p:cNvCxnSpPr>
            <a:cxnSpLocks/>
          </p:cNvCxnSpPr>
          <p:nvPr/>
        </p:nvCxnSpPr>
        <p:spPr>
          <a:xfrm>
            <a:off x="7861699" y="6238497"/>
            <a:ext cx="468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itle 1">
            <a:extLst>
              <a:ext uri="{FF2B5EF4-FFF2-40B4-BE49-F238E27FC236}">
                <a16:creationId xmlns:a16="http://schemas.microsoft.com/office/drawing/2014/main" id="{6B0DD0EC-F997-FC6C-74C8-68169B1C94BC}"/>
              </a:ext>
            </a:extLst>
          </p:cNvPr>
          <p:cNvSpPr txBox="1">
            <a:spLocks/>
          </p:cNvSpPr>
          <p:nvPr/>
        </p:nvSpPr>
        <p:spPr>
          <a:xfrm>
            <a:off x="7672448" y="5559996"/>
            <a:ext cx="832405" cy="616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b="1" i="1" dirty="0"/>
              <a:t>WALLET</a:t>
            </a:r>
          </a:p>
          <a:p>
            <a:pPr algn="ctr"/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EA930B-D0AF-ACCE-4394-7461B59B1025}"/>
              </a:ext>
            </a:extLst>
          </p:cNvPr>
          <p:cNvSpPr>
            <a:spLocks noChangeAspect="1"/>
          </p:cNvSpPr>
          <p:nvPr/>
        </p:nvSpPr>
        <p:spPr>
          <a:xfrm rot="16200000">
            <a:off x="8296064" y="5920756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71F4DD-315D-83DE-2083-9D6E0EE80DBD}"/>
              </a:ext>
            </a:extLst>
          </p:cNvPr>
          <p:cNvSpPr>
            <a:spLocks noChangeAspect="1"/>
          </p:cNvSpPr>
          <p:nvPr/>
        </p:nvSpPr>
        <p:spPr>
          <a:xfrm>
            <a:off x="8657738" y="6202632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4C6E56-AAD7-E169-2740-41AD5BFED585}"/>
              </a:ext>
            </a:extLst>
          </p:cNvPr>
          <p:cNvSpPr>
            <a:spLocks noChangeAspect="1"/>
          </p:cNvSpPr>
          <p:nvPr/>
        </p:nvSpPr>
        <p:spPr>
          <a:xfrm>
            <a:off x="8662489" y="5840970"/>
            <a:ext cx="216000" cy="216000"/>
          </a:xfrm>
          <a:prstGeom prst="ellipse">
            <a:avLst/>
          </a:prstGeom>
          <a:solidFill>
            <a:srgbClr val="FF4D0C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E190C8-FEE5-E2CB-E00C-C0459AF46C00}"/>
              </a:ext>
            </a:extLst>
          </p:cNvPr>
          <p:cNvSpPr txBox="1">
            <a:spLocks/>
          </p:cNvSpPr>
          <p:nvPr/>
        </p:nvSpPr>
        <p:spPr>
          <a:xfrm>
            <a:off x="6578964" y="6299150"/>
            <a:ext cx="86246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>
                <a:solidFill>
                  <a:srgbClr val="FF0000"/>
                </a:solidFill>
              </a:rPr>
              <a:t>earn yield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3B518-003E-FD79-D350-87ECCBFDB685}"/>
              </a:ext>
            </a:extLst>
          </p:cNvPr>
          <p:cNvSpPr txBox="1"/>
          <p:nvPr/>
        </p:nvSpPr>
        <p:spPr>
          <a:xfrm>
            <a:off x="7396461" y="1238339"/>
            <a:ext cx="849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RAMP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917655-9CB6-76F3-6F1B-37FA32782B54}"/>
              </a:ext>
            </a:extLst>
          </p:cNvPr>
          <p:cNvSpPr txBox="1"/>
          <p:nvPr/>
        </p:nvSpPr>
        <p:spPr>
          <a:xfrm>
            <a:off x="9259603" y="1223502"/>
            <a:ext cx="849593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i="1" dirty="0">
                <a:solidFill>
                  <a:srgbClr val="FF0000"/>
                </a:solidFill>
              </a:rPr>
              <a:t>TMMF</a:t>
            </a:r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C84AAFA-110E-8323-A7DB-B21CDB8E4456}"/>
              </a:ext>
            </a:extLst>
          </p:cNvPr>
          <p:cNvSpPr txBox="1">
            <a:spLocks/>
          </p:cNvSpPr>
          <p:nvPr/>
        </p:nvSpPr>
        <p:spPr>
          <a:xfrm>
            <a:off x="7665181" y="6243809"/>
            <a:ext cx="1012870" cy="365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i="1" dirty="0">
                <a:solidFill>
                  <a:srgbClr val="0070C0"/>
                </a:solidFill>
              </a:rPr>
              <a:t>for payments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DFEE3FB-B457-0C15-F73A-F9CE312AE6D2}"/>
              </a:ext>
            </a:extLst>
          </p:cNvPr>
          <p:cNvCxnSpPr>
            <a:cxnSpLocks/>
          </p:cNvCxnSpPr>
          <p:nvPr/>
        </p:nvCxnSpPr>
        <p:spPr>
          <a:xfrm>
            <a:off x="9160881" y="6221520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AF41179C-9662-3404-FDE1-043B2FF66F73}"/>
              </a:ext>
            </a:extLst>
          </p:cNvPr>
          <p:cNvSpPr txBox="1">
            <a:spLocks/>
          </p:cNvSpPr>
          <p:nvPr/>
        </p:nvSpPr>
        <p:spPr>
          <a:xfrm>
            <a:off x="9165798" y="5801856"/>
            <a:ext cx="60105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1" dirty="0">
                <a:solidFill>
                  <a:srgbClr val="0070C0"/>
                </a:solidFill>
              </a:rPr>
              <a:t>swap</a:t>
            </a: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EA4ADA62-7867-C417-723E-A9DB2CCF2341}"/>
              </a:ext>
            </a:extLst>
          </p:cNvPr>
          <p:cNvSpPr txBox="1">
            <a:spLocks/>
          </p:cNvSpPr>
          <p:nvPr/>
        </p:nvSpPr>
        <p:spPr>
          <a:xfrm>
            <a:off x="9023483" y="6328901"/>
            <a:ext cx="997931" cy="398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/>
              <a:t>@recipient</a:t>
            </a:r>
          </a:p>
          <a:p>
            <a:r>
              <a:rPr lang="en-US" sz="1200" b="1" i="1" dirty="0"/>
              <a:t>@coin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6FC7B36-1537-3520-A83C-1A27534E0DB5}"/>
              </a:ext>
            </a:extLst>
          </p:cNvPr>
          <p:cNvSpPr>
            <a:spLocks noChangeAspect="1"/>
          </p:cNvSpPr>
          <p:nvPr/>
        </p:nvSpPr>
        <p:spPr>
          <a:xfrm rot="16200000">
            <a:off x="9706223" y="5909140"/>
            <a:ext cx="936208" cy="432000"/>
          </a:xfrm>
          <a:prstGeom prst="ellipse">
            <a:avLst/>
          </a:prstGeom>
          <a:solidFill>
            <a:schemeClr val="tx1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+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8764B5E-50A6-833A-05A2-908566019049}"/>
              </a:ext>
            </a:extLst>
          </p:cNvPr>
          <p:cNvSpPr>
            <a:spLocks noChangeAspect="1"/>
          </p:cNvSpPr>
          <p:nvPr/>
        </p:nvSpPr>
        <p:spPr>
          <a:xfrm>
            <a:off x="10067896" y="6191015"/>
            <a:ext cx="216000" cy="216000"/>
          </a:xfrm>
          <a:prstGeom prst="ellipse">
            <a:avLst/>
          </a:prstGeom>
          <a:solidFill>
            <a:srgbClr val="FF9C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36BBDE6-F166-D79C-9F65-0C0EE3FFFD3F}"/>
              </a:ext>
            </a:extLst>
          </p:cNvPr>
          <p:cNvSpPr>
            <a:spLocks noChangeAspect="1"/>
          </p:cNvSpPr>
          <p:nvPr/>
        </p:nvSpPr>
        <p:spPr>
          <a:xfrm>
            <a:off x="10072647" y="5829353"/>
            <a:ext cx="216000" cy="216000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D3003AE-2DEA-B6E0-9CC9-ED2744F3C2E6}"/>
              </a:ext>
            </a:extLst>
          </p:cNvPr>
          <p:cNvSpPr>
            <a:spLocks noChangeAspect="1"/>
          </p:cNvSpPr>
          <p:nvPr/>
        </p:nvSpPr>
        <p:spPr>
          <a:xfrm>
            <a:off x="11305707" y="5924817"/>
            <a:ext cx="396000" cy="396000"/>
          </a:xfrm>
          <a:prstGeom prst="ellipse">
            <a:avLst/>
          </a:prstGeom>
          <a:solidFill>
            <a:srgbClr val="FF9C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$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3B4085A-0DA4-6A66-3E11-B312E89A3BCD}"/>
              </a:ext>
            </a:extLst>
          </p:cNvPr>
          <p:cNvCxnSpPr>
            <a:cxnSpLocks/>
          </p:cNvCxnSpPr>
          <p:nvPr/>
        </p:nvCxnSpPr>
        <p:spPr>
          <a:xfrm>
            <a:off x="10516412" y="6238481"/>
            <a:ext cx="684000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itle 1">
            <a:extLst>
              <a:ext uri="{FF2B5EF4-FFF2-40B4-BE49-F238E27FC236}">
                <a16:creationId xmlns:a16="http://schemas.microsoft.com/office/drawing/2014/main" id="{1CBC62D6-72AE-0C43-3E20-699DF2C48BBA}"/>
              </a:ext>
            </a:extLst>
          </p:cNvPr>
          <p:cNvSpPr txBox="1">
            <a:spLocks/>
          </p:cNvSpPr>
          <p:nvPr/>
        </p:nvSpPr>
        <p:spPr>
          <a:xfrm>
            <a:off x="10447951" y="5801856"/>
            <a:ext cx="900589" cy="3419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i="1" dirty="0">
                <a:solidFill>
                  <a:srgbClr val="0070C0"/>
                </a:solidFill>
              </a:rPr>
              <a:t>SPEND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6A5506-5B3C-D073-33DF-B14D6D7BA139}"/>
              </a:ext>
            </a:extLst>
          </p:cNvPr>
          <p:cNvSpPr txBox="1"/>
          <p:nvPr/>
        </p:nvSpPr>
        <p:spPr>
          <a:xfrm>
            <a:off x="4191801" y="6316172"/>
            <a:ext cx="8495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FF0000"/>
                </a:solidFill>
              </a:rPr>
              <a:t>RAMP</a:t>
            </a:r>
            <a:endParaRPr lang="en-US" sz="1200" dirty="0"/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8E17144D-490F-3F93-3848-8F64BE509C86}"/>
              </a:ext>
            </a:extLst>
          </p:cNvPr>
          <p:cNvSpPr txBox="1">
            <a:spLocks/>
          </p:cNvSpPr>
          <p:nvPr/>
        </p:nvSpPr>
        <p:spPr>
          <a:xfrm>
            <a:off x="170741" y="4686847"/>
            <a:ext cx="1449968" cy="90540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Stablecoins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endParaRPr lang="en-US"/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or </a:t>
            </a:r>
            <a:endParaRPr lang="en-US" dirty="0"/>
          </a:p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Deposit Tokens</a:t>
            </a:r>
            <a:r>
              <a:rPr lang="en-US" sz="1600" dirty="0">
                <a:solidFill>
                  <a:srgbClr val="C00000"/>
                </a:solidFill>
              </a:rPr>
              <a:t> or </a:t>
            </a:r>
          </a:p>
          <a:p>
            <a:pPr algn="ctr"/>
            <a:r>
              <a:rPr lang="en-US" sz="1600" b="1" i="1" dirty="0">
                <a:solidFill>
                  <a:srgbClr val="C00000"/>
                </a:solidFill>
              </a:rPr>
              <a:t>something else?</a:t>
            </a:r>
            <a:endParaRPr lang="en-US" b="1" i="1"/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3F355335-BF10-8FC0-4730-621488757B12}"/>
              </a:ext>
            </a:extLst>
          </p:cNvPr>
          <p:cNvSpPr txBox="1">
            <a:spLocks/>
          </p:cNvSpPr>
          <p:nvPr/>
        </p:nvSpPr>
        <p:spPr>
          <a:xfrm>
            <a:off x="6153731" y="4164377"/>
            <a:ext cx="5057991" cy="62149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What is the multilateral interchange </a:t>
            </a:r>
            <a:r>
              <a:rPr lang="en-US" sz="1600" b="1" dirty="0"/>
              <a:t>“FINALITY TOKEN” </a:t>
            </a:r>
            <a:r>
              <a:rPr lang="en-US" sz="1600" dirty="0"/>
              <a:t>? </a:t>
            </a:r>
            <a:endParaRPr lang="en-US" sz="1600" b="1" i="1" dirty="0">
              <a:solidFill>
                <a:srgbClr val="0070C0"/>
              </a:solidFill>
            </a:endParaRPr>
          </a:p>
          <a:p>
            <a:r>
              <a:rPr lang="en-US" sz="1600" dirty="0"/>
              <a:t>A liquid settlement asset = </a:t>
            </a:r>
            <a:r>
              <a:rPr lang="en-US" sz="1600" b="1" dirty="0"/>
              <a:t>CASH EQUIVALENT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4C6A389-AEE8-AD98-5B53-B6E258E090A2}"/>
              </a:ext>
            </a:extLst>
          </p:cNvPr>
          <p:cNvSpPr>
            <a:spLocks noChangeAspect="1"/>
          </p:cNvSpPr>
          <p:nvPr/>
        </p:nvSpPr>
        <p:spPr>
          <a:xfrm>
            <a:off x="11187259" y="4391981"/>
            <a:ext cx="504000" cy="504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19643B-2FCA-4068-A420-13D094AB3307}"/>
              </a:ext>
            </a:extLst>
          </p:cNvPr>
          <p:cNvSpPr txBox="1"/>
          <p:nvPr/>
        </p:nvSpPr>
        <p:spPr>
          <a:xfrm>
            <a:off x="9503149" y="4879288"/>
            <a:ext cx="238831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600" b="1" i="1" dirty="0">
                <a:solidFill>
                  <a:srgbClr val="0070C0"/>
                </a:solidFill>
              </a:rPr>
              <a:t>USDC? </a:t>
            </a:r>
            <a:r>
              <a:rPr lang="en-US" sz="1600" i="1" dirty="0">
                <a:solidFill>
                  <a:srgbClr val="0070C0"/>
                </a:solidFill>
              </a:rPr>
              <a:t>Dollarization?</a:t>
            </a:r>
            <a:endParaRPr lang="en-US" sz="1600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9A57431-011D-DF26-4ECC-DE03767619FA}"/>
              </a:ext>
            </a:extLst>
          </p:cNvPr>
          <p:cNvSpPr>
            <a:spLocks noChangeAspect="1"/>
          </p:cNvSpPr>
          <p:nvPr/>
        </p:nvSpPr>
        <p:spPr>
          <a:xfrm>
            <a:off x="11104477" y="4395726"/>
            <a:ext cx="668404" cy="504000"/>
          </a:xfrm>
          <a:prstGeom prst="ellipse">
            <a:avLst/>
          </a:prstGeom>
          <a:solidFill>
            <a:srgbClr val="00B050">
              <a:alpha val="0"/>
            </a:srgb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$A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068D32-2661-55CE-B8C7-2AD587EEB881}"/>
              </a:ext>
            </a:extLst>
          </p:cNvPr>
          <p:cNvSpPr txBox="1"/>
          <p:nvPr/>
        </p:nvSpPr>
        <p:spPr>
          <a:xfrm>
            <a:off x="9127757" y="5137948"/>
            <a:ext cx="2763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b="1" i="1" dirty="0">
                <a:solidFill>
                  <a:srgbClr val="00B050"/>
                </a:solidFill>
              </a:rPr>
              <a:t>Or tokenized local cash?</a:t>
            </a:r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16E43561-2530-03FE-4D9A-4438717EF7AA}"/>
              </a:ext>
            </a:extLst>
          </p:cNvPr>
          <p:cNvSpPr txBox="1">
            <a:spLocks/>
          </p:cNvSpPr>
          <p:nvPr/>
        </p:nvSpPr>
        <p:spPr>
          <a:xfrm>
            <a:off x="4734102" y="4864102"/>
            <a:ext cx="4032849" cy="527865"/>
          </a:xfrm>
          <a:prstGeom prst="rect">
            <a:avLst/>
          </a:prstGeom>
          <a:solidFill>
            <a:srgbClr val="7030A0">
              <a:alpha val="0"/>
            </a:srgbClr>
          </a:solidFill>
          <a:ln w="53975">
            <a:solidFill>
              <a:srgbClr val="7030A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solidFill>
                  <a:srgbClr val="7030A0"/>
                </a:solidFill>
              </a:rPr>
              <a:t>Issuers of SAVINGS COINS must maintain liquidity pairs with the PAYMENT COIN interchange asset 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17BF887A-7241-A2F5-B8BB-C372F21E0001}"/>
              </a:ext>
            </a:extLst>
          </p:cNvPr>
          <p:cNvSpPr txBox="1">
            <a:spLocks/>
          </p:cNvSpPr>
          <p:nvPr/>
        </p:nvSpPr>
        <p:spPr>
          <a:xfrm>
            <a:off x="10470488" y="6276611"/>
            <a:ext cx="1012870" cy="284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i="1" dirty="0">
                <a:solidFill>
                  <a:srgbClr val="0070C0"/>
                </a:solidFill>
              </a:rPr>
              <a:t>recipient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1DEB228-C21A-0B7F-3A3A-3C55B5E78562}"/>
              </a:ext>
            </a:extLst>
          </p:cNvPr>
          <p:cNvSpPr txBox="1">
            <a:spLocks/>
          </p:cNvSpPr>
          <p:nvPr/>
        </p:nvSpPr>
        <p:spPr>
          <a:xfrm>
            <a:off x="11122112" y="6321315"/>
            <a:ext cx="862465" cy="2940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b="1" i="1" dirty="0">
                <a:solidFill>
                  <a:srgbClr val="FF0000"/>
                </a:solidFill>
              </a:rPr>
              <a:t>earn yield</a:t>
            </a:r>
          </a:p>
        </p:txBody>
      </p:sp>
    </p:spTree>
    <p:extLst>
      <p:ext uri="{BB962C8B-B14F-4D97-AF65-F5344CB8AC3E}">
        <p14:creationId xmlns:p14="http://schemas.microsoft.com/office/powerpoint/2010/main" val="3796632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</TotalTime>
  <Words>455</Words>
  <Application>Microsoft Macintosh PowerPoint</Application>
  <PresentationFormat>Widescreen</PresentationFormat>
  <Paragraphs>104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IBM Plex Sans Light</vt:lpstr>
      <vt:lpstr>Office Theme</vt:lpstr>
      <vt:lpstr>Connecting unbanked &amp; underbanked to stable digital money &amp; global assets</vt:lpstr>
      <vt:lpstr>How does it work?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 Kelly</dc:creator>
  <cp:lastModifiedBy>Gerard Kelly</cp:lastModifiedBy>
  <cp:revision>214</cp:revision>
  <dcterms:created xsi:type="dcterms:W3CDTF">2025-12-10T23:02:40Z</dcterms:created>
  <dcterms:modified xsi:type="dcterms:W3CDTF">2025-12-13T11:00:17Z</dcterms:modified>
</cp:coreProperties>
</file>